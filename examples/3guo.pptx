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</p:sldIdLst>
  <p:sldSz cx="12192000" cy="68580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图表标题1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0865398369332"/>
          <c:y val="0.184414327202323"/>
          <c:w val="0.916235159490774"/>
          <c:h val="0.5893998063891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6"/>
        <c:overlap val="-32"/>
        <c:axId val="503521951"/>
        <c:axId val="680268459"/>
      </c:barChart>
      <c:catAx>
        <c:axId val="50352195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80268459"/>
        <c:crosses val="autoZero"/>
        <c:auto val="1"/>
        <c:lblAlgn val="ctr"/>
        <c:lblOffset val="100"/>
        <c:noMultiLvlLbl val="0"/>
      </c:catAx>
      <c:valAx>
        <c:axId val="6802684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t>坐标轴标题</a:t>
                </a:r>
                <a:r>
                  <a:rPr lang="en-US" altLang="zh-CN"/>
                  <a:t>123</a:t>
                </a:r>
                <a:endParaRPr lang="en-US" altLang="zh-CN"/>
              </a:p>
            </c:rich>
          </c:tx>
          <c:layout>
            <c:manualLayout>
              <c:xMode val="edge"/>
              <c:yMode val="edge"/>
              <c:x val="0.00429123158346445"/>
              <c:y val="0.295038722168441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03521951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5a20f1e-4838-49e8-a230-5b8ec561b9c3}"/>
      </c:ext>
    </c:extLst>
  </c:chart>
  <c:spPr>
    <a:gradFill>
      <a:gsLst>
        <a:gs pos="0">
          <a:schemeClr val="accent1">
            <a:lumMod val="5000"/>
            <a:lumOff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0"/>
    </a:gra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2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3" name="矩形 4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gradFill>
            <a:gsLst>
              <a:gs pos="10000">
                <a:schemeClr val="accent1"/>
              </a:gs>
              <a:gs pos="30000">
                <a:schemeClr val="accent3">
                  <a:alpha val="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ctrTitle" idx="2147483647" hasCustomPrompt="1"/>
          </p:nvPr>
        </p:nvSpPr>
        <p:spPr>
          <a:xfrm>
            <a:off x="392698" y="5131305"/>
            <a:ext cx="6019597" cy="1311128"/>
          </a:xfrm>
        </p:spPr>
        <p:txBody>
          <a:bodyPr wrap="none" anchor="b">
            <a:spAutoFit/>
          </a:bodyPr>
          <a:lstStyle>
            <a:lvl1pPr algn="l">
              <a:defRPr sz="8800" b="0" i="0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主标题样式</a:t>
            </a:r>
            <a:endParaRPr kumimoji="1" lang="zh-CN" altLang="en-US" dirty="0"/>
          </a:p>
        </p:txBody>
      </p:sp>
      <p:sp>
        <p:nvSpPr>
          <p:cNvPr id="5" name="文本占位符 17"/>
          <p:cNvSpPr>
            <a:spLocks noGrp="1"/>
          </p:cNvSpPr>
          <p:nvPr>
            <p:ph type="body" sz="quarter" idx="10" hasCustomPrompt="1"/>
          </p:nvPr>
        </p:nvSpPr>
        <p:spPr>
          <a:xfrm>
            <a:off x="392698" y="4448586"/>
            <a:ext cx="2941831" cy="646331"/>
          </a:xfrm>
        </p:spPr>
        <p:txBody>
          <a:bodyPr wrap="none" anchor="b">
            <a:spAutoFit/>
          </a:bodyPr>
          <a:lstStyle>
            <a:lvl1pPr marL="0" indent="0" algn="l">
              <a:buNone/>
              <a:defRPr sz="4000" b="0" i="0" spc="3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kumimoji="1" lang="zh-CN" altLang="en-US" dirty="0"/>
              <a:t>主标题样式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12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0281522-3AB1-3541-90AB-7A631F5C75F8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19F402A-E1A9-C741-9EEF-1CF72A8557FF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11" name="矩形 1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gradFill>
            <a:gsLst>
              <a:gs pos="10000">
                <a:schemeClr val="accent1"/>
              </a:gs>
              <a:gs pos="30000">
                <a:schemeClr val="accent3">
                  <a:alpha val="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bg>
      <p:bgPr>
        <a:gradFill>
          <a:gsLst>
            <a:gs pos="8000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16200000" scaled="1"/>
        </a:gradFill>
        <a:effectLst/>
      </p:bgPr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7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 flipH="1">
            <a:off x="0" y="-1"/>
            <a:ext cx="12192000" cy="6858000"/>
          </a:xfrm>
          <a:prstGeom prst="rect">
            <a:avLst/>
          </a:prstGeom>
        </p:spPr>
      </p:pic>
      <p:sp>
        <p:nvSpPr>
          <p:cNvPr id="14" name="矩形 6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gradFill>
            <a:gsLst>
              <a:gs pos="85000">
                <a:schemeClr val="bg1"/>
              </a:gs>
              <a:gs pos="100000">
                <a:schemeClr val="bg1">
                  <a:alpha val="75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0281522-3AB1-3541-90AB-7A631F5C75F8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19F402A-E1A9-C741-9EEF-1CF72A8557FF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底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5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20" name="矩形 1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gradFill>
            <a:gsLst>
              <a:gs pos="10000">
                <a:schemeClr val="accent1"/>
              </a:gs>
              <a:gs pos="30000">
                <a:schemeClr val="accent3">
                  <a:alpha val="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 idx="2147483647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0281522-3AB1-3541-90AB-7A631F5C75F8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19F402A-E1A9-C741-9EEF-1CF72A8557FF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cover&quot;,&quot;originSlideId&quot;:&quot;eb9821b7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{&quot;isTemplate&quot;:true,&quot;type&quot;:&quot;title&quot;,&quot;canOmit&quot;:false,&quot;range&quot;:0}"/>
          <p:cNvSpPr>
            <a:spLocks noGrp="1"/>
          </p:cNvSpPr>
          <p:nvPr>
            <p:ph type="ctrTitle" idx="2147483647"/>
          </p:nvPr>
        </p:nvSpPr>
        <p:spPr>
          <a:xfrm>
            <a:off x="1655177" y="3429000"/>
            <a:ext cx="8325979" cy="1301750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sz="6000">
                <a:solidFill>
                  <a:schemeClr val="bg1">
                    <a:alpha val="100000"/>
                  </a:schemeClr>
                </a:solidFill>
              </a:rPr>
              <a:t>《三国演义》阅读分享</a:t>
            </a:r>
            <a:endParaRPr lang="zh-CN" sz="6000">
              <a:solidFill>
                <a:schemeClr val="bg1">
                  <a:alpha val="100000"/>
                </a:schemeClr>
              </a:solidFill>
            </a:endParaRPr>
          </a:p>
        </p:txBody>
      </p:sp>
      <p:cxnSp>
        <p:nvCxnSpPr>
          <p:cNvPr id="3" name="Tencent"/>
          <p:cNvCxnSpPr/>
          <p:nvPr/>
        </p:nvCxnSpPr>
        <p:spPr>
          <a:xfrm>
            <a:off x="443999" y="402867"/>
            <a:ext cx="113040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占位符 3"/>
          <p:cNvSpPr/>
          <p:nvPr>
            <p:ph type="body" idx="10"/>
          </p:nvPr>
        </p:nvSpPr>
        <p:spPr>
          <a:xfrm>
            <a:off x="9438765" y="5884233"/>
            <a:ext cx="2184400" cy="641350"/>
          </a:xfrm>
          <a:prstGeom prst="rect">
            <a:avLst/>
          </a:prstGeom>
        </p:spPr>
        <p:txBody>
          <a:bodyPr/>
          <a:p>
            <a:pPr>
              <a:buFont typeface="Arial" panose="020B0604020202020204" pitchFamily="34" charset="0"/>
              <a:buNone/>
            </a:pPr>
            <a:r>
              <a:rPr lang="en-US"/>
              <a:t> 	</a:t>
            </a:r>
            <a:r>
              <a:rPr lang="zh-CN"/>
              <a:t>丁桐</a:t>
            </a:r>
            <a:endParaRPr lang="zh-CN"/>
          </a:p>
        </p:txBody>
      </p:sp>
      <p:sp>
        <p:nvSpPr>
          <p:cNvPr id="5" name="文本框 4"/>
          <p:cNvSpPr txBox="1"/>
          <p:nvPr/>
        </p:nvSpPr>
        <p:spPr>
          <a:xfrm>
            <a:off x="334377" y="34567"/>
            <a:ext cx="1320800" cy="3683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r>
              <a:rPr lang="zh-CN">
                <a:solidFill>
                  <a:schemeClr val="bg1">
                    <a:alpha val="100000"/>
                  </a:schemeClr>
                </a:solidFill>
              </a:rPr>
              <a:t>七（五）班</a:t>
            </a:r>
            <a:endParaRPr lang="zh-CN">
              <a:solidFill>
                <a:schemeClr val="bg1">
                  <a:alpha val="100000"/>
                </a:schemeClr>
              </a:solidFill>
            </a:endParaRPr>
          </a:p>
        </p:txBody>
      </p:sp>
      <p:sp>
        <p:nvSpPr>
          <p:cNvPr id="6" name="立方体 5"/>
          <p:cNvSpPr/>
          <p:nvPr/>
        </p:nvSpPr>
        <p:spPr>
          <a:xfrm>
            <a:off x="5160010" y="1196340"/>
            <a:ext cx="1296035" cy="1296670"/>
          </a:xfrm>
          <a:prstGeom prst="cub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7" name="图表 6"/>
          <p:cNvGraphicFramePr/>
          <p:nvPr/>
        </p:nvGraphicFramePr>
        <p:xfrm>
          <a:off x="263525" y="548640"/>
          <a:ext cx="4439285" cy="2623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1446530" y="4653280"/>
          <a:ext cx="8534400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/>
                <a:gridCol w="1422400"/>
                <a:gridCol w="1422400"/>
                <a:gridCol w="1422400"/>
                <a:gridCol w="1422400"/>
                <a:gridCol w="1422400"/>
              </a:tblGrid>
              <a:tr h="3575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jhj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iuhj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nn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任意多边形 8"/>
          <p:cNvSpPr/>
          <p:nvPr/>
        </p:nvSpPr>
        <p:spPr>
          <a:xfrm>
            <a:off x="6718935" y="1365250"/>
            <a:ext cx="1483995" cy="1243965"/>
          </a:xfrm>
          <a:custGeom>
            <a:avLst/>
            <a:gdLst>
              <a:gd name="connisteX0" fmla="*/ 1483995 w 1483995"/>
              <a:gd name="connsiteY0" fmla="*/ 27207 h 1243968"/>
              <a:gd name="connisteX1" fmla="*/ 462915 w 1483995"/>
              <a:gd name="connsiteY1" fmla="*/ 1237517 h 1243968"/>
              <a:gd name="connisteX2" fmla="*/ 1270000 w 1483995"/>
              <a:gd name="connsiteY2" fmla="*/ 419002 h 1243968"/>
              <a:gd name="connisteX3" fmla="*/ 415290 w 1483995"/>
              <a:gd name="connsiteY3" fmla="*/ 15142 h 1243968"/>
              <a:gd name="connisteX4" fmla="*/ 0 w 1483995"/>
              <a:gd name="connsiteY4" fmla="*/ 810162 h 124396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483995" h="1243969">
                <a:moveTo>
                  <a:pt x="1483995" y="27208"/>
                </a:moveTo>
                <a:cubicBezTo>
                  <a:pt x="1263650" y="285653"/>
                  <a:pt x="505460" y="1159413"/>
                  <a:pt x="462915" y="1237518"/>
                </a:cubicBezTo>
                <a:cubicBezTo>
                  <a:pt x="420370" y="1315623"/>
                  <a:pt x="1279525" y="663478"/>
                  <a:pt x="1270000" y="419003"/>
                </a:cubicBezTo>
                <a:cubicBezTo>
                  <a:pt x="1260475" y="174528"/>
                  <a:pt x="669290" y="-62962"/>
                  <a:pt x="415290" y="15143"/>
                </a:cubicBezTo>
                <a:cubicBezTo>
                  <a:pt x="161290" y="93248"/>
                  <a:pt x="66040" y="643158"/>
                  <a:pt x="0" y="810163"/>
                </a:cubicBezTo>
              </a:path>
            </a:pathLst>
          </a:cu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4565269" y="3040634"/>
                <a:ext cx="3061335" cy="77660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=</m:t>
                          </m:r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269" y="3040634"/>
                <a:ext cx="3061335" cy="776605"/>
              </a:xfrm>
              <a:prstGeom prst="rect">
                <a:avLst/>
              </a:prstGeom>
              <a:blipFill rotWithShape="1">
                <a:blip r:embed="rId2"/>
                <a:stretch>
                  <a:fillRect l="-8" t="-33" r="8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 descr="{&quot;isTemplate&quot;:true,&quot;type&quot;:1,&quot;originSlideId&quot;:&quot;1ba0e3bc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ncent" descr="{&quot;isTemplate&quot;:false,&quot;type&quot;:&quot;content&quot;,&quot;canOmit&quot;:true,&quot;range&quot;:0}"/>
          <p:cNvSpPr/>
          <p:nvPr/>
        </p:nvSpPr>
        <p:spPr>
          <a:xfrm>
            <a:off x="571500" y="1048937"/>
            <a:ext cx="1549400" cy="914400"/>
          </a:xfrm>
          <a:prstGeom prst="rect">
            <a:avLst/>
          </a:prstGeom>
        </p:spPr>
        <p:txBody>
          <a:bodyPr wrap="none" anchor="b" anchorCtr="0">
            <a:spAutoFit/>
          </a:bodyPr>
          <a:lstStyle/>
          <a:p>
            <a:pPr lv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sz="5400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  <a:endParaRPr lang="zh-CN" sz="5400"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1" name="直线连接符 27"/>
          <p:cNvCxnSpPr/>
          <p:nvPr/>
        </p:nvCxnSpPr>
        <p:spPr>
          <a:xfrm>
            <a:off x="660400" y="635000"/>
            <a:ext cx="54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组合 61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>
            <a:off x="660400" y="3432334"/>
            <a:ext cx="11260793" cy="2294178"/>
            <a:chOff x="660400" y="3432334"/>
            <a:chExt cx="11260793" cy="2294178"/>
          </a:xfrm>
        </p:grpSpPr>
        <p:grpSp>
          <p:nvGrpSpPr>
            <p:cNvPr id="63" name="组合 62"/>
            <p:cNvGrpSpPr/>
            <p:nvPr/>
          </p:nvGrpSpPr>
          <p:grpSpPr>
            <a:xfrm>
              <a:off x="660400" y="3432334"/>
              <a:ext cx="3704673" cy="831851"/>
              <a:chOff x="660400" y="3432334"/>
              <a:chExt cx="3704673" cy="831851"/>
            </a:xfrm>
          </p:grpSpPr>
          <p:sp>
            <p:nvSpPr>
              <p:cNvPr id="64" name="Tencent"/>
              <p:cNvSpPr txBox="1"/>
              <p:nvPr/>
            </p:nvSpPr>
            <p:spPr>
              <a:xfrm>
                <a:off x="660400" y="3432334"/>
                <a:ext cx="914400" cy="831851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Autofit/>
              </a:bodyPr>
              <a:lstStyle/>
              <a:p>
                <a:pPr algn="ctr"/>
                <a:r>
                  <a:rPr lang="en-US" sz="4800">
                    <a:solidFill>
                      <a:schemeClr val="accent1">
                        <a:alpha val="10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sz="4800">
                  <a:solidFill>
                    <a:srgbClr val="3087D5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Tencent" descr="{&quot;isTemplate&quot;:true,&quot;type&quot;:&quot;title&quot;,&quot;canOmit&quot;:false,&quot;range&quot;:0}"/>
              <p:cNvSpPr txBox="1"/>
              <p:nvPr/>
            </p:nvSpPr>
            <p:spPr>
              <a:xfrm>
                <a:off x="1621873" y="3651410"/>
                <a:ext cx="2743200" cy="393700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b" anchorCtr="0">
                <a:noAutofit/>
              </a:bodyPr>
              <a:lstStyle/>
              <a:p>
                <a:pPr marL="0" indent="0" algn="thaiDist">
                  <a:lnSpc>
                    <a:spcPct val="100000"/>
                  </a:lnSpc>
                  <a:buNone/>
                </a:pPr>
                <a:r>
                  <a:rPr lang="zh-CN" sz="18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历史背景与核心脉络</a:t>
                </a:r>
                <a:endParaRPr lang="en-US" sz="20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4424934" y="3432761"/>
              <a:ext cx="3699975" cy="830997"/>
              <a:chOff x="4424934" y="3432761"/>
              <a:chExt cx="3699975" cy="830997"/>
            </a:xfrm>
          </p:grpSpPr>
          <p:sp>
            <p:nvSpPr>
              <p:cNvPr id="67" name="Tencent"/>
              <p:cNvSpPr txBox="1"/>
              <p:nvPr/>
            </p:nvSpPr>
            <p:spPr>
              <a:xfrm>
                <a:off x="4424934" y="3432761"/>
                <a:ext cx="914400" cy="830997"/>
              </a:xfrm>
              <a:prstGeom prst="rect">
                <a:avLst/>
              </a:prstGeom>
              <a:noFill/>
            </p:spPr>
            <p:txBody>
              <a:bodyPr wrap="none" rtlCol="0" anchor="b" anchorCtr="0">
                <a:noAutofit/>
              </a:bodyPr>
              <a:lstStyle/>
              <a:p>
                <a:pPr algn="ctr"/>
                <a:r>
                  <a:rPr lang="en-US" sz="4800">
                    <a:solidFill>
                      <a:schemeClr val="accent1">
                        <a:alpha val="10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sz="4800">
                  <a:solidFill>
                    <a:schemeClr val="accent1">
                      <a:alpha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Tencent" descr="{&quot;isTemplate&quot;:true,&quot;type&quot;:&quot;title&quot;,&quot;canOmit&quot;:false,&quot;range&quot;:0}"/>
              <p:cNvSpPr txBox="1"/>
              <p:nvPr/>
            </p:nvSpPr>
            <p:spPr>
              <a:xfrm>
                <a:off x="5381709" y="3647114"/>
                <a:ext cx="2743200" cy="402291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b" anchorCtr="0">
                <a:noAutofit/>
              </a:bodyPr>
              <a:lstStyle/>
              <a:p>
                <a:pPr marL="0" indent="0" algn="thaiDist">
                  <a:lnSpc>
                    <a:spcPct val="100000"/>
                  </a:lnSpc>
                  <a:buNone/>
                </a:pPr>
                <a:r>
                  <a:rPr lang="zh-CN" sz="18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人物形象与现代启示</a:t>
                </a:r>
                <a:endParaRPr lang="en-US" sz="20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template_ppt_techno_mountain_blue">
      <a:dk1>
        <a:srgbClr val="000000"/>
      </a:dk1>
      <a:lt1>
        <a:srgbClr val="FFFFFF"/>
      </a:lt1>
      <a:dk2>
        <a:srgbClr val="262C32"/>
      </a:dk2>
      <a:lt2>
        <a:srgbClr val="E7F3F7"/>
      </a:lt2>
      <a:accent1>
        <a:srgbClr val="3087D5"/>
      </a:accent1>
      <a:accent2>
        <a:srgbClr val="A3DBFA"/>
      </a:accent2>
      <a:accent3>
        <a:srgbClr val="5DB1F7"/>
      </a:accent3>
      <a:accent4>
        <a:srgbClr val="2270C9"/>
      </a:accent4>
      <a:accent5>
        <a:srgbClr val="67A1F9"/>
      </a:accent5>
      <a:accent6>
        <a:srgbClr val="466DD1"/>
      </a:accent6>
      <a:hlink>
        <a:srgbClr val="175CEB"/>
      </a:hlink>
      <a:folHlink>
        <a:srgbClr val="81868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Master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WPS 演示</Application>
  <PresentationFormat/>
  <Paragraphs>24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微软雅黑 Light</vt:lpstr>
      <vt:lpstr>DejaVu Math TeX Gyre</vt:lpstr>
      <vt:lpstr>黑体</vt:lpstr>
      <vt:lpstr>Arial Unicode MS</vt:lpstr>
      <vt:lpstr>Office 主题​​</vt:lpstr>
      <vt:lpstr>《三国演义》阅读分享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《三国演义》阅读分享</dc:title>
  <dc:creator/>
  <cp:lastModifiedBy>丁峰峰峰峰峰峰峰峰峰峰峰峰峰峰峰</cp:lastModifiedBy>
  <cp:revision>9</cp:revision>
  <dcterms:created xsi:type="dcterms:W3CDTF">2026-01-11T11:35:00Z</dcterms:created>
  <dcterms:modified xsi:type="dcterms:W3CDTF">2026-01-30T10:05:05Z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WM236ecca0eaa611f08000593b0000583b">
    <vt:lpwstr>CWM5iWVFqx3pgmjzriZwSiOlXIItqPM+jHwziJfBF+Phv+ZSs5qrqHMM8PfZnAaBwJplLBvqSg7gITptCMwfJGXuw==</vt:lpwstr>
  </property>
  <property fmtid="{D5CDD505-2E9C-101B-9397-08002B2CF9AE}" pid="3" name="ICV">
    <vt:lpwstr>BA8D6544EAB429B2E88A63690E9F32E8_42</vt:lpwstr>
  </property>
  <property fmtid="{D5CDD505-2E9C-101B-9397-08002B2CF9AE}" pid="4" name="KSOProductBuildVer">
    <vt:lpwstr>2052-12.1.0.24657</vt:lpwstr>
  </property>
</Properties>
</file>