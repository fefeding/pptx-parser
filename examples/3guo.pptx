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 type="screen16x9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notesMaster" Target="notesMasters/notesMaster1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 defTabSz="914400">
              <a:defRPr lang="zh-CN" sz="1400" b="1" i="0" u="none" strike="noStrike" kern="1200" baseline="0">
                <a:solidFill>
                  <a:schemeClr val="dk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t>图表</a:t>
            </a:r>
            <a:r>
              <a:rPr lang="en-US" altLang="zh-CN"/>
              <a:t>123</a:t>
            </a:r>
            <a:r>
              <a:t>标题</a:t>
            </a: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gradFill>
              <a:gsLst>
                <a:gs pos="100000">
                  <a:schemeClr val="accent1"/>
                </a:gs>
                <a:gs pos="0">
                  <a:schemeClr val="accent1">
                    <a:hueOff val="-1670000"/>
                  </a:schemeClr>
                </a:gs>
              </a:gsLst>
              <a:lin ang="5400000" scaled="0"/>
            </a:gradFill>
            <a:ln>
              <a:gradFill>
                <a:gsLst>
                  <a:gs pos="100000">
                    <a:schemeClr val="accent1">
                      <a:lumMod val="75000"/>
                    </a:schemeClr>
                  </a:gs>
                  <a:gs pos="0">
                    <a:schemeClr val="accent1">
                      <a:lumMod val="75000"/>
                      <a:hueOff val="-1670000"/>
                    </a:schemeClr>
                  </a:gs>
                </a:gsLst>
                <a:lin ang="4620000" scaled="0"/>
              </a:gradFill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类别1</c:v>
                </c:pt>
                <c:pt idx="1">
                  <c:v>类别2</c:v>
                </c:pt>
                <c:pt idx="2">
                  <c:v>类别3</c:v>
                </c:pt>
                <c:pt idx="3">
                  <c:v>类别4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gradFill>
              <a:gsLst>
                <a:gs pos="100000">
                  <a:schemeClr val="accent2"/>
                </a:gs>
                <a:gs pos="0">
                  <a:schemeClr val="accent2">
                    <a:hueOff val="-1670000"/>
                  </a:schemeClr>
                </a:gs>
              </a:gsLst>
              <a:lin ang="5400000" scaled="0"/>
            </a:gradFill>
            <a:ln>
              <a:gradFill>
                <a:gsLst>
                  <a:gs pos="100000">
                    <a:schemeClr val="accent2">
                      <a:lumMod val="75000"/>
                    </a:schemeClr>
                  </a:gs>
                  <a:gs pos="0">
                    <a:schemeClr val="accent2">
                      <a:lumMod val="75000"/>
                      <a:hueOff val="-1670000"/>
                    </a:schemeClr>
                  </a:gs>
                </a:gsLst>
                <a:lin ang="4620000" scaled="0"/>
              </a:gradFill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类别1</c:v>
                </c:pt>
                <c:pt idx="1">
                  <c:v>类别2</c:v>
                </c:pt>
                <c:pt idx="2">
                  <c:v>类别3</c:v>
                </c:pt>
                <c:pt idx="3">
                  <c:v>类别4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gradFill>
              <a:gsLst>
                <a:gs pos="100000">
                  <a:schemeClr val="accent3"/>
                </a:gs>
                <a:gs pos="0">
                  <a:schemeClr val="accent3">
                    <a:hueOff val="-1670000"/>
                  </a:schemeClr>
                </a:gs>
              </a:gsLst>
              <a:lin ang="5400000" scaled="0"/>
            </a:gradFill>
            <a:ln>
              <a:gradFill>
                <a:gsLst>
                  <a:gs pos="100000">
                    <a:schemeClr val="accent3">
                      <a:lumMod val="75000"/>
                    </a:schemeClr>
                  </a:gs>
                  <a:gs pos="0">
                    <a:schemeClr val="accent3">
                      <a:lumMod val="75000"/>
                      <a:hueOff val="-1670000"/>
                    </a:schemeClr>
                  </a:gs>
                </a:gsLst>
                <a:lin ang="4620000" scaled="0"/>
              </a:gradFill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类别1</c:v>
                </c:pt>
                <c:pt idx="1">
                  <c:v>类别2</c:v>
                </c:pt>
                <c:pt idx="2">
                  <c:v>类别3</c:v>
                </c:pt>
                <c:pt idx="3">
                  <c:v>类别4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0"/>
        <c:overlap val="-50"/>
        <c:axId val="503521951"/>
        <c:axId val="680268459"/>
      </c:barChart>
      <c:catAx>
        <c:axId val="50352195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680268459"/>
        <c:crosses val="autoZero"/>
        <c:auto val="1"/>
        <c:lblAlgn val="ctr"/>
        <c:lblOffset val="100"/>
        <c:noMultiLvlLbl val="0"/>
      </c:catAx>
      <c:valAx>
        <c:axId val="6802684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50352195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dk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52e4281a-f6de-4e35-953f-82e8bae70bf9}"/>
      </c:ext>
    </c:extLst>
  </c:chart>
  <c:spPr>
    <a:solidFill>
      <a:schemeClr val="lt1">
        <a:lumMod val="96000"/>
      </a:schemeClr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07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lt1">
          <a:lumMod val="96000"/>
        </a:schemeClr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dk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100000">
            <a:schemeClr val="phClr"/>
          </a:gs>
          <a:gs pos="0">
            <a:schemeClr val="phClr">
              <a:hueOff val="-1670000"/>
            </a:schemeClr>
          </a:gs>
        </a:gsLst>
        <a:lin ang="5400000" scaled="0"/>
      </a:gradFill>
      <a:ln>
        <a:gradFill>
          <a:gsLst>
            <a:gs pos="100000">
              <a:schemeClr val="phClr">
                <a:lumMod val="75000"/>
              </a:schemeClr>
            </a:gs>
            <a:gs pos="0">
              <a:schemeClr val="phClr">
                <a:lumMod val="75000"/>
                <a:hueOff val="-1670000"/>
              </a:schemeClr>
            </a:gs>
          </a:gsLst>
          <a:lin ang="4620000" scaled="0"/>
        </a:gra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noFill/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dk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dk1">
            <a:lumMod val="75000"/>
            <a:lumOff val="25000"/>
          </a:schemeClr>
        </a:solidFill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dk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>
        <a:solidFill>
          <a:schemeClr val="dk1">
            <a:lumMod val="35000"/>
            <a:lumOff val="65000"/>
          </a:schemeClr>
        </a:solidFill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22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3" name="矩形 4"/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gradFill>
            <a:gsLst>
              <a:gs pos="10000">
                <a:schemeClr val="accent1"/>
              </a:gs>
              <a:gs pos="30000">
                <a:schemeClr val="accent3">
                  <a:alpha val="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>
            <a:spLocks noGrp="1"/>
          </p:cNvSpPr>
          <p:nvPr>
            <p:ph type="ctrTitle" idx="2147483647" hasCustomPrompt="1"/>
          </p:nvPr>
        </p:nvSpPr>
        <p:spPr>
          <a:xfrm>
            <a:off x="392698" y="5131305"/>
            <a:ext cx="6019597" cy="1311128"/>
          </a:xfrm>
        </p:spPr>
        <p:txBody>
          <a:bodyPr wrap="none" anchor="b">
            <a:spAutoFit/>
          </a:bodyPr>
          <a:lstStyle>
            <a:lvl1pPr algn="l">
              <a:defRPr sz="8800" b="0" i="0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主标题样式</a:t>
            </a:r>
            <a:endParaRPr kumimoji="1" lang="zh-CN" altLang="en-US" dirty="0"/>
          </a:p>
        </p:txBody>
      </p:sp>
      <p:sp>
        <p:nvSpPr>
          <p:cNvPr id="5" name="文本占位符 17"/>
          <p:cNvSpPr>
            <a:spLocks noGrp="1"/>
          </p:cNvSpPr>
          <p:nvPr>
            <p:ph type="body" sz="quarter" idx="10" hasCustomPrompt="1"/>
          </p:nvPr>
        </p:nvSpPr>
        <p:spPr>
          <a:xfrm>
            <a:off x="392698" y="4448586"/>
            <a:ext cx="2941831" cy="646331"/>
          </a:xfrm>
        </p:spPr>
        <p:txBody>
          <a:bodyPr wrap="none" anchor="b">
            <a:spAutoFit/>
          </a:bodyPr>
          <a:lstStyle>
            <a:lvl1pPr marL="0" indent="0" algn="l">
              <a:buNone/>
              <a:defRPr sz="4000" b="0" i="0" spc="30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kumimoji="1" lang="zh-CN" altLang="en-US" dirty="0"/>
              <a:t>主标题样式</a:t>
            </a:r>
            <a:endParaRPr kumimoji="1"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节标题">
    <p:spTree>
      <p:nvGrpSpPr>
        <p:cNvPr id="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12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8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50281522-3AB1-3541-90AB-7A631F5C75F8}" type="datetimeFigureOut">
              <a:rPr kumimoji="1" lang="zh-CN" altLang="en-US" smtClean="0"/>
            </a:fld>
            <a:endParaRPr kumimoji="1" lang="zh-CN" altLang="en-US" dirty="0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19F402A-E1A9-C741-9EEF-1CF72A8557FF}" type="slidenum">
              <a:rPr kumimoji="1" lang="zh-CN" altLang="en-US" smtClean="0"/>
            </a:fld>
            <a:endParaRPr kumimoji="1" lang="zh-CN" altLang="en-US" dirty="0"/>
          </a:p>
        </p:txBody>
      </p:sp>
      <p:sp>
        <p:nvSpPr>
          <p:cNvPr id="11" name="矩形 1"/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gradFill>
            <a:gsLst>
              <a:gs pos="10000">
                <a:schemeClr val="accent1"/>
              </a:gs>
              <a:gs pos="30000">
                <a:schemeClr val="accent3">
                  <a:alpha val="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仅标题">
    <p:bg>
      <p:bgPr>
        <a:gradFill>
          <a:gsLst>
            <a:gs pos="80000">
              <a:schemeClr val="bg1"/>
            </a:gs>
            <a:gs pos="100000">
              <a:schemeClr val="accent1">
                <a:lumMod val="20000"/>
                <a:lumOff val="80000"/>
              </a:schemeClr>
            </a:gs>
          </a:gsLst>
          <a:lin ang="16200000" scaled="1"/>
        </a:gradFill>
        <a:effectLst/>
      </p:bgPr>
    </p:bg>
    <p:spTree>
      <p:nvGrpSpPr>
        <p:cNvPr id="1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7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>
          <a:xfrm flipH="1">
            <a:off x="0" y="-1"/>
            <a:ext cx="12192000" cy="6858000"/>
          </a:xfrm>
          <a:prstGeom prst="rect">
            <a:avLst/>
          </a:prstGeom>
        </p:spPr>
      </p:pic>
      <p:sp>
        <p:nvSpPr>
          <p:cNvPr id="14" name="矩形 6"/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gradFill>
            <a:gsLst>
              <a:gs pos="85000">
                <a:schemeClr val="bg1"/>
              </a:gs>
              <a:gs pos="100000">
                <a:schemeClr val="bg1">
                  <a:alpha val="75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50281522-3AB1-3541-90AB-7A631F5C75F8}" type="datetimeFigureOut">
              <a:rPr kumimoji="1" lang="zh-CN" altLang="en-US" smtClean="0"/>
            </a:fld>
            <a:endParaRPr kumimoji="1" lang="zh-CN" altLang="en-US" dirty="0"/>
          </a:p>
        </p:txBody>
      </p:sp>
      <p:sp>
        <p:nvSpPr>
          <p:cNvPr id="16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17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19F402A-E1A9-C741-9EEF-1CF72A8557FF}" type="slidenum">
              <a:rPr kumimoji="1" lang="zh-CN" altLang="en-US" smtClean="0"/>
            </a:fld>
            <a:endParaRPr kumimoji="1"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底">
    <p:spTree>
      <p:nvGrpSpPr>
        <p:cNvPr id="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图片 5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20" name="矩形 1"/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gradFill>
            <a:gsLst>
              <a:gs pos="10000">
                <a:schemeClr val="accent1"/>
              </a:gs>
              <a:gs pos="30000">
                <a:schemeClr val="accent3">
                  <a:alpha val="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 idx="2147483647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  <a:endParaRPr kumimoji="1"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  <a:endParaRPr kumimoji="1" lang="zh-CN" altLang="en-US" dirty="0"/>
          </a:p>
          <a:p>
            <a:pPr lvl="1"/>
            <a:r>
              <a:rPr kumimoji="1" lang="zh-CN" altLang="en-US" dirty="0"/>
              <a:t>二级</a:t>
            </a:r>
            <a:endParaRPr kumimoji="1" lang="zh-CN" altLang="en-US" dirty="0"/>
          </a:p>
          <a:p>
            <a:pPr lvl="2"/>
            <a:r>
              <a:rPr kumimoji="1" lang="zh-CN" altLang="en-US" dirty="0"/>
              <a:t>三级</a:t>
            </a:r>
            <a:endParaRPr kumimoji="1" lang="zh-CN" altLang="en-US" dirty="0"/>
          </a:p>
          <a:p>
            <a:pPr lvl="3"/>
            <a:r>
              <a:rPr kumimoji="1" lang="zh-CN" altLang="en-US" dirty="0"/>
              <a:t>四级</a:t>
            </a:r>
            <a:endParaRPr kumimoji="1" lang="zh-CN" altLang="en-US" dirty="0"/>
          </a:p>
          <a:p>
            <a:pPr lvl="4"/>
            <a:r>
              <a:rPr kumimoji="1" lang="zh-CN" altLang="en-US" dirty="0"/>
              <a:t>五级</a:t>
            </a:r>
            <a:endParaRPr kumimoji="1"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50281522-3AB1-3541-90AB-7A631F5C75F8}" type="datetimeFigureOut">
              <a:rPr kumimoji="1" lang="zh-CN" altLang="en-US" smtClean="0"/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19F402A-E1A9-C741-9EEF-1CF72A8557FF}" type="slidenum">
              <a:rPr kumimoji="1" lang="zh-CN" altLang="en-US" smtClean="0"/>
            </a:fld>
            <a:endParaRPr kumimoji="1"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chart" Target="../charts/char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4" Type="http://schemas.openxmlformats.org/officeDocument/2006/relationships/slideLayout" Target="../slideLayouts/slideLayout3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{&quot;isTemplate&quot;:true,&quot;type&quot;:&quot;cover&quot;,&quot;originSlideId&quot;:&quot;eb9821b7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{&quot;isTemplate&quot;:true,&quot;type&quot;:&quot;title&quot;,&quot;canOmit&quot;:false,&quot;range&quot;:0}"/>
          <p:cNvSpPr>
            <a:spLocks noGrp="1"/>
          </p:cNvSpPr>
          <p:nvPr>
            <p:ph type="ctrTitle" idx="2147483647"/>
          </p:nvPr>
        </p:nvSpPr>
        <p:spPr>
          <a:xfrm>
            <a:off x="1655177" y="3429000"/>
            <a:ext cx="8325979" cy="1301750"/>
          </a:xfrm>
        </p:spPr>
        <p:txBody>
          <a:bodyPr vert="horz" wrap="square" lIns="91440" tIns="45720" rIns="91440" bIns="45720"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zh-CN" sz="6000">
                <a:solidFill>
                  <a:schemeClr val="bg1">
                    <a:alpha val="100000"/>
                  </a:schemeClr>
                </a:solidFill>
              </a:rPr>
              <a:t>《三国演义》阅读分享</a:t>
            </a:r>
            <a:endParaRPr lang="zh-CN" sz="6000">
              <a:solidFill>
                <a:schemeClr val="bg1">
                  <a:alpha val="100000"/>
                </a:schemeClr>
              </a:solidFill>
            </a:endParaRPr>
          </a:p>
        </p:txBody>
      </p:sp>
      <p:cxnSp>
        <p:nvCxnSpPr>
          <p:cNvPr id="3" name="Tencent"/>
          <p:cNvCxnSpPr/>
          <p:nvPr/>
        </p:nvCxnSpPr>
        <p:spPr>
          <a:xfrm>
            <a:off x="443999" y="402867"/>
            <a:ext cx="1130400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占位符 3"/>
          <p:cNvSpPr/>
          <p:nvPr>
            <p:ph type="body" idx="10"/>
          </p:nvPr>
        </p:nvSpPr>
        <p:spPr>
          <a:xfrm>
            <a:off x="9438765" y="5884233"/>
            <a:ext cx="2184400" cy="641350"/>
          </a:xfrm>
          <a:prstGeom prst="rect">
            <a:avLst/>
          </a:prstGeom>
        </p:spPr>
        <p:txBody>
          <a:bodyPr/>
          <a:p>
            <a:pPr>
              <a:buFont typeface="Arial" panose="020B0604020202020204" pitchFamily="34" charset="0"/>
              <a:buNone/>
            </a:pPr>
            <a:r>
              <a:rPr lang="en-US"/>
              <a:t> 	</a:t>
            </a:r>
            <a:r>
              <a:rPr lang="zh-CN"/>
              <a:t>丁桐</a:t>
            </a:r>
            <a:endParaRPr lang="zh-CN"/>
          </a:p>
        </p:txBody>
      </p:sp>
      <p:sp>
        <p:nvSpPr>
          <p:cNvPr id="5" name="文本框 4"/>
          <p:cNvSpPr txBox="1"/>
          <p:nvPr/>
        </p:nvSpPr>
        <p:spPr>
          <a:xfrm>
            <a:off x="334377" y="34567"/>
            <a:ext cx="1320800" cy="3683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r>
              <a:rPr lang="zh-CN">
                <a:solidFill>
                  <a:schemeClr val="bg1">
                    <a:alpha val="100000"/>
                  </a:schemeClr>
                </a:solidFill>
              </a:rPr>
              <a:t>七（五）班</a:t>
            </a:r>
            <a:endParaRPr lang="zh-CN">
              <a:solidFill>
                <a:schemeClr val="bg1">
                  <a:alpha val="100000"/>
                </a:schemeClr>
              </a:solidFill>
            </a:endParaRPr>
          </a:p>
        </p:txBody>
      </p:sp>
      <p:sp>
        <p:nvSpPr>
          <p:cNvPr id="6" name="立方体 5"/>
          <p:cNvSpPr/>
          <p:nvPr/>
        </p:nvSpPr>
        <p:spPr>
          <a:xfrm>
            <a:off x="5160010" y="1196340"/>
            <a:ext cx="1296035" cy="1296670"/>
          </a:xfrm>
          <a:prstGeom prst="cub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aphicFrame>
        <p:nvGraphicFramePr>
          <p:cNvPr id="7" name="图表 6"/>
          <p:cNvGraphicFramePr/>
          <p:nvPr/>
        </p:nvGraphicFramePr>
        <p:xfrm>
          <a:off x="263525" y="548640"/>
          <a:ext cx="4439285" cy="26238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8" name="表格 7"/>
          <p:cNvGraphicFramePr/>
          <p:nvPr/>
        </p:nvGraphicFramePr>
        <p:xfrm>
          <a:off x="1446530" y="4653280"/>
          <a:ext cx="8534400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2400"/>
                <a:gridCol w="1422400"/>
                <a:gridCol w="1422400"/>
                <a:gridCol w="1422400"/>
                <a:gridCol w="1422400"/>
                <a:gridCol w="1422400"/>
              </a:tblGrid>
              <a:tr h="35750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jhj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iuhj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nn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任意多边形 8"/>
          <p:cNvSpPr/>
          <p:nvPr/>
        </p:nvSpPr>
        <p:spPr>
          <a:xfrm>
            <a:off x="6718935" y="1365250"/>
            <a:ext cx="1483995" cy="1243965"/>
          </a:xfrm>
          <a:custGeom>
            <a:avLst/>
            <a:gdLst>
              <a:gd name="connisteX0" fmla="*/ 1483995 w 1483995"/>
              <a:gd name="connsiteY0" fmla="*/ 27207 h 1243968"/>
              <a:gd name="connisteX1" fmla="*/ 462915 w 1483995"/>
              <a:gd name="connsiteY1" fmla="*/ 1237517 h 1243968"/>
              <a:gd name="connisteX2" fmla="*/ 1270000 w 1483995"/>
              <a:gd name="connsiteY2" fmla="*/ 419002 h 1243968"/>
              <a:gd name="connisteX3" fmla="*/ 415290 w 1483995"/>
              <a:gd name="connsiteY3" fmla="*/ 15142 h 1243968"/>
              <a:gd name="connisteX4" fmla="*/ 0 w 1483995"/>
              <a:gd name="connsiteY4" fmla="*/ 810162 h 124396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1483995" h="1243969">
                <a:moveTo>
                  <a:pt x="1483995" y="27208"/>
                </a:moveTo>
                <a:cubicBezTo>
                  <a:pt x="1263650" y="285653"/>
                  <a:pt x="505460" y="1159413"/>
                  <a:pt x="462915" y="1237518"/>
                </a:cubicBezTo>
                <a:cubicBezTo>
                  <a:pt x="420370" y="1315623"/>
                  <a:pt x="1279525" y="663478"/>
                  <a:pt x="1270000" y="419003"/>
                </a:cubicBezTo>
                <a:cubicBezTo>
                  <a:pt x="1260475" y="174528"/>
                  <a:pt x="669290" y="-62962"/>
                  <a:pt x="415290" y="15143"/>
                </a:cubicBezTo>
                <a:cubicBezTo>
                  <a:pt x="161290" y="93248"/>
                  <a:pt x="66040" y="643158"/>
                  <a:pt x="0" y="810163"/>
                </a:cubicBezTo>
              </a:path>
            </a:pathLst>
          </a:cu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/>
              <p:cNvSpPr txBox="1"/>
              <p:nvPr/>
            </p:nvSpPr>
            <p:spPr>
              <a:xfrm>
                <a:off x="4565269" y="3040634"/>
                <a:ext cx="3061335" cy="77660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𝑥</m:t>
                              </m:r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+</m:t>
                              </m:r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𝑎</m:t>
                              </m:r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𝑛</m:t>
                          </m:r>
                        </m:sup>
                      </m:sSup>
                      <m:r>
                        <a:rPr lang="en-US" altLang="zh-CN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naryPr>
                        <m:sub>
                          <m: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=</m:t>
                          </m:r>
                          <m: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noBar"/>
                                  <m:ctrlPr>
                                    <a:rPr lang="en-US" altLang="zh-CN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altLang="zh-CN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𝑛</m:t>
                              </m:r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5269" y="3040634"/>
                <a:ext cx="3061335" cy="776605"/>
              </a:xfrm>
              <a:prstGeom prst="rect">
                <a:avLst/>
              </a:prstGeom>
              <a:blipFill rotWithShape="1">
                <a:blip r:embed="rId2"/>
                <a:stretch>
                  <a:fillRect l="-8" t="-33" r="8" b="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9" name="" descr="{&quot;isTemplate&quot;:true,&quot;type&quot;:1,&quot;originSlideId&quot;:&quot;1ba0e3bc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ncent" descr="{&quot;isTemplate&quot;:false,&quot;type&quot;:&quot;content&quot;,&quot;canOmit&quot;:true,&quot;range&quot;:0}"/>
          <p:cNvSpPr/>
          <p:nvPr/>
        </p:nvSpPr>
        <p:spPr>
          <a:xfrm>
            <a:off x="571500" y="1048937"/>
            <a:ext cx="1549400" cy="914400"/>
          </a:xfrm>
          <a:prstGeom prst="rect">
            <a:avLst/>
          </a:prstGeom>
        </p:spPr>
        <p:txBody>
          <a:bodyPr wrap="none" anchor="b" anchorCtr="0">
            <a:spAutoFit/>
          </a:bodyPr>
          <a:lstStyle/>
          <a:p>
            <a:pPr lv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sz="5400">
                <a:solidFill>
                  <a:schemeClr val="accent1">
                    <a:alpha val="10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  <a:endParaRPr lang="zh-CN" sz="5400">
              <a:solidFill>
                <a:schemeClr val="accent1">
                  <a:alpha val="10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61" name="直线连接符 27"/>
          <p:cNvCxnSpPr/>
          <p:nvPr/>
        </p:nvCxnSpPr>
        <p:spPr>
          <a:xfrm>
            <a:off x="660400" y="635000"/>
            <a:ext cx="540000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组合 61" descr="{&quot;isTemplate&quot;:true,&quot;type&quot;:&quot;list&quot;,&quot;alignment&quot;:&quot;left&quot;,&quot;alignmentVertical&quot;:&quot;top&quot;,&quot;canOmit&quot;:false,&quot;scalable&quot;:false,&quot;minItemsCount&quot;:0}"/>
          <p:cNvGrpSpPr/>
          <p:nvPr/>
        </p:nvGrpSpPr>
        <p:grpSpPr>
          <a:xfrm>
            <a:off x="660400" y="3432334"/>
            <a:ext cx="11260793" cy="2294178"/>
            <a:chOff x="660400" y="3432334"/>
            <a:chExt cx="11260793" cy="2294178"/>
          </a:xfrm>
        </p:grpSpPr>
        <p:grpSp>
          <p:nvGrpSpPr>
            <p:cNvPr id="63" name="组合 62"/>
            <p:cNvGrpSpPr/>
            <p:nvPr/>
          </p:nvGrpSpPr>
          <p:grpSpPr>
            <a:xfrm>
              <a:off x="660400" y="3432334"/>
              <a:ext cx="3704673" cy="831851"/>
              <a:chOff x="660400" y="3432334"/>
              <a:chExt cx="3704673" cy="831851"/>
            </a:xfrm>
          </p:grpSpPr>
          <p:sp>
            <p:nvSpPr>
              <p:cNvPr id="64" name="Tencent"/>
              <p:cNvSpPr txBox="1"/>
              <p:nvPr/>
            </p:nvSpPr>
            <p:spPr>
              <a:xfrm>
                <a:off x="660400" y="3432334"/>
                <a:ext cx="914400" cy="831851"/>
              </a:xfrm>
              <a:prstGeom prst="rect">
                <a:avLst/>
              </a:prstGeom>
              <a:noFill/>
            </p:spPr>
            <p:txBody>
              <a:bodyPr wrap="square" rtlCol="0" anchor="b" anchorCtr="0">
                <a:noAutofit/>
              </a:bodyPr>
              <a:lstStyle/>
              <a:p>
                <a:pPr algn="ctr"/>
                <a:r>
                  <a:rPr lang="en-US" sz="4800">
                    <a:solidFill>
                      <a:schemeClr val="accent1">
                        <a:alpha val="100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01</a:t>
                </a:r>
                <a:endParaRPr lang="zh-CN" sz="4800">
                  <a:solidFill>
                    <a:srgbClr val="3087D5">
                      <a:alpha val="100000"/>
                    </a:srgb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5" name="Tencent" descr="{&quot;isTemplate&quot;:true,&quot;type&quot;:&quot;title&quot;,&quot;canOmit&quot;:false,&quot;range&quot;:0}"/>
              <p:cNvSpPr txBox="1"/>
              <p:nvPr/>
            </p:nvSpPr>
            <p:spPr>
              <a:xfrm>
                <a:off x="1621873" y="3651410"/>
                <a:ext cx="2743200" cy="393700"/>
              </a:xfrm>
              <a:prstGeom prst="rect">
                <a:avLst/>
              </a:prstGeom>
              <a:noFill/>
            </p:spPr>
            <p:txBody>
              <a:bodyPr wrap="none" lIns="90000" tIns="46800" rIns="90000" bIns="46800" rtlCol="0" anchor="b" anchorCtr="0">
                <a:noAutofit/>
              </a:bodyPr>
              <a:lstStyle/>
              <a:p>
                <a:pPr marL="0" indent="0" algn="thaiDist">
                  <a:lnSpc>
                    <a:spcPct val="100000"/>
                  </a:lnSpc>
                  <a:buNone/>
                </a:pPr>
                <a:r>
                  <a:rPr lang="zh-CN" sz="1800" b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历史背景与核心脉络</a:t>
                </a:r>
                <a:endParaRPr lang="en-US" sz="20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66" name="组合 65"/>
            <p:cNvGrpSpPr/>
            <p:nvPr/>
          </p:nvGrpSpPr>
          <p:grpSpPr>
            <a:xfrm>
              <a:off x="4424934" y="3432761"/>
              <a:ext cx="3699975" cy="830997"/>
              <a:chOff x="4424934" y="3432761"/>
              <a:chExt cx="3699975" cy="830997"/>
            </a:xfrm>
          </p:grpSpPr>
          <p:sp>
            <p:nvSpPr>
              <p:cNvPr id="67" name="Tencent"/>
              <p:cNvSpPr txBox="1"/>
              <p:nvPr/>
            </p:nvSpPr>
            <p:spPr>
              <a:xfrm>
                <a:off x="4424934" y="3432761"/>
                <a:ext cx="914400" cy="830997"/>
              </a:xfrm>
              <a:prstGeom prst="rect">
                <a:avLst/>
              </a:prstGeom>
              <a:noFill/>
            </p:spPr>
            <p:txBody>
              <a:bodyPr wrap="none" rtlCol="0" anchor="b" anchorCtr="0">
                <a:noAutofit/>
              </a:bodyPr>
              <a:lstStyle/>
              <a:p>
                <a:pPr algn="ctr"/>
                <a:r>
                  <a:rPr lang="en-US" sz="4800">
                    <a:solidFill>
                      <a:schemeClr val="accent1">
                        <a:alpha val="100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02</a:t>
                </a:r>
                <a:endParaRPr lang="zh-CN" sz="4800">
                  <a:solidFill>
                    <a:schemeClr val="accent1">
                      <a:alpha val="10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8" name="Tencent" descr="{&quot;isTemplate&quot;:true,&quot;type&quot;:&quot;title&quot;,&quot;canOmit&quot;:false,&quot;range&quot;:0}"/>
              <p:cNvSpPr txBox="1"/>
              <p:nvPr/>
            </p:nvSpPr>
            <p:spPr>
              <a:xfrm>
                <a:off x="5381709" y="3647114"/>
                <a:ext cx="2743200" cy="402291"/>
              </a:xfrm>
              <a:prstGeom prst="rect">
                <a:avLst/>
              </a:prstGeom>
              <a:noFill/>
            </p:spPr>
            <p:txBody>
              <a:bodyPr wrap="none" lIns="90000" tIns="46800" rIns="90000" bIns="46800" rtlCol="0" anchor="b" anchorCtr="0">
                <a:noAutofit/>
              </a:bodyPr>
              <a:lstStyle/>
              <a:p>
                <a:pPr marL="0" indent="0" algn="thaiDist">
                  <a:lnSpc>
                    <a:spcPct val="100000"/>
                  </a:lnSpc>
                  <a:buNone/>
                </a:pPr>
                <a:r>
                  <a:rPr lang="zh-CN" sz="1800" b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人物形象与现代启示</a:t>
                </a:r>
                <a:endParaRPr lang="en-US" sz="20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9" name="" descr="{&quot;isTemplate&quot;:true,&quot;type&quot;:2,&quot;originSlideId&quot;:&quot;efd25425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标题 1" descr="{&quot;isTemplate&quot;:true,&quot;type&quot;:&quot;title&quot;,&quot;canOmit&quot;:false,&quot;range&quot;:0}"/>
          <p:cNvSpPr txBox="1"/>
          <p:nvPr/>
        </p:nvSpPr>
        <p:spPr>
          <a:xfrm>
            <a:off x="392698" y="4923294"/>
            <a:ext cx="11330940" cy="1079500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800" b="0" i="0" kern="1200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marL="0" indent="0">
              <a:lnSpc>
                <a:spcPct val="100000"/>
              </a:lnSpc>
              <a:buNone/>
            </a:pPr>
            <a:r>
              <a:rPr lang="zh-CN" sz="7200"/>
              <a:t>历史背景与核心脉络</a:t>
            </a:r>
            <a:endParaRPr lang="zh-CN" sz="7200"/>
          </a:p>
        </p:txBody>
      </p:sp>
      <p:sp>
        <p:nvSpPr>
          <p:cNvPr id="71" name="标题 1"/>
          <p:cNvSpPr txBox="1"/>
          <p:nvPr/>
        </p:nvSpPr>
        <p:spPr>
          <a:xfrm>
            <a:off x="392698" y="3621770"/>
            <a:ext cx="1324402" cy="1311128"/>
          </a:xfrm>
          <a:prstGeom prst="rect">
            <a:avLst/>
          </a:prstGeom>
        </p:spPr>
        <p:txBody>
          <a:bodyPr vert="horz" wrap="none" lIns="91440" tIns="45720" rIns="91440" bIns="45720" rtlCol="0" anchor="b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800" b="0" i="0" kern="1200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kumimoji="1"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kumimoji="1"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2" name="" descr="{&quot;isTemplate&quot;:true,&quot;type&quot;:&quot;page&quot;,&quot;originSlideId&quot;:&quot;6e5ac1e2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图形"/>
          <p:cNvSpPr/>
          <p:nvPr>
            <p:custDataLst>
              <p:tags r:id="rId1"/>
            </p:custDataLst>
          </p:nvPr>
        </p:nvSpPr>
        <p:spPr bwMode="auto">
          <a:xfrm flipH="1">
            <a:off x="6076780" y="4409176"/>
            <a:ext cx="4739295" cy="1011197"/>
          </a:xfrm>
          <a:custGeom>
            <a:avLst/>
            <a:gdLst>
              <a:gd name="T0" fmla="*/ 1972 w 1972"/>
              <a:gd name="T1" fmla="*/ 185 h 369"/>
              <a:gd name="T2" fmla="*/ 1778 w 1972"/>
              <a:gd name="T3" fmla="*/ 0 h 369"/>
              <a:gd name="T4" fmla="*/ 1778 w 1972"/>
              <a:gd name="T5" fmla="*/ 0 h 369"/>
              <a:gd name="T6" fmla="*/ 0 w 1972"/>
              <a:gd name="T7" fmla="*/ 0 h 369"/>
              <a:gd name="T8" fmla="*/ 0 w 1972"/>
              <a:gd name="T9" fmla="*/ 369 h 369"/>
              <a:gd name="T10" fmla="*/ 1778 w 1972"/>
              <a:gd name="T11" fmla="*/ 369 h 369"/>
              <a:gd name="T12" fmla="*/ 1778 w 1972"/>
              <a:gd name="T13" fmla="*/ 369 h 369"/>
              <a:gd name="T14" fmla="*/ 1972 w 1972"/>
              <a:gd name="T15" fmla="*/ 185 h 36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972" h="369">
                <a:moveTo>
                  <a:pt x="1972" y="185"/>
                </a:moveTo>
                <a:lnTo>
                  <a:pt x="1778" y="0"/>
                </a:lnTo>
                <a:lnTo>
                  <a:pt x="1778" y="0"/>
                </a:lnTo>
                <a:lnTo>
                  <a:pt x="0" y="0"/>
                </a:lnTo>
                <a:lnTo>
                  <a:pt x="0" y="369"/>
                </a:lnTo>
                <a:lnTo>
                  <a:pt x="1778" y="369"/>
                </a:lnTo>
                <a:lnTo>
                  <a:pt x="1778" y="369"/>
                </a:lnTo>
                <a:lnTo>
                  <a:pt x="1972" y="185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>
            <a:defPPr>
              <a:defRPr lang="en-US"/>
            </a:defPPr>
            <a:lvl1pPr marL="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74" name="图形"/>
          <p:cNvSpPr/>
          <p:nvPr>
            <p:custDataLst>
              <p:tags r:id="rId2"/>
            </p:custDataLst>
          </p:nvPr>
        </p:nvSpPr>
        <p:spPr bwMode="auto">
          <a:xfrm flipH="1">
            <a:off x="7180108" y="3401214"/>
            <a:ext cx="3635967" cy="1008771"/>
          </a:xfrm>
          <a:custGeom>
            <a:avLst/>
            <a:gdLst>
              <a:gd name="T0" fmla="*/ 1513 w 1513"/>
              <a:gd name="T1" fmla="*/ 185 h 372"/>
              <a:gd name="T2" fmla="*/ 1319 w 1513"/>
              <a:gd name="T3" fmla="*/ 0 h 372"/>
              <a:gd name="T4" fmla="*/ 1319 w 1513"/>
              <a:gd name="T5" fmla="*/ 0 h 372"/>
              <a:gd name="T6" fmla="*/ 0 w 1513"/>
              <a:gd name="T7" fmla="*/ 0 h 372"/>
              <a:gd name="T8" fmla="*/ 0 w 1513"/>
              <a:gd name="T9" fmla="*/ 372 h 372"/>
              <a:gd name="T10" fmla="*/ 1319 w 1513"/>
              <a:gd name="T11" fmla="*/ 372 h 372"/>
              <a:gd name="T12" fmla="*/ 1319 w 1513"/>
              <a:gd name="T13" fmla="*/ 369 h 372"/>
              <a:gd name="T14" fmla="*/ 1513 w 1513"/>
              <a:gd name="T15" fmla="*/ 185 h 3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513" h="372">
                <a:moveTo>
                  <a:pt x="1513" y="185"/>
                </a:moveTo>
                <a:lnTo>
                  <a:pt x="1319" y="0"/>
                </a:lnTo>
                <a:lnTo>
                  <a:pt x="1319" y="0"/>
                </a:lnTo>
                <a:lnTo>
                  <a:pt x="0" y="0"/>
                </a:lnTo>
                <a:lnTo>
                  <a:pt x="0" y="372"/>
                </a:lnTo>
                <a:lnTo>
                  <a:pt x="1319" y="372"/>
                </a:lnTo>
                <a:lnTo>
                  <a:pt x="1319" y="369"/>
                </a:lnTo>
                <a:lnTo>
                  <a:pt x="1513" y="185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>
            <a:defPPr>
              <a:defRPr lang="en-US"/>
            </a:defPPr>
            <a:lvl1pPr marL="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75" name="图形"/>
          <p:cNvSpPr/>
          <p:nvPr>
            <p:custDataLst>
              <p:tags r:id="rId3"/>
            </p:custDataLst>
          </p:nvPr>
        </p:nvSpPr>
        <p:spPr bwMode="auto">
          <a:xfrm flipH="1">
            <a:off x="6939867" y="2392442"/>
            <a:ext cx="3876207" cy="1008771"/>
          </a:xfrm>
          <a:custGeom>
            <a:avLst/>
            <a:gdLst>
              <a:gd name="T0" fmla="*/ 1613 w 1613"/>
              <a:gd name="T1" fmla="*/ 187 h 372"/>
              <a:gd name="T2" fmla="*/ 1418 w 1613"/>
              <a:gd name="T3" fmla="*/ 3 h 372"/>
              <a:gd name="T4" fmla="*/ 1418 w 1613"/>
              <a:gd name="T5" fmla="*/ 0 h 372"/>
              <a:gd name="T6" fmla="*/ 0 w 1613"/>
              <a:gd name="T7" fmla="*/ 0 h 372"/>
              <a:gd name="T8" fmla="*/ 0 w 1613"/>
              <a:gd name="T9" fmla="*/ 372 h 372"/>
              <a:gd name="T10" fmla="*/ 1418 w 1613"/>
              <a:gd name="T11" fmla="*/ 372 h 372"/>
              <a:gd name="T12" fmla="*/ 1418 w 1613"/>
              <a:gd name="T13" fmla="*/ 372 h 372"/>
              <a:gd name="T14" fmla="*/ 1613 w 1613"/>
              <a:gd name="T15" fmla="*/ 187 h 3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13" h="372">
                <a:moveTo>
                  <a:pt x="1613" y="187"/>
                </a:moveTo>
                <a:lnTo>
                  <a:pt x="1418" y="3"/>
                </a:lnTo>
                <a:lnTo>
                  <a:pt x="1418" y="0"/>
                </a:lnTo>
                <a:lnTo>
                  <a:pt x="0" y="0"/>
                </a:lnTo>
                <a:lnTo>
                  <a:pt x="0" y="372"/>
                </a:lnTo>
                <a:lnTo>
                  <a:pt x="1418" y="372"/>
                </a:lnTo>
                <a:lnTo>
                  <a:pt x="1418" y="372"/>
                </a:lnTo>
                <a:lnTo>
                  <a:pt x="1613" y="187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>
            <a:defPPr>
              <a:defRPr lang="en-US"/>
            </a:defPPr>
            <a:lvl1pPr marL="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76" name="图形"/>
          <p:cNvSpPr/>
          <p:nvPr/>
        </p:nvSpPr>
        <p:spPr bwMode="auto">
          <a:xfrm flipH="1">
            <a:off x="10808796" y="2392442"/>
            <a:ext cx="1383204" cy="1008771"/>
          </a:xfrm>
          <a:custGeom>
            <a:avLst/>
            <a:gdLst>
              <a:gd name="T0" fmla="*/ 0 w 374"/>
              <a:gd name="T1" fmla="*/ 372 h 372"/>
              <a:gd name="T2" fmla="*/ 374 w 374"/>
              <a:gd name="T3" fmla="*/ 372 h 372"/>
              <a:gd name="T4" fmla="*/ 374 w 374"/>
              <a:gd name="T5" fmla="*/ 0 h 372"/>
              <a:gd name="T6" fmla="*/ 0 w 374"/>
              <a:gd name="T7" fmla="*/ 280 h 372"/>
              <a:gd name="T8" fmla="*/ 0 w 374"/>
              <a:gd name="T9" fmla="*/ 372 h 3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4" h="372">
                <a:moveTo>
                  <a:pt x="0" y="372"/>
                </a:moveTo>
                <a:lnTo>
                  <a:pt x="374" y="372"/>
                </a:lnTo>
                <a:lnTo>
                  <a:pt x="374" y="0"/>
                </a:lnTo>
                <a:lnTo>
                  <a:pt x="0" y="280"/>
                </a:lnTo>
                <a:lnTo>
                  <a:pt x="0" y="372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>
            <a:defPPr>
              <a:defRPr lang="en-US"/>
            </a:defPPr>
            <a:lvl1pPr marL="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77" name="图形"/>
          <p:cNvSpPr/>
          <p:nvPr/>
        </p:nvSpPr>
        <p:spPr bwMode="auto">
          <a:xfrm flipH="1">
            <a:off x="10808796" y="3400405"/>
            <a:ext cx="1383204" cy="1010389"/>
          </a:xfrm>
          <a:custGeom>
            <a:avLst/>
            <a:gdLst>
              <a:gd name="T0" fmla="*/ 0 w 377"/>
              <a:gd name="T1" fmla="*/ 95 h 372"/>
              <a:gd name="T2" fmla="*/ 377 w 377"/>
              <a:gd name="T3" fmla="*/ 372 h 372"/>
              <a:gd name="T4" fmla="*/ 377 w 377"/>
              <a:gd name="T5" fmla="*/ 0 h 372"/>
              <a:gd name="T6" fmla="*/ 0 w 377"/>
              <a:gd name="T7" fmla="*/ 0 h 372"/>
              <a:gd name="T8" fmla="*/ 0 w 377"/>
              <a:gd name="T9" fmla="*/ 95 h 3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7" h="372">
                <a:moveTo>
                  <a:pt x="0" y="95"/>
                </a:moveTo>
                <a:lnTo>
                  <a:pt x="377" y="372"/>
                </a:lnTo>
                <a:lnTo>
                  <a:pt x="377" y="0"/>
                </a:lnTo>
                <a:lnTo>
                  <a:pt x="0" y="0"/>
                </a:lnTo>
                <a:lnTo>
                  <a:pt x="0" y="95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>
            <a:defPPr>
              <a:defRPr lang="en-US"/>
            </a:defPPr>
            <a:lvl1pPr marL="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78" name="图形"/>
          <p:cNvSpPr/>
          <p:nvPr/>
        </p:nvSpPr>
        <p:spPr bwMode="auto">
          <a:xfrm flipH="1">
            <a:off x="10816076" y="3649564"/>
            <a:ext cx="1375924" cy="1770810"/>
          </a:xfrm>
          <a:custGeom>
            <a:avLst/>
            <a:gdLst>
              <a:gd name="T0" fmla="*/ 0 w 374"/>
              <a:gd name="T1" fmla="*/ 92 h 646"/>
              <a:gd name="T2" fmla="*/ 374 w 374"/>
              <a:gd name="T3" fmla="*/ 646 h 646"/>
              <a:gd name="T4" fmla="*/ 374 w 374"/>
              <a:gd name="T5" fmla="*/ 277 h 646"/>
              <a:gd name="T6" fmla="*/ 0 w 374"/>
              <a:gd name="T7" fmla="*/ 0 h 646"/>
              <a:gd name="T8" fmla="*/ 0 w 374"/>
              <a:gd name="T9" fmla="*/ 92 h 6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4" h="646">
                <a:moveTo>
                  <a:pt x="0" y="92"/>
                </a:moveTo>
                <a:lnTo>
                  <a:pt x="374" y="646"/>
                </a:lnTo>
                <a:lnTo>
                  <a:pt x="374" y="277"/>
                </a:lnTo>
                <a:lnTo>
                  <a:pt x="0" y="0"/>
                </a:lnTo>
                <a:lnTo>
                  <a:pt x="0" y="92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>
            <a:defPPr>
              <a:defRPr lang="en-US"/>
            </a:defPPr>
            <a:lvl1pPr marL="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79" name="图形"/>
          <p:cNvSpPr>
            <a:spLocks noEditPoints="1"/>
          </p:cNvSpPr>
          <p:nvPr>
            <p:custDataLst>
              <p:tags r:id="rId4"/>
            </p:custDataLst>
          </p:nvPr>
        </p:nvSpPr>
        <p:spPr bwMode="auto">
          <a:xfrm>
            <a:off x="9989389" y="2647264"/>
            <a:ext cx="517690" cy="499127"/>
          </a:xfrm>
          <a:custGeom>
            <a:avLst/>
            <a:gdLst/>
            <a:ahLst/>
            <a:cxnLst>
              <a:cxn ang="0">
                <a:pos x="220" y="236"/>
              </a:cxn>
              <a:cxn ang="0">
                <a:pos x="212" y="240"/>
              </a:cxn>
              <a:cxn ang="0">
                <a:pos x="204" y="236"/>
              </a:cxn>
              <a:cxn ang="0">
                <a:pos x="188" y="220"/>
              </a:cxn>
              <a:cxn ang="0">
                <a:pos x="184" y="212"/>
              </a:cxn>
              <a:cxn ang="0">
                <a:pos x="196" y="200"/>
              </a:cxn>
              <a:cxn ang="0">
                <a:pos x="204" y="204"/>
              </a:cxn>
              <a:cxn ang="0">
                <a:pos x="212" y="211"/>
              </a:cxn>
              <a:cxn ang="0">
                <a:pos x="236" y="188"/>
              </a:cxn>
              <a:cxn ang="0">
                <a:pos x="244" y="184"/>
              </a:cxn>
              <a:cxn ang="0">
                <a:pos x="256" y="196"/>
              </a:cxn>
              <a:cxn ang="0">
                <a:pos x="252" y="204"/>
              </a:cxn>
              <a:cxn ang="0">
                <a:pos x="220" y="236"/>
              </a:cxn>
              <a:cxn ang="0">
                <a:pos x="212" y="194"/>
              </a:cxn>
              <a:cxn ang="0">
                <a:pos x="196" y="188"/>
              </a:cxn>
              <a:cxn ang="0">
                <a:pos x="172" y="212"/>
              </a:cxn>
              <a:cxn ang="0">
                <a:pos x="179" y="229"/>
              </a:cxn>
              <a:cxn ang="0">
                <a:pos x="195" y="245"/>
              </a:cxn>
              <a:cxn ang="0">
                <a:pos x="199" y="248"/>
              </a:cxn>
              <a:cxn ang="0">
                <a:pos x="12" y="248"/>
              </a:cxn>
              <a:cxn ang="0">
                <a:pos x="0" y="236"/>
              </a:cxn>
              <a:cxn ang="0">
                <a:pos x="0" y="236"/>
              </a:cxn>
              <a:cxn ang="0">
                <a:pos x="0" y="236"/>
              </a:cxn>
              <a:cxn ang="0">
                <a:pos x="32" y="176"/>
              </a:cxn>
              <a:cxn ang="0">
                <a:pos x="69" y="164"/>
              </a:cxn>
              <a:cxn ang="0">
                <a:pos x="100" y="150"/>
              </a:cxn>
              <a:cxn ang="0">
                <a:pos x="100" y="127"/>
              </a:cxn>
              <a:cxn ang="0">
                <a:pos x="88" y="97"/>
              </a:cxn>
              <a:cxn ang="0">
                <a:pos x="80" y="85"/>
              </a:cxn>
              <a:cxn ang="0">
                <a:pos x="84" y="65"/>
              </a:cxn>
              <a:cxn ang="0">
                <a:pos x="82" y="39"/>
              </a:cxn>
              <a:cxn ang="0">
                <a:pos x="128" y="0"/>
              </a:cxn>
              <a:cxn ang="0">
                <a:pos x="175" y="39"/>
              </a:cxn>
              <a:cxn ang="0">
                <a:pos x="172" y="65"/>
              </a:cxn>
              <a:cxn ang="0">
                <a:pos x="176" y="85"/>
              </a:cxn>
              <a:cxn ang="0">
                <a:pos x="168" y="97"/>
              </a:cxn>
              <a:cxn ang="0">
                <a:pos x="156" y="126"/>
              </a:cxn>
              <a:cxn ang="0">
                <a:pos x="156" y="150"/>
              </a:cxn>
              <a:cxn ang="0">
                <a:pos x="187" y="164"/>
              </a:cxn>
              <a:cxn ang="0">
                <a:pos x="224" y="176"/>
              </a:cxn>
              <a:cxn ang="0">
                <a:pos x="228" y="179"/>
              </a:cxn>
              <a:cxn ang="0">
                <a:pos x="227" y="179"/>
              </a:cxn>
              <a:cxn ang="0">
                <a:pos x="212" y="194"/>
              </a:cxn>
              <a:cxn ang="0">
                <a:pos x="254" y="220"/>
              </a:cxn>
              <a:cxn ang="0">
                <a:pos x="256" y="236"/>
              </a:cxn>
              <a:cxn ang="0">
                <a:pos x="256" y="236"/>
              </a:cxn>
              <a:cxn ang="0">
                <a:pos x="256" y="236"/>
              </a:cxn>
              <a:cxn ang="0">
                <a:pos x="244" y="248"/>
              </a:cxn>
              <a:cxn ang="0">
                <a:pos x="225" y="248"/>
              </a:cxn>
              <a:cxn ang="0">
                <a:pos x="229" y="245"/>
              </a:cxn>
              <a:cxn ang="0">
                <a:pos x="254" y="220"/>
              </a:cxn>
            </a:cxnLst>
            <a:rect l="0" t="0" r="r" b="b"/>
            <a:pathLst>
              <a:path w="256" h="248">
                <a:moveTo>
                  <a:pt x="220" y="236"/>
                </a:moveTo>
                <a:cubicBezTo>
                  <a:pt x="218" y="239"/>
                  <a:pt x="215" y="240"/>
                  <a:pt x="212" y="240"/>
                </a:cubicBezTo>
                <a:cubicBezTo>
                  <a:pt x="209" y="240"/>
                  <a:pt x="206" y="239"/>
                  <a:pt x="204" y="236"/>
                </a:cubicBezTo>
                <a:cubicBezTo>
                  <a:pt x="188" y="220"/>
                  <a:pt x="188" y="220"/>
                  <a:pt x="188" y="220"/>
                </a:cubicBezTo>
                <a:cubicBezTo>
                  <a:pt x="185" y="218"/>
                  <a:pt x="184" y="215"/>
                  <a:pt x="184" y="212"/>
                </a:cubicBezTo>
                <a:cubicBezTo>
                  <a:pt x="184" y="205"/>
                  <a:pt x="189" y="200"/>
                  <a:pt x="196" y="200"/>
                </a:cubicBezTo>
                <a:cubicBezTo>
                  <a:pt x="199" y="200"/>
                  <a:pt x="202" y="201"/>
                  <a:pt x="204" y="204"/>
                </a:cubicBezTo>
                <a:cubicBezTo>
                  <a:pt x="212" y="211"/>
                  <a:pt x="212" y="211"/>
                  <a:pt x="212" y="211"/>
                </a:cubicBezTo>
                <a:cubicBezTo>
                  <a:pt x="236" y="188"/>
                  <a:pt x="236" y="188"/>
                  <a:pt x="236" y="188"/>
                </a:cubicBezTo>
                <a:cubicBezTo>
                  <a:pt x="238" y="185"/>
                  <a:pt x="241" y="184"/>
                  <a:pt x="244" y="184"/>
                </a:cubicBezTo>
                <a:cubicBezTo>
                  <a:pt x="251" y="184"/>
                  <a:pt x="256" y="189"/>
                  <a:pt x="256" y="196"/>
                </a:cubicBezTo>
                <a:cubicBezTo>
                  <a:pt x="256" y="199"/>
                  <a:pt x="255" y="202"/>
                  <a:pt x="252" y="204"/>
                </a:cubicBezTo>
                <a:lnTo>
                  <a:pt x="220" y="236"/>
                </a:lnTo>
                <a:close/>
                <a:moveTo>
                  <a:pt x="212" y="194"/>
                </a:moveTo>
                <a:cubicBezTo>
                  <a:pt x="208" y="190"/>
                  <a:pt x="202" y="188"/>
                  <a:pt x="196" y="188"/>
                </a:cubicBezTo>
                <a:cubicBezTo>
                  <a:pt x="183" y="188"/>
                  <a:pt x="172" y="199"/>
                  <a:pt x="172" y="212"/>
                </a:cubicBezTo>
                <a:cubicBezTo>
                  <a:pt x="172" y="219"/>
                  <a:pt x="175" y="225"/>
                  <a:pt x="179" y="229"/>
                </a:cubicBezTo>
                <a:cubicBezTo>
                  <a:pt x="195" y="245"/>
                  <a:pt x="195" y="245"/>
                  <a:pt x="195" y="245"/>
                </a:cubicBezTo>
                <a:cubicBezTo>
                  <a:pt x="196" y="246"/>
                  <a:pt x="197" y="247"/>
                  <a:pt x="199" y="248"/>
                </a:cubicBezTo>
                <a:cubicBezTo>
                  <a:pt x="12" y="248"/>
                  <a:pt x="12" y="248"/>
                  <a:pt x="12" y="248"/>
                </a:cubicBezTo>
                <a:cubicBezTo>
                  <a:pt x="5" y="248"/>
                  <a:pt x="0" y="243"/>
                  <a:pt x="0" y="236"/>
                </a:cubicBezTo>
                <a:cubicBezTo>
                  <a:pt x="0" y="236"/>
                  <a:pt x="0" y="236"/>
                  <a:pt x="0" y="236"/>
                </a:cubicBezTo>
                <a:cubicBezTo>
                  <a:pt x="0" y="236"/>
                  <a:pt x="0" y="236"/>
                  <a:pt x="0" y="236"/>
                </a:cubicBezTo>
                <a:cubicBezTo>
                  <a:pt x="0" y="236"/>
                  <a:pt x="0" y="192"/>
                  <a:pt x="32" y="176"/>
                </a:cubicBezTo>
                <a:cubicBezTo>
                  <a:pt x="52" y="166"/>
                  <a:pt x="44" y="174"/>
                  <a:pt x="69" y="164"/>
                </a:cubicBezTo>
                <a:cubicBezTo>
                  <a:pt x="94" y="154"/>
                  <a:pt x="100" y="150"/>
                  <a:pt x="100" y="150"/>
                </a:cubicBezTo>
                <a:cubicBezTo>
                  <a:pt x="100" y="127"/>
                  <a:pt x="100" y="127"/>
                  <a:pt x="100" y="127"/>
                </a:cubicBezTo>
                <a:cubicBezTo>
                  <a:pt x="100" y="127"/>
                  <a:pt x="91" y="119"/>
                  <a:pt x="88" y="97"/>
                </a:cubicBezTo>
                <a:cubicBezTo>
                  <a:pt x="82" y="99"/>
                  <a:pt x="80" y="90"/>
                  <a:pt x="80" y="85"/>
                </a:cubicBezTo>
                <a:cubicBezTo>
                  <a:pt x="80" y="80"/>
                  <a:pt x="77" y="63"/>
                  <a:pt x="84" y="65"/>
                </a:cubicBezTo>
                <a:cubicBezTo>
                  <a:pt x="82" y="54"/>
                  <a:pt x="81" y="44"/>
                  <a:pt x="82" y="39"/>
                </a:cubicBezTo>
                <a:cubicBezTo>
                  <a:pt x="83" y="21"/>
                  <a:pt x="101" y="1"/>
                  <a:pt x="128" y="0"/>
                </a:cubicBezTo>
                <a:cubicBezTo>
                  <a:pt x="160" y="1"/>
                  <a:pt x="173" y="21"/>
                  <a:pt x="175" y="39"/>
                </a:cubicBezTo>
                <a:cubicBezTo>
                  <a:pt x="175" y="44"/>
                  <a:pt x="174" y="54"/>
                  <a:pt x="172" y="65"/>
                </a:cubicBezTo>
                <a:cubicBezTo>
                  <a:pt x="180" y="63"/>
                  <a:pt x="177" y="80"/>
                  <a:pt x="176" y="85"/>
                </a:cubicBezTo>
                <a:cubicBezTo>
                  <a:pt x="176" y="90"/>
                  <a:pt x="174" y="99"/>
                  <a:pt x="168" y="97"/>
                </a:cubicBezTo>
                <a:cubicBezTo>
                  <a:pt x="165" y="119"/>
                  <a:pt x="156" y="126"/>
                  <a:pt x="156" y="126"/>
                </a:cubicBezTo>
                <a:cubicBezTo>
                  <a:pt x="156" y="150"/>
                  <a:pt x="156" y="150"/>
                  <a:pt x="156" y="150"/>
                </a:cubicBezTo>
                <a:cubicBezTo>
                  <a:pt x="156" y="150"/>
                  <a:pt x="162" y="153"/>
                  <a:pt x="187" y="164"/>
                </a:cubicBezTo>
                <a:cubicBezTo>
                  <a:pt x="212" y="174"/>
                  <a:pt x="204" y="166"/>
                  <a:pt x="224" y="176"/>
                </a:cubicBezTo>
                <a:cubicBezTo>
                  <a:pt x="225" y="177"/>
                  <a:pt x="226" y="178"/>
                  <a:pt x="228" y="179"/>
                </a:cubicBezTo>
                <a:cubicBezTo>
                  <a:pt x="227" y="179"/>
                  <a:pt x="227" y="179"/>
                  <a:pt x="227" y="179"/>
                </a:cubicBezTo>
                <a:lnTo>
                  <a:pt x="212" y="194"/>
                </a:lnTo>
                <a:close/>
                <a:moveTo>
                  <a:pt x="254" y="220"/>
                </a:moveTo>
                <a:cubicBezTo>
                  <a:pt x="256" y="229"/>
                  <a:pt x="256" y="236"/>
                  <a:pt x="256" y="236"/>
                </a:cubicBezTo>
                <a:cubicBezTo>
                  <a:pt x="256" y="236"/>
                  <a:pt x="256" y="236"/>
                  <a:pt x="256" y="236"/>
                </a:cubicBezTo>
                <a:cubicBezTo>
                  <a:pt x="256" y="236"/>
                  <a:pt x="256" y="236"/>
                  <a:pt x="256" y="236"/>
                </a:cubicBezTo>
                <a:cubicBezTo>
                  <a:pt x="256" y="243"/>
                  <a:pt x="251" y="248"/>
                  <a:pt x="244" y="248"/>
                </a:cubicBezTo>
                <a:cubicBezTo>
                  <a:pt x="225" y="248"/>
                  <a:pt x="225" y="248"/>
                  <a:pt x="225" y="248"/>
                </a:cubicBezTo>
                <a:cubicBezTo>
                  <a:pt x="227" y="247"/>
                  <a:pt x="228" y="246"/>
                  <a:pt x="229" y="245"/>
                </a:cubicBezTo>
                <a:lnTo>
                  <a:pt x="254" y="220"/>
                </a:lnTo>
                <a:close/>
              </a:path>
            </a:pathLst>
          </a:custGeom>
          <a:solidFill>
            <a:schemeClr val="bg1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>
              <a:solidFill>
                <a:schemeClr val="bg1">
                  <a:alpha val="100000"/>
                </a:schemeClr>
              </a:solidFill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80" name="图形"/>
          <p:cNvSpPr>
            <a:spLocks noEditPoints="1"/>
          </p:cNvSpPr>
          <p:nvPr>
            <p:custDataLst>
              <p:tags r:id="rId5"/>
            </p:custDataLst>
          </p:nvPr>
        </p:nvSpPr>
        <p:spPr bwMode="auto">
          <a:xfrm>
            <a:off x="9991006" y="4665616"/>
            <a:ext cx="516072" cy="499127"/>
          </a:xfrm>
          <a:custGeom>
            <a:avLst/>
            <a:gdLst/>
            <a:ahLst/>
            <a:cxnLst>
              <a:cxn ang="0">
                <a:pos x="256" y="236"/>
              </a:cxn>
              <a:cxn ang="0">
                <a:pos x="256" y="236"/>
              </a:cxn>
              <a:cxn ang="0">
                <a:pos x="244" y="248"/>
              </a:cxn>
              <a:cxn ang="0">
                <a:pos x="12" y="248"/>
              </a:cxn>
              <a:cxn ang="0">
                <a:pos x="0" y="236"/>
              </a:cxn>
              <a:cxn ang="0">
                <a:pos x="0" y="236"/>
              </a:cxn>
              <a:cxn ang="0">
                <a:pos x="0" y="236"/>
              </a:cxn>
              <a:cxn ang="0">
                <a:pos x="32" y="176"/>
              </a:cxn>
              <a:cxn ang="0">
                <a:pos x="69" y="164"/>
              </a:cxn>
              <a:cxn ang="0">
                <a:pos x="100" y="150"/>
              </a:cxn>
              <a:cxn ang="0">
                <a:pos x="100" y="127"/>
              </a:cxn>
              <a:cxn ang="0">
                <a:pos x="88" y="97"/>
              </a:cxn>
              <a:cxn ang="0">
                <a:pos x="80" y="85"/>
              </a:cxn>
              <a:cxn ang="0">
                <a:pos x="84" y="65"/>
              </a:cxn>
              <a:cxn ang="0">
                <a:pos x="82" y="39"/>
              </a:cxn>
              <a:cxn ang="0">
                <a:pos x="128" y="0"/>
              </a:cxn>
              <a:cxn ang="0">
                <a:pos x="175" y="39"/>
              </a:cxn>
              <a:cxn ang="0">
                <a:pos x="172" y="65"/>
              </a:cxn>
              <a:cxn ang="0">
                <a:pos x="176" y="85"/>
              </a:cxn>
              <a:cxn ang="0">
                <a:pos x="168" y="97"/>
              </a:cxn>
              <a:cxn ang="0">
                <a:pos x="156" y="126"/>
              </a:cxn>
              <a:cxn ang="0">
                <a:pos x="156" y="150"/>
              </a:cxn>
              <a:cxn ang="0">
                <a:pos x="187" y="164"/>
              </a:cxn>
              <a:cxn ang="0">
                <a:pos x="224" y="176"/>
              </a:cxn>
              <a:cxn ang="0">
                <a:pos x="239" y="188"/>
              </a:cxn>
              <a:cxn ang="0">
                <a:pos x="192" y="188"/>
              </a:cxn>
              <a:cxn ang="0">
                <a:pos x="168" y="212"/>
              </a:cxn>
              <a:cxn ang="0">
                <a:pos x="192" y="236"/>
              </a:cxn>
              <a:cxn ang="0">
                <a:pos x="240" y="236"/>
              </a:cxn>
              <a:cxn ang="0">
                <a:pos x="256" y="230"/>
              </a:cxn>
              <a:cxn ang="0">
                <a:pos x="256" y="236"/>
              </a:cxn>
              <a:cxn ang="0">
                <a:pos x="240" y="224"/>
              </a:cxn>
              <a:cxn ang="0">
                <a:pos x="192" y="224"/>
              </a:cxn>
              <a:cxn ang="0">
                <a:pos x="180" y="212"/>
              </a:cxn>
              <a:cxn ang="0">
                <a:pos x="192" y="200"/>
              </a:cxn>
              <a:cxn ang="0">
                <a:pos x="240" y="200"/>
              </a:cxn>
              <a:cxn ang="0">
                <a:pos x="252" y="212"/>
              </a:cxn>
              <a:cxn ang="0">
                <a:pos x="240" y="224"/>
              </a:cxn>
            </a:cxnLst>
            <a:rect l="0" t="0" r="r" b="b"/>
            <a:pathLst>
              <a:path w="256" h="248">
                <a:moveTo>
                  <a:pt x="256" y="236"/>
                </a:moveTo>
                <a:cubicBezTo>
                  <a:pt x="256" y="236"/>
                  <a:pt x="256" y="236"/>
                  <a:pt x="256" y="236"/>
                </a:cubicBezTo>
                <a:cubicBezTo>
                  <a:pt x="256" y="243"/>
                  <a:pt x="251" y="248"/>
                  <a:pt x="244" y="248"/>
                </a:cubicBezTo>
                <a:cubicBezTo>
                  <a:pt x="12" y="248"/>
                  <a:pt x="12" y="248"/>
                  <a:pt x="12" y="248"/>
                </a:cubicBezTo>
                <a:cubicBezTo>
                  <a:pt x="5" y="248"/>
                  <a:pt x="0" y="243"/>
                  <a:pt x="0" y="236"/>
                </a:cubicBezTo>
                <a:cubicBezTo>
                  <a:pt x="0" y="236"/>
                  <a:pt x="0" y="236"/>
                  <a:pt x="0" y="236"/>
                </a:cubicBezTo>
                <a:cubicBezTo>
                  <a:pt x="0" y="236"/>
                  <a:pt x="0" y="236"/>
                  <a:pt x="0" y="236"/>
                </a:cubicBezTo>
                <a:cubicBezTo>
                  <a:pt x="0" y="236"/>
                  <a:pt x="0" y="192"/>
                  <a:pt x="32" y="176"/>
                </a:cubicBezTo>
                <a:cubicBezTo>
                  <a:pt x="52" y="166"/>
                  <a:pt x="44" y="174"/>
                  <a:pt x="69" y="164"/>
                </a:cubicBezTo>
                <a:cubicBezTo>
                  <a:pt x="94" y="154"/>
                  <a:pt x="100" y="150"/>
                  <a:pt x="100" y="150"/>
                </a:cubicBezTo>
                <a:cubicBezTo>
                  <a:pt x="100" y="127"/>
                  <a:pt x="100" y="127"/>
                  <a:pt x="100" y="127"/>
                </a:cubicBezTo>
                <a:cubicBezTo>
                  <a:pt x="100" y="127"/>
                  <a:pt x="91" y="119"/>
                  <a:pt x="88" y="97"/>
                </a:cubicBezTo>
                <a:cubicBezTo>
                  <a:pt x="82" y="99"/>
                  <a:pt x="80" y="90"/>
                  <a:pt x="80" y="85"/>
                </a:cubicBezTo>
                <a:cubicBezTo>
                  <a:pt x="80" y="80"/>
                  <a:pt x="77" y="63"/>
                  <a:pt x="84" y="65"/>
                </a:cubicBezTo>
                <a:cubicBezTo>
                  <a:pt x="82" y="54"/>
                  <a:pt x="81" y="44"/>
                  <a:pt x="82" y="39"/>
                </a:cubicBezTo>
                <a:cubicBezTo>
                  <a:pt x="83" y="21"/>
                  <a:pt x="101" y="1"/>
                  <a:pt x="128" y="0"/>
                </a:cubicBezTo>
                <a:cubicBezTo>
                  <a:pt x="160" y="1"/>
                  <a:pt x="173" y="21"/>
                  <a:pt x="175" y="39"/>
                </a:cubicBezTo>
                <a:cubicBezTo>
                  <a:pt x="175" y="44"/>
                  <a:pt x="174" y="54"/>
                  <a:pt x="172" y="65"/>
                </a:cubicBezTo>
                <a:cubicBezTo>
                  <a:pt x="180" y="63"/>
                  <a:pt x="177" y="80"/>
                  <a:pt x="176" y="85"/>
                </a:cubicBezTo>
                <a:cubicBezTo>
                  <a:pt x="176" y="90"/>
                  <a:pt x="174" y="99"/>
                  <a:pt x="168" y="97"/>
                </a:cubicBezTo>
                <a:cubicBezTo>
                  <a:pt x="165" y="119"/>
                  <a:pt x="156" y="126"/>
                  <a:pt x="156" y="126"/>
                </a:cubicBezTo>
                <a:cubicBezTo>
                  <a:pt x="156" y="150"/>
                  <a:pt x="156" y="150"/>
                  <a:pt x="156" y="150"/>
                </a:cubicBezTo>
                <a:cubicBezTo>
                  <a:pt x="156" y="150"/>
                  <a:pt x="162" y="153"/>
                  <a:pt x="187" y="164"/>
                </a:cubicBezTo>
                <a:cubicBezTo>
                  <a:pt x="212" y="174"/>
                  <a:pt x="204" y="166"/>
                  <a:pt x="224" y="176"/>
                </a:cubicBezTo>
                <a:cubicBezTo>
                  <a:pt x="230" y="179"/>
                  <a:pt x="235" y="183"/>
                  <a:pt x="239" y="188"/>
                </a:cubicBezTo>
                <a:cubicBezTo>
                  <a:pt x="192" y="188"/>
                  <a:pt x="192" y="188"/>
                  <a:pt x="192" y="188"/>
                </a:cubicBezTo>
                <a:cubicBezTo>
                  <a:pt x="179" y="188"/>
                  <a:pt x="168" y="199"/>
                  <a:pt x="168" y="212"/>
                </a:cubicBezTo>
                <a:cubicBezTo>
                  <a:pt x="168" y="225"/>
                  <a:pt x="179" y="236"/>
                  <a:pt x="192" y="236"/>
                </a:cubicBezTo>
                <a:cubicBezTo>
                  <a:pt x="240" y="236"/>
                  <a:pt x="240" y="236"/>
                  <a:pt x="240" y="236"/>
                </a:cubicBezTo>
                <a:cubicBezTo>
                  <a:pt x="246" y="236"/>
                  <a:pt x="251" y="234"/>
                  <a:pt x="256" y="230"/>
                </a:cubicBezTo>
                <a:cubicBezTo>
                  <a:pt x="256" y="234"/>
                  <a:pt x="256" y="236"/>
                  <a:pt x="256" y="236"/>
                </a:cubicBezTo>
                <a:close/>
                <a:moveTo>
                  <a:pt x="240" y="224"/>
                </a:moveTo>
                <a:cubicBezTo>
                  <a:pt x="192" y="224"/>
                  <a:pt x="192" y="224"/>
                  <a:pt x="192" y="224"/>
                </a:cubicBezTo>
                <a:cubicBezTo>
                  <a:pt x="185" y="224"/>
                  <a:pt x="180" y="219"/>
                  <a:pt x="180" y="212"/>
                </a:cubicBezTo>
                <a:cubicBezTo>
                  <a:pt x="180" y="205"/>
                  <a:pt x="185" y="200"/>
                  <a:pt x="192" y="200"/>
                </a:cubicBezTo>
                <a:cubicBezTo>
                  <a:pt x="240" y="200"/>
                  <a:pt x="240" y="200"/>
                  <a:pt x="240" y="200"/>
                </a:cubicBezTo>
                <a:cubicBezTo>
                  <a:pt x="247" y="200"/>
                  <a:pt x="252" y="205"/>
                  <a:pt x="252" y="212"/>
                </a:cubicBezTo>
                <a:cubicBezTo>
                  <a:pt x="252" y="219"/>
                  <a:pt x="247" y="224"/>
                  <a:pt x="240" y="224"/>
                </a:cubicBezTo>
              </a:path>
            </a:pathLst>
          </a:custGeom>
          <a:solidFill>
            <a:schemeClr val="bg1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>
              <a:solidFill>
                <a:schemeClr val="bg1">
                  <a:alpha val="100000"/>
                </a:schemeClr>
              </a:solidFill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81" name="图形"/>
          <p:cNvSpPr>
            <a:spLocks noEditPoints="1"/>
          </p:cNvSpPr>
          <p:nvPr>
            <p:custDataLst>
              <p:tags r:id="rId6"/>
            </p:custDataLst>
          </p:nvPr>
        </p:nvSpPr>
        <p:spPr bwMode="auto">
          <a:xfrm>
            <a:off x="9989389" y="3656036"/>
            <a:ext cx="517690" cy="499127"/>
          </a:xfrm>
          <a:custGeom>
            <a:avLst/>
            <a:gdLst/>
            <a:ahLst/>
            <a:cxnLst>
              <a:cxn ang="0">
                <a:pos x="256" y="236"/>
              </a:cxn>
              <a:cxn ang="0">
                <a:pos x="256" y="236"/>
              </a:cxn>
              <a:cxn ang="0">
                <a:pos x="244" y="248"/>
              </a:cxn>
              <a:cxn ang="0">
                <a:pos x="237" y="248"/>
              </a:cxn>
              <a:cxn ang="0">
                <a:pos x="240" y="236"/>
              </a:cxn>
              <a:cxn ang="0">
                <a:pos x="256" y="230"/>
              </a:cxn>
              <a:cxn ang="0">
                <a:pos x="256" y="236"/>
              </a:cxn>
              <a:cxn ang="0">
                <a:pos x="240" y="224"/>
              </a:cxn>
              <a:cxn ang="0">
                <a:pos x="228" y="224"/>
              </a:cxn>
              <a:cxn ang="0">
                <a:pos x="228" y="236"/>
              </a:cxn>
              <a:cxn ang="0">
                <a:pos x="216" y="248"/>
              </a:cxn>
              <a:cxn ang="0">
                <a:pos x="204" y="236"/>
              </a:cxn>
              <a:cxn ang="0">
                <a:pos x="204" y="224"/>
              </a:cxn>
              <a:cxn ang="0">
                <a:pos x="192" y="224"/>
              </a:cxn>
              <a:cxn ang="0">
                <a:pos x="180" y="212"/>
              </a:cxn>
              <a:cxn ang="0">
                <a:pos x="192" y="200"/>
              </a:cxn>
              <a:cxn ang="0">
                <a:pos x="204" y="200"/>
              </a:cxn>
              <a:cxn ang="0">
                <a:pos x="204" y="188"/>
              </a:cxn>
              <a:cxn ang="0">
                <a:pos x="216" y="176"/>
              </a:cxn>
              <a:cxn ang="0">
                <a:pos x="228" y="188"/>
              </a:cxn>
              <a:cxn ang="0">
                <a:pos x="228" y="200"/>
              </a:cxn>
              <a:cxn ang="0">
                <a:pos x="240" y="200"/>
              </a:cxn>
              <a:cxn ang="0">
                <a:pos x="252" y="212"/>
              </a:cxn>
              <a:cxn ang="0">
                <a:pos x="240" y="224"/>
              </a:cxn>
              <a:cxn ang="0">
                <a:pos x="192" y="188"/>
              </a:cxn>
              <a:cxn ang="0">
                <a:pos x="168" y="212"/>
              </a:cxn>
              <a:cxn ang="0">
                <a:pos x="192" y="236"/>
              </a:cxn>
              <a:cxn ang="0">
                <a:pos x="195" y="248"/>
              </a:cxn>
              <a:cxn ang="0">
                <a:pos x="12" y="248"/>
              </a:cxn>
              <a:cxn ang="0">
                <a:pos x="0" y="236"/>
              </a:cxn>
              <a:cxn ang="0">
                <a:pos x="0" y="236"/>
              </a:cxn>
              <a:cxn ang="0">
                <a:pos x="0" y="236"/>
              </a:cxn>
              <a:cxn ang="0">
                <a:pos x="32" y="176"/>
              </a:cxn>
              <a:cxn ang="0">
                <a:pos x="69" y="164"/>
              </a:cxn>
              <a:cxn ang="0">
                <a:pos x="100" y="150"/>
              </a:cxn>
              <a:cxn ang="0">
                <a:pos x="100" y="127"/>
              </a:cxn>
              <a:cxn ang="0">
                <a:pos x="88" y="97"/>
              </a:cxn>
              <a:cxn ang="0">
                <a:pos x="80" y="85"/>
              </a:cxn>
              <a:cxn ang="0">
                <a:pos x="84" y="65"/>
              </a:cxn>
              <a:cxn ang="0">
                <a:pos x="82" y="39"/>
              </a:cxn>
              <a:cxn ang="0">
                <a:pos x="128" y="0"/>
              </a:cxn>
              <a:cxn ang="0">
                <a:pos x="175" y="39"/>
              </a:cxn>
              <a:cxn ang="0">
                <a:pos x="172" y="65"/>
              </a:cxn>
              <a:cxn ang="0">
                <a:pos x="176" y="85"/>
              </a:cxn>
              <a:cxn ang="0">
                <a:pos x="168" y="97"/>
              </a:cxn>
              <a:cxn ang="0">
                <a:pos x="156" y="126"/>
              </a:cxn>
              <a:cxn ang="0">
                <a:pos x="156" y="150"/>
              </a:cxn>
              <a:cxn ang="0">
                <a:pos x="187" y="164"/>
              </a:cxn>
              <a:cxn ang="0">
                <a:pos x="202" y="169"/>
              </a:cxn>
              <a:cxn ang="0">
                <a:pos x="192" y="188"/>
              </a:cxn>
            </a:cxnLst>
            <a:rect l="0" t="0" r="r" b="b"/>
            <a:pathLst>
              <a:path w="256" h="248">
                <a:moveTo>
                  <a:pt x="256" y="236"/>
                </a:moveTo>
                <a:cubicBezTo>
                  <a:pt x="256" y="236"/>
                  <a:pt x="256" y="236"/>
                  <a:pt x="256" y="236"/>
                </a:cubicBezTo>
                <a:cubicBezTo>
                  <a:pt x="256" y="243"/>
                  <a:pt x="251" y="248"/>
                  <a:pt x="244" y="248"/>
                </a:cubicBezTo>
                <a:cubicBezTo>
                  <a:pt x="237" y="248"/>
                  <a:pt x="237" y="248"/>
                  <a:pt x="237" y="248"/>
                </a:cubicBezTo>
                <a:cubicBezTo>
                  <a:pt x="239" y="244"/>
                  <a:pt x="240" y="240"/>
                  <a:pt x="240" y="236"/>
                </a:cubicBezTo>
                <a:cubicBezTo>
                  <a:pt x="246" y="236"/>
                  <a:pt x="251" y="234"/>
                  <a:pt x="256" y="230"/>
                </a:cubicBezTo>
                <a:cubicBezTo>
                  <a:pt x="256" y="234"/>
                  <a:pt x="256" y="236"/>
                  <a:pt x="256" y="236"/>
                </a:cubicBezTo>
                <a:close/>
                <a:moveTo>
                  <a:pt x="240" y="224"/>
                </a:moveTo>
                <a:cubicBezTo>
                  <a:pt x="228" y="224"/>
                  <a:pt x="228" y="224"/>
                  <a:pt x="228" y="224"/>
                </a:cubicBezTo>
                <a:cubicBezTo>
                  <a:pt x="228" y="236"/>
                  <a:pt x="228" y="236"/>
                  <a:pt x="228" y="236"/>
                </a:cubicBezTo>
                <a:cubicBezTo>
                  <a:pt x="228" y="243"/>
                  <a:pt x="223" y="248"/>
                  <a:pt x="216" y="248"/>
                </a:cubicBezTo>
                <a:cubicBezTo>
                  <a:pt x="209" y="248"/>
                  <a:pt x="204" y="243"/>
                  <a:pt x="204" y="236"/>
                </a:cubicBezTo>
                <a:cubicBezTo>
                  <a:pt x="204" y="224"/>
                  <a:pt x="204" y="224"/>
                  <a:pt x="204" y="224"/>
                </a:cubicBezTo>
                <a:cubicBezTo>
                  <a:pt x="192" y="224"/>
                  <a:pt x="192" y="224"/>
                  <a:pt x="192" y="224"/>
                </a:cubicBezTo>
                <a:cubicBezTo>
                  <a:pt x="185" y="224"/>
                  <a:pt x="180" y="219"/>
                  <a:pt x="180" y="212"/>
                </a:cubicBezTo>
                <a:cubicBezTo>
                  <a:pt x="180" y="205"/>
                  <a:pt x="185" y="200"/>
                  <a:pt x="192" y="200"/>
                </a:cubicBezTo>
                <a:cubicBezTo>
                  <a:pt x="204" y="200"/>
                  <a:pt x="204" y="200"/>
                  <a:pt x="204" y="200"/>
                </a:cubicBezTo>
                <a:cubicBezTo>
                  <a:pt x="204" y="188"/>
                  <a:pt x="204" y="188"/>
                  <a:pt x="204" y="188"/>
                </a:cubicBezTo>
                <a:cubicBezTo>
                  <a:pt x="204" y="181"/>
                  <a:pt x="209" y="176"/>
                  <a:pt x="216" y="176"/>
                </a:cubicBezTo>
                <a:cubicBezTo>
                  <a:pt x="223" y="176"/>
                  <a:pt x="228" y="181"/>
                  <a:pt x="228" y="188"/>
                </a:cubicBezTo>
                <a:cubicBezTo>
                  <a:pt x="228" y="200"/>
                  <a:pt x="228" y="200"/>
                  <a:pt x="228" y="200"/>
                </a:cubicBezTo>
                <a:cubicBezTo>
                  <a:pt x="240" y="200"/>
                  <a:pt x="240" y="200"/>
                  <a:pt x="240" y="200"/>
                </a:cubicBezTo>
                <a:cubicBezTo>
                  <a:pt x="247" y="200"/>
                  <a:pt x="252" y="205"/>
                  <a:pt x="252" y="212"/>
                </a:cubicBezTo>
                <a:cubicBezTo>
                  <a:pt x="252" y="219"/>
                  <a:pt x="247" y="224"/>
                  <a:pt x="240" y="224"/>
                </a:cubicBezTo>
                <a:moveTo>
                  <a:pt x="192" y="188"/>
                </a:moveTo>
                <a:cubicBezTo>
                  <a:pt x="179" y="188"/>
                  <a:pt x="168" y="199"/>
                  <a:pt x="168" y="212"/>
                </a:cubicBezTo>
                <a:cubicBezTo>
                  <a:pt x="168" y="225"/>
                  <a:pt x="179" y="236"/>
                  <a:pt x="192" y="236"/>
                </a:cubicBezTo>
                <a:cubicBezTo>
                  <a:pt x="192" y="240"/>
                  <a:pt x="193" y="244"/>
                  <a:pt x="195" y="248"/>
                </a:cubicBezTo>
                <a:cubicBezTo>
                  <a:pt x="12" y="248"/>
                  <a:pt x="12" y="248"/>
                  <a:pt x="12" y="248"/>
                </a:cubicBezTo>
                <a:cubicBezTo>
                  <a:pt x="5" y="248"/>
                  <a:pt x="0" y="243"/>
                  <a:pt x="0" y="236"/>
                </a:cubicBezTo>
                <a:cubicBezTo>
                  <a:pt x="0" y="236"/>
                  <a:pt x="0" y="236"/>
                  <a:pt x="0" y="236"/>
                </a:cubicBezTo>
                <a:cubicBezTo>
                  <a:pt x="0" y="236"/>
                  <a:pt x="0" y="236"/>
                  <a:pt x="0" y="236"/>
                </a:cubicBezTo>
                <a:cubicBezTo>
                  <a:pt x="0" y="236"/>
                  <a:pt x="0" y="192"/>
                  <a:pt x="32" y="176"/>
                </a:cubicBezTo>
                <a:cubicBezTo>
                  <a:pt x="52" y="166"/>
                  <a:pt x="44" y="174"/>
                  <a:pt x="69" y="164"/>
                </a:cubicBezTo>
                <a:cubicBezTo>
                  <a:pt x="94" y="154"/>
                  <a:pt x="100" y="150"/>
                  <a:pt x="100" y="150"/>
                </a:cubicBezTo>
                <a:cubicBezTo>
                  <a:pt x="100" y="127"/>
                  <a:pt x="100" y="127"/>
                  <a:pt x="100" y="127"/>
                </a:cubicBezTo>
                <a:cubicBezTo>
                  <a:pt x="100" y="127"/>
                  <a:pt x="91" y="119"/>
                  <a:pt x="88" y="97"/>
                </a:cubicBezTo>
                <a:cubicBezTo>
                  <a:pt x="82" y="99"/>
                  <a:pt x="80" y="90"/>
                  <a:pt x="80" y="85"/>
                </a:cubicBezTo>
                <a:cubicBezTo>
                  <a:pt x="80" y="80"/>
                  <a:pt x="77" y="63"/>
                  <a:pt x="84" y="65"/>
                </a:cubicBezTo>
                <a:cubicBezTo>
                  <a:pt x="82" y="54"/>
                  <a:pt x="81" y="44"/>
                  <a:pt x="82" y="39"/>
                </a:cubicBezTo>
                <a:cubicBezTo>
                  <a:pt x="83" y="21"/>
                  <a:pt x="101" y="1"/>
                  <a:pt x="128" y="0"/>
                </a:cubicBezTo>
                <a:cubicBezTo>
                  <a:pt x="160" y="1"/>
                  <a:pt x="173" y="21"/>
                  <a:pt x="175" y="39"/>
                </a:cubicBezTo>
                <a:cubicBezTo>
                  <a:pt x="175" y="44"/>
                  <a:pt x="174" y="54"/>
                  <a:pt x="172" y="65"/>
                </a:cubicBezTo>
                <a:cubicBezTo>
                  <a:pt x="180" y="63"/>
                  <a:pt x="177" y="80"/>
                  <a:pt x="176" y="85"/>
                </a:cubicBezTo>
                <a:cubicBezTo>
                  <a:pt x="176" y="90"/>
                  <a:pt x="174" y="99"/>
                  <a:pt x="168" y="97"/>
                </a:cubicBezTo>
                <a:cubicBezTo>
                  <a:pt x="165" y="119"/>
                  <a:pt x="156" y="126"/>
                  <a:pt x="156" y="126"/>
                </a:cubicBezTo>
                <a:cubicBezTo>
                  <a:pt x="156" y="150"/>
                  <a:pt x="156" y="150"/>
                  <a:pt x="156" y="150"/>
                </a:cubicBezTo>
                <a:cubicBezTo>
                  <a:pt x="156" y="150"/>
                  <a:pt x="162" y="153"/>
                  <a:pt x="187" y="164"/>
                </a:cubicBezTo>
                <a:cubicBezTo>
                  <a:pt x="194" y="167"/>
                  <a:pt x="198" y="168"/>
                  <a:pt x="202" y="169"/>
                </a:cubicBezTo>
                <a:cubicBezTo>
                  <a:pt x="196" y="173"/>
                  <a:pt x="192" y="180"/>
                  <a:pt x="192" y="188"/>
                </a:cubicBezTo>
              </a:path>
            </a:pathLst>
          </a:custGeom>
          <a:solidFill>
            <a:schemeClr val="bg1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>
              <a:solidFill>
                <a:schemeClr val="bg1">
                  <a:alpha val="100000"/>
                </a:schemeClr>
              </a:solidFill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grpSp>
        <p:nvGrpSpPr>
          <p:cNvPr id="82" name="组合 81" descr="{&quot;isTemplate&quot;:true,&quot;type&quot;:&quot;list&quot;,&quot;alignment&quot;:&quot;left&quot;,&quot;alignmentVertical&quot;:&quot;top&quot;,&quot;canOmit&quot;:false,&quot;scalable&quot;:false,&quot;minItemsCount&quot;:-1}"/>
          <p:cNvGrpSpPr/>
          <p:nvPr>
            <p:custDataLst>
              <p:tags r:id="rId7"/>
            </p:custDataLst>
          </p:nvPr>
        </p:nvGrpSpPr>
        <p:grpSpPr>
          <a:xfrm rot="0">
            <a:off x="1074594" y="2490857"/>
            <a:ext cx="8916412" cy="2929516"/>
            <a:chOff x="1072977" y="2441650"/>
            <a:chExt cx="8916412" cy="2929516"/>
          </a:xfrm>
        </p:grpSpPr>
        <p:grpSp>
          <p:nvGrpSpPr>
            <p:cNvPr id="83" name="组合 82"/>
            <p:cNvGrpSpPr/>
            <p:nvPr/>
          </p:nvGrpSpPr>
          <p:grpSpPr>
            <a:xfrm rot="0">
              <a:off x="1072977" y="2441650"/>
              <a:ext cx="8916412" cy="914400"/>
              <a:chOff x="1073150" y="2676306"/>
              <a:chExt cx="8916412" cy="914400"/>
            </a:xfrm>
          </p:grpSpPr>
          <p:sp>
            <p:nvSpPr>
              <p:cNvPr id="84" name="图形" descr="{&quot;isTemplate&quot;:true,&quot;type&quot;:&quot;content&quot;,&quot;canOmit&quot;:false,&quot;range&quot;:0}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1073150" y="2676306"/>
                <a:ext cx="4679950" cy="914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Ins="0" rtlCol="0" anchor="ctr">
                <a:noAutofit/>
              </a:bodyPr>
              <a:lstStyle/>
              <a:p>
                <a:pPr marL="0" indent="0" algn="l">
                  <a:lnSpc>
                    <a:spcPct val="130000"/>
                  </a:lnSpc>
                  <a:buNone/>
                </a:pPr>
                <a:r>
                  <a:rPr lang="zh-CN" sz="1400">
                    <a:solidFill>
                      <a:schemeClr val="tx1"/>
                    </a:solidFill>
                    <a:latin typeface="默认字体"/>
                    <a:ea typeface="默认字体"/>
                    <a:cs typeface="思源黑体 CN Light"/>
                    <a:sym typeface="思源宋体 CN"/>
                  </a:rPr>
                  <a:t>东汉桓帝时期，宦官势力崛起，朝政腐败，导致国家治理失效，民怨沸腾，为后来的黄巾起义埋下了隐患。</a:t>
                </a:r>
                <a:endParaRPr lang="zh-CN" sz="1400">
                  <a:solidFill>
                    <a:schemeClr val="tx1"/>
                  </a:solidFill>
                  <a:latin typeface="默认字体"/>
                  <a:ea typeface="默认字体"/>
                  <a:cs typeface="思源黑体 CN Light"/>
                  <a:sym typeface="思源宋体 CN"/>
                </a:endParaRPr>
              </a:p>
            </p:txBody>
          </p:sp>
          <p:sp>
            <p:nvSpPr>
              <p:cNvPr id="85" name="图形" descr="{&quot;isTemplate&quot;:true,&quot;type&quot;:&quot;title&quot;,&quot;canOmit&quot;:false,&quot;range&quot;:0}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7180281" y="2936929"/>
                <a:ext cx="2809281" cy="3873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Ins="0" rtlCol="0" anchor="ctr">
                <a:noAutofit/>
              </a:bodyPr>
              <a:lstStyle/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zh-CN" sz="1800" b="1">
                    <a:solidFill>
                      <a:schemeClr val="bg1"/>
                    </a:solidFill>
                    <a:latin typeface="默认字体"/>
                    <a:ea typeface="默认字体"/>
                    <a:cs typeface="思源黑体 CN Light"/>
                    <a:sym typeface="思源宋体 CN"/>
                  </a:rPr>
                  <a:t>桓帝时期的统治危机</a:t>
                </a:r>
                <a:endParaRPr lang="zh-CN" sz="1600" b="1">
                  <a:solidFill>
                    <a:schemeClr val="bg1">
                      <a:alpha val="100000"/>
                    </a:schemeClr>
                  </a:solidFill>
                  <a:latin typeface="默认字体"/>
                  <a:ea typeface="默认字体"/>
                  <a:cs typeface="思源黑体 CN Light"/>
                  <a:sym typeface="思源宋体 CN"/>
                </a:endParaRPr>
              </a:p>
            </p:txBody>
          </p:sp>
        </p:grpSp>
        <p:grpSp>
          <p:nvGrpSpPr>
            <p:cNvPr id="86" name="组合 85"/>
            <p:cNvGrpSpPr/>
            <p:nvPr/>
          </p:nvGrpSpPr>
          <p:grpSpPr>
            <a:xfrm rot="0">
              <a:off x="1072977" y="3449613"/>
              <a:ext cx="8916412" cy="914400"/>
              <a:chOff x="1073150" y="3684269"/>
              <a:chExt cx="8916412" cy="914400"/>
            </a:xfrm>
          </p:grpSpPr>
          <p:sp>
            <p:nvSpPr>
              <p:cNvPr id="87" name="图形" descr="{&quot;isTemplate&quot;:true,&quot;type&quot;:&quot;content&quot;,&quot;canOmit&quot;:false,&quot;range&quot;:0}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1073150" y="3684269"/>
                <a:ext cx="4679950" cy="914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Ins="0" rtlCol="0" anchor="ctr">
                <a:noAutofit/>
              </a:bodyPr>
              <a:lstStyle/>
              <a:p>
                <a:pPr marL="0" indent="0" algn="l">
                  <a:lnSpc>
                    <a:spcPct val="130000"/>
                  </a:lnSpc>
                  <a:buNone/>
                </a:pPr>
                <a:r>
                  <a:rPr lang="zh-CN" sz="1400">
                    <a:solidFill>
                      <a:schemeClr val="tx1"/>
                    </a:solidFill>
                    <a:latin typeface="默认字体"/>
                    <a:ea typeface="默认字体"/>
                    <a:cs typeface="思源黑体 CN Light"/>
                    <a:sym typeface="思源宋体 CN"/>
                  </a:rPr>
                  <a:t>汉灵帝继位后，宦官专权进一步加剧，卖官鬻爵现象严重，社会矛盾激化，民众生活困苦，各地起义不断。</a:t>
                </a:r>
                <a:endParaRPr lang="zh-CN" sz="1400">
                  <a:solidFill>
                    <a:schemeClr val="tx1"/>
                  </a:solidFill>
                  <a:latin typeface="默认字体"/>
                  <a:ea typeface="默认字体"/>
                  <a:cs typeface="思源黑体 CN Light"/>
                  <a:sym typeface="思源宋体 CN"/>
                </a:endParaRPr>
              </a:p>
            </p:txBody>
          </p:sp>
          <p:sp>
            <p:nvSpPr>
              <p:cNvPr id="88" name="图形" descr="{&quot;isTemplate&quot;:true,&quot;type&quot;:&quot;title&quot;,&quot;canOmit&quot;:false,&quot;range&quot;:0}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7180281" y="3945701"/>
                <a:ext cx="2809281" cy="3873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Ins="0" rtlCol="0" anchor="ctr">
                <a:noAutofit/>
              </a:bodyPr>
              <a:lstStyle/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zh-CN" sz="1800" b="1">
                    <a:solidFill>
                      <a:schemeClr val="bg1"/>
                    </a:solidFill>
                    <a:latin typeface="默认字体"/>
                    <a:ea typeface="默认字体"/>
                    <a:cs typeface="思源黑体 CN Light"/>
                    <a:sym typeface="思源宋体 CN"/>
                  </a:rPr>
                  <a:t>灵帝时期的社会动荡</a:t>
                </a:r>
                <a:endParaRPr lang="zh-CN" sz="1600" b="1">
                  <a:solidFill>
                    <a:schemeClr val="bg1">
                      <a:alpha val="100000"/>
                    </a:schemeClr>
                  </a:solidFill>
                  <a:latin typeface="默认字体"/>
                  <a:ea typeface="默认字体"/>
                  <a:cs typeface="思源黑体 CN Light"/>
                  <a:sym typeface="思源宋体 CN"/>
                </a:endParaRPr>
              </a:p>
            </p:txBody>
          </p:sp>
        </p:grpSp>
        <p:grpSp>
          <p:nvGrpSpPr>
            <p:cNvPr id="89" name="组合 88"/>
            <p:cNvGrpSpPr/>
            <p:nvPr/>
          </p:nvGrpSpPr>
          <p:grpSpPr>
            <a:xfrm rot="0">
              <a:off x="1072977" y="4456766"/>
              <a:ext cx="8614952" cy="914400"/>
              <a:chOff x="1073150" y="4691422"/>
              <a:chExt cx="8614952" cy="914400"/>
            </a:xfrm>
          </p:grpSpPr>
          <p:sp>
            <p:nvSpPr>
              <p:cNvPr id="90" name="图形" descr="{&quot;isTemplate&quot;:true,&quot;type&quot;:&quot;content&quot;,&quot;canOmit&quot;:false,&quot;range&quot;:0}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1073150" y="4691422"/>
                <a:ext cx="4679950" cy="914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Ins="0" rtlCol="0" anchor="ctr">
                <a:noAutofit/>
              </a:bodyPr>
              <a:lstStyle/>
              <a:p>
                <a:pPr marL="0" indent="0" algn="l">
                  <a:lnSpc>
                    <a:spcPct val="130000"/>
                  </a:lnSpc>
                  <a:buNone/>
                </a:pPr>
                <a:r>
                  <a:rPr lang="zh-CN" sz="1400">
                    <a:solidFill>
                      <a:schemeClr val="tx1"/>
                    </a:solidFill>
                    <a:latin typeface="默认字体"/>
                    <a:ea typeface="默认字体"/>
                    <a:cs typeface="思源黑体 CN Light"/>
                    <a:sym typeface="思源宋体 CN"/>
                  </a:rPr>
                  <a:t>东汉末年，外戚与宦官争权激烈，梁冀、何进等外戚势力相继倒台，宦官集团短期内得势，但未能挽回王朝衰败的趋势。</a:t>
                </a:r>
                <a:endParaRPr lang="zh-CN" sz="1400">
                  <a:solidFill>
                    <a:schemeClr val="tx1"/>
                  </a:solidFill>
                  <a:latin typeface="默认字体"/>
                  <a:ea typeface="默认字体"/>
                  <a:cs typeface="思源黑体 CN Light"/>
                  <a:sym typeface="思源宋体 CN"/>
                </a:endParaRPr>
              </a:p>
            </p:txBody>
          </p:sp>
          <p:sp>
            <p:nvSpPr>
              <p:cNvPr id="91" name="图形" descr="{&quot;isTemplate&quot;:true,&quot;type&quot;:&quot;title&quot;,&quot;canOmit&quot;:false,&quot;range&quot;:0}"/>
              <p:cNvSpPr txBox="1"/>
              <p:nvPr>
                <p:custDataLst>
                  <p:tags r:id="rId13"/>
                </p:custDataLst>
              </p:nvPr>
            </p:nvSpPr>
            <p:spPr>
              <a:xfrm>
                <a:off x="6878821" y="5034785"/>
                <a:ext cx="2809281" cy="3873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Ins="0" rtlCol="0" anchor="ctr">
                <a:noAutofit/>
              </a:bodyPr>
              <a:lstStyle/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zh-CN" sz="1800" b="1">
                    <a:solidFill>
                      <a:schemeClr val="tx1">
                        <a:alpha val="100000"/>
                      </a:schemeClr>
                    </a:solidFill>
                    <a:latin typeface="默认字体"/>
                    <a:ea typeface="默认字体"/>
                    <a:cs typeface="思源黑体 CN Light"/>
                    <a:sym typeface="思源宋体 CN"/>
                  </a:rPr>
                  <a:t>外戚与宦官的斗争</a:t>
                </a:r>
                <a:endParaRPr lang="zh-CN" sz="1600" b="1">
                  <a:solidFill>
                    <a:schemeClr val="bg1">
                      <a:alpha val="100000"/>
                    </a:schemeClr>
                  </a:solidFill>
                  <a:latin typeface="默认字体"/>
                  <a:ea typeface="默认字体"/>
                  <a:cs typeface="思源黑体 CN Light"/>
                  <a:sym typeface="思源宋体 CN"/>
                </a:endParaRPr>
              </a:p>
            </p:txBody>
          </p:sp>
        </p:grpSp>
      </p:grpSp>
      <p:sp>
        <p:nvSpPr>
          <p:cNvPr id="92" name="图形"/>
          <p:cNvSpPr/>
          <p:nvPr/>
        </p:nvSpPr>
        <p:spPr bwMode="auto">
          <a:xfrm flipH="1">
            <a:off x="10807987" y="2392442"/>
            <a:ext cx="1383204" cy="1008771"/>
          </a:xfrm>
          <a:custGeom>
            <a:avLst/>
            <a:gdLst>
              <a:gd name="T0" fmla="*/ 0 w 374"/>
              <a:gd name="T1" fmla="*/ 372 h 372"/>
              <a:gd name="T2" fmla="*/ 374 w 374"/>
              <a:gd name="T3" fmla="*/ 372 h 372"/>
              <a:gd name="T4" fmla="*/ 374 w 374"/>
              <a:gd name="T5" fmla="*/ 0 h 372"/>
              <a:gd name="T6" fmla="*/ 0 w 374"/>
              <a:gd name="T7" fmla="*/ 280 h 372"/>
              <a:gd name="T8" fmla="*/ 0 w 374"/>
              <a:gd name="T9" fmla="*/ 372 h 3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4" h="372">
                <a:moveTo>
                  <a:pt x="0" y="372"/>
                </a:moveTo>
                <a:lnTo>
                  <a:pt x="374" y="372"/>
                </a:lnTo>
                <a:lnTo>
                  <a:pt x="374" y="0"/>
                </a:lnTo>
                <a:lnTo>
                  <a:pt x="0" y="280"/>
                </a:lnTo>
                <a:lnTo>
                  <a:pt x="0" y="372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>
            <a:defPPr>
              <a:defRPr lang="en-US"/>
            </a:defPPr>
            <a:lvl1pPr marL="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93" name="图形"/>
          <p:cNvSpPr/>
          <p:nvPr/>
        </p:nvSpPr>
        <p:spPr bwMode="auto">
          <a:xfrm flipH="1">
            <a:off x="10807987" y="3406755"/>
            <a:ext cx="1383204" cy="1010389"/>
          </a:xfrm>
          <a:custGeom>
            <a:avLst/>
            <a:gdLst>
              <a:gd name="T0" fmla="*/ 0 w 377"/>
              <a:gd name="T1" fmla="*/ 95 h 372"/>
              <a:gd name="T2" fmla="*/ 377 w 377"/>
              <a:gd name="T3" fmla="*/ 372 h 372"/>
              <a:gd name="T4" fmla="*/ 377 w 377"/>
              <a:gd name="T5" fmla="*/ 0 h 372"/>
              <a:gd name="T6" fmla="*/ 0 w 377"/>
              <a:gd name="T7" fmla="*/ 0 h 372"/>
              <a:gd name="T8" fmla="*/ 0 w 377"/>
              <a:gd name="T9" fmla="*/ 95 h 3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7" h="372">
                <a:moveTo>
                  <a:pt x="0" y="95"/>
                </a:moveTo>
                <a:lnTo>
                  <a:pt x="377" y="372"/>
                </a:lnTo>
                <a:lnTo>
                  <a:pt x="377" y="0"/>
                </a:lnTo>
                <a:lnTo>
                  <a:pt x="0" y="0"/>
                </a:lnTo>
                <a:lnTo>
                  <a:pt x="0" y="95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>
            <a:defPPr>
              <a:defRPr lang="en-US"/>
            </a:defPPr>
            <a:lvl1pPr marL="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94" name="图形"/>
          <p:cNvSpPr/>
          <p:nvPr/>
        </p:nvSpPr>
        <p:spPr bwMode="auto">
          <a:xfrm flipH="1">
            <a:off x="10815267" y="3649564"/>
            <a:ext cx="1375924" cy="1770810"/>
          </a:xfrm>
          <a:custGeom>
            <a:avLst/>
            <a:gdLst>
              <a:gd name="T0" fmla="*/ 0 w 374"/>
              <a:gd name="T1" fmla="*/ 92 h 646"/>
              <a:gd name="T2" fmla="*/ 374 w 374"/>
              <a:gd name="T3" fmla="*/ 646 h 646"/>
              <a:gd name="T4" fmla="*/ 374 w 374"/>
              <a:gd name="T5" fmla="*/ 277 h 646"/>
              <a:gd name="T6" fmla="*/ 0 w 374"/>
              <a:gd name="T7" fmla="*/ 0 h 646"/>
              <a:gd name="T8" fmla="*/ 0 w 374"/>
              <a:gd name="T9" fmla="*/ 92 h 6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4" h="646">
                <a:moveTo>
                  <a:pt x="0" y="92"/>
                </a:moveTo>
                <a:lnTo>
                  <a:pt x="374" y="646"/>
                </a:lnTo>
                <a:lnTo>
                  <a:pt x="374" y="277"/>
                </a:lnTo>
                <a:lnTo>
                  <a:pt x="0" y="0"/>
                </a:lnTo>
                <a:lnTo>
                  <a:pt x="0" y="92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>
            <a:defPPr>
              <a:defRPr lang="en-US"/>
            </a:defPPr>
            <a:lvl1pPr marL="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95" name="图形"/>
          <p:cNvSpPr>
            <a:spLocks noChangeArrowheads="1"/>
          </p:cNvSpPr>
          <p:nvPr/>
        </p:nvSpPr>
        <p:spPr bwMode="auto">
          <a:xfrm>
            <a:off x="651337" y="2770981"/>
            <a:ext cx="250825" cy="257175"/>
          </a:xfrm>
          <a:prstGeom prst="ellipse">
            <a:avLst/>
          </a:prstGeom>
          <a:solidFill>
            <a:schemeClr val="accent1">
              <a:alpha val="10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96" name="图形"/>
          <p:cNvSpPr>
            <a:spLocks noChangeArrowheads="1"/>
          </p:cNvSpPr>
          <p:nvPr/>
        </p:nvSpPr>
        <p:spPr bwMode="auto">
          <a:xfrm>
            <a:off x="651337" y="3777456"/>
            <a:ext cx="250825" cy="257175"/>
          </a:xfrm>
          <a:prstGeom prst="ellipse">
            <a:avLst/>
          </a:prstGeom>
          <a:solidFill>
            <a:schemeClr val="accent1">
              <a:alpha val="10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97" name="图形"/>
          <p:cNvSpPr>
            <a:spLocks noChangeArrowheads="1"/>
          </p:cNvSpPr>
          <p:nvPr/>
        </p:nvSpPr>
        <p:spPr bwMode="auto">
          <a:xfrm>
            <a:off x="651337" y="4785836"/>
            <a:ext cx="250825" cy="257175"/>
          </a:xfrm>
          <a:prstGeom prst="ellipse">
            <a:avLst/>
          </a:prstGeom>
          <a:solidFill>
            <a:schemeClr val="accent1">
              <a:alpha val="10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98" name="文本框 97" descr="{&quot;isTemplate&quot;:true,&quot;type&quot;:&quot;title&quot;,&quot;canOmit&quot;:false,&quot;range&quot;:0}"/>
          <p:cNvSpPr txBox="1"/>
          <p:nvPr/>
        </p:nvSpPr>
        <p:spPr>
          <a:xfrm>
            <a:off x="660396" y="418039"/>
            <a:ext cx="10668000" cy="520700"/>
          </a:xfrm>
          <a:prstGeom prst="rect">
            <a:avLst/>
          </a:prstGeom>
          <a:noFill/>
        </p:spPr>
        <p:txBody>
          <a:bodyPr wrap="square" lIns="90000" tIns="46800" rIns="90000" bIns="46800" rtlCol="0" anchor="b" anchorCtr="0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sz="2800" b="1">
                <a:latin typeface="默认字体"/>
                <a:ea typeface="默认字体"/>
                <a:cs typeface="+mn-cs"/>
              </a:rPr>
              <a:t>东汉末年的政治格局</a:t>
            </a:r>
            <a:endParaRPr lang="en-US" sz="2800" b="1">
              <a:latin typeface="默认字体"/>
              <a:ea typeface="默认字体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0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2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2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  <p:cond evt="onPrev" delay="0"/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9" name="" descr="{&quot;isTemplate&quot;:true,&quot;type&quot;:3,&quot;originSlideId&quot;:&quot;c8b00f9c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组合 99" descr="{&quot;isTemplate&quot;:true,&quot;type&quot;:&quot;list&quot;,&quot;alignment&quot;:&quot;left&quot;,&quot;alignmentVertical&quot;:&quot;top&quot;,&quot;canOmit&quot;:false,&quot;scalable&quot;:false,&quot;minItemsCount&quot;:-1}"/>
          <p:cNvGrpSpPr/>
          <p:nvPr/>
        </p:nvGrpSpPr>
        <p:grpSpPr>
          <a:xfrm>
            <a:off x="1046808" y="1597261"/>
            <a:ext cx="10098385" cy="4641539"/>
            <a:chOff x="1046808" y="1597261"/>
            <a:chExt cx="10098385" cy="4641539"/>
          </a:xfrm>
        </p:grpSpPr>
        <p:grpSp>
          <p:nvGrpSpPr>
            <p:cNvPr id="101" name="组合 100"/>
            <p:cNvGrpSpPr/>
            <p:nvPr/>
          </p:nvGrpSpPr>
          <p:grpSpPr>
            <a:xfrm rot="0">
              <a:off x="1046808" y="1597261"/>
              <a:ext cx="6479984" cy="1446339"/>
              <a:chOff x="1043146" y="1769978"/>
              <a:chExt cx="6479984" cy="1446339"/>
            </a:xfrm>
          </p:grpSpPr>
          <p:sp>
            <p:nvSpPr>
              <p:cNvPr id="102" name="任意多边形: 形状 63"/>
              <p:cNvSpPr/>
              <p:nvPr/>
            </p:nvSpPr>
            <p:spPr>
              <a:xfrm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0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 panose="02010600030101010101" charset="-122"/>
                  <a:sym typeface="思源黑体 CN Normal"/>
                </a:endParaRPr>
              </a:p>
            </p:txBody>
          </p:sp>
          <p:sp>
            <p:nvSpPr>
              <p:cNvPr id="103" name="任意多边形: 形状 64"/>
              <p:cNvSpPr/>
              <p:nvPr/>
            </p:nvSpPr>
            <p:spPr>
              <a:xfrm rot="180000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04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105" name="组合 104"/>
              <p:cNvGrpSpPr/>
              <p:nvPr/>
            </p:nvGrpSpPr>
            <p:grpSpPr>
              <a:xfrm rot="0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106" name="文本框 23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 panose="02010600030101010101" charset="-122"/>
                      <a:sym typeface="思源黑体 CN Normal"/>
                    </a:rPr>
                    <a:t>起义背景与爆发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107" name="文本框 24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东汉末年的政治腐败和社会动荡，使得张角领导的太平道得以迅速发展，最终在公元184年爆发了黄巾起义，沉重打击了东汉政权。</a:t>
                  </a:r>
                  <a:endParaRPr lang="zh-CN" sz="1200">
                    <a:latin typeface="默认字体"/>
                    <a:ea typeface="默认字体"/>
                    <a:cs typeface="+mn-cs"/>
                    <a:sym typeface="思源黑体 CN Normal"/>
                  </a:endParaRPr>
                </a:p>
              </p:txBody>
            </p:sp>
          </p:grpSp>
        </p:grpSp>
        <p:grpSp>
          <p:nvGrpSpPr>
            <p:cNvPr id="108" name="组合 107"/>
            <p:cNvGrpSpPr/>
            <p:nvPr/>
          </p:nvGrpSpPr>
          <p:grpSpPr>
            <a:xfrm rot="0">
              <a:off x="2922949" y="3194861"/>
              <a:ext cx="6479984" cy="1446339"/>
              <a:chOff x="1043146" y="1769978"/>
              <a:chExt cx="6479984" cy="1446339"/>
            </a:xfrm>
          </p:grpSpPr>
          <p:sp>
            <p:nvSpPr>
              <p:cNvPr id="109" name="任意多边形: 形状 63"/>
              <p:cNvSpPr/>
              <p:nvPr/>
            </p:nvSpPr>
            <p:spPr>
              <a:xfrm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0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 panose="02010600030101010101" charset="-122"/>
                  <a:sym typeface="思源黑体 CN Normal"/>
                </a:endParaRPr>
              </a:p>
            </p:txBody>
          </p:sp>
          <p:sp>
            <p:nvSpPr>
              <p:cNvPr id="110" name="任意多边形: 形状 64"/>
              <p:cNvSpPr/>
              <p:nvPr/>
            </p:nvSpPr>
            <p:spPr>
              <a:xfrm rot="180000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11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112" name="组合 111"/>
              <p:cNvGrpSpPr/>
              <p:nvPr/>
            </p:nvGrpSpPr>
            <p:grpSpPr>
              <a:xfrm rot="0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113" name="文本框 23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 panose="02010600030101010101" charset="-122"/>
                      <a:sym typeface="思源黑体 CN Normal"/>
                    </a:rPr>
                    <a:t>起义的扩散与影响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114" name="文本框 24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黄巾起义迅速蔓延至全国，各地响应者众，虽然最终被镇压，但导致地方豪强势力崛起，形成了群雄割据的局面，东汉名存实亡。</a:t>
                  </a:r>
                  <a:endParaRPr lang="zh-CN" sz="1200">
                    <a:latin typeface="默认字体"/>
                    <a:ea typeface="默认字体"/>
                    <a:cs typeface="+mn-cs"/>
                    <a:sym typeface="思源黑体 CN Normal"/>
                  </a:endParaRPr>
                </a:p>
              </p:txBody>
            </p:sp>
          </p:grpSp>
        </p:grpSp>
        <p:grpSp>
          <p:nvGrpSpPr>
            <p:cNvPr id="115" name="组合 114"/>
            <p:cNvGrpSpPr/>
            <p:nvPr/>
          </p:nvGrpSpPr>
          <p:grpSpPr>
            <a:xfrm rot="0">
              <a:off x="4665209" y="4792461"/>
              <a:ext cx="6479984" cy="1446339"/>
              <a:chOff x="1043146" y="1769978"/>
              <a:chExt cx="6479984" cy="1446339"/>
            </a:xfrm>
          </p:grpSpPr>
          <p:sp>
            <p:nvSpPr>
              <p:cNvPr id="116" name="任意多边形: 形状 63"/>
              <p:cNvSpPr/>
              <p:nvPr/>
            </p:nvSpPr>
            <p:spPr>
              <a:xfrm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0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 panose="02010600030101010101" charset="-122"/>
                  <a:sym typeface="思源黑体 CN Normal"/>
                </a:endParaRPr>
              </a:p>
            </p:txBody>
          </p:sp>
          <p:sp>
            <p:nvSpPr>
              <p:cNvPr id="117" name="任意多边形: 形状 64"/>
              <p:cNvSpPr/>
              <p:nvPr/>
            </p:nvSpPr>
            <p:spPr>
              <a:xfrm rot="180000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18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119" name="组合 118"/>
              <p:cNvGrpSpPr/>
              <p:nvPr/>
            </p:nvGrpSpPr>
            <p:grpSpPr>
              <a:xfrm rot="0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120" name="文本框 23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 panose="02010600030101010101" charset="-122"/>
                      <a:sym typeface="思源黑体 CN Normal"/>
                    </a:rPr>
                    <a:t>群雄割据的形成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121" name="文本框 24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黄巾起义后，各地军阀如袁绍、曹操、孙坚等势力崛起，通过兼并战争争夺地盘，逐步形成了魏、蜀、吴三国鼎立的雏形。</a:t>
                  </a:r>
                  <a:endParaRPr lang="zh-CN" sz="1200">
                    <a:latin typeface="默认字体"/>
                    <a:ea typeface="默认字体"/>
                    <a:cs typeface="+mn-cs"/>
                    <a:sym typeface="思源黑体 CN Normal"/>
                  </a:endParaRPr>
                </a:p>
              </p:txBody>
            </p:sp>
          </p:grpSp>
        </p:grpSp>
      </p:grpSp>
      <p:sp>
        <p:nvSpPr>
          <p:cNvPr id="122" name="文本框 121" descr="{&quot;isTemplate&quot;:true,&quot;type&quot;:&quot;title&quot;,&quot;canOmit&quot;:false,&quot;range&quot;:0}"/>
          <p:cNvSpPr txBox="1"/>
          <p:nvPr/>
        </p:nvSpPr>
        <p:spPr>
          <a:xfrm>
            <a:off x="660396" y="418039"/>
            <a:ext cx="10668000" cy="520700"/>
          </a:xfrm>
          <a:prstGeom prst="rect">
            <a:avLst/>
          </a:prstGeom>
          <a:noFill/>
        </p:spPr>
        <p:txBody>
          <a:bodyPr wrap="square" lIns="90000" tIns="46800" rIns="90000" bIns="46800" rtlCol="0" anchor="b" anchorCtr="0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sz="2800" b="1">
                <a:latin typeface="默认字体"/>
                <a:ea typeface="默认字体"/>
                <a:cs typeface="+mn-cs"/>
              </a:rPr>
              <a:t>黄巾起义与群雄割据</a:t>
            </a:r>
            <a:endParaRPr lang="en-US" sz="2800" b="1">
              <a:latin typeface="默认字体"/>
              <a:ea typeface="默认字体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3" name="" descr="{&quot;isTemplate&quot;:true,&quot;type&quot;:3,&quot;originSlideId&quot;:&quot;7a025239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组合 123" descr="{&quot;isTemplate&quot;:true,&quot;type&quot;:&quot;list&quot;,&quot;alignment&quot;:&quot;left&quot;,&quot;alignmentVertical&quot;:&quot;top&quot;,&quot;canOmit&quot;:false,&quot;scalable&quot;:false,&quot;minItemsCount&quot;:-1}"/>
          <p:cNvGrpSpPr/>
          <p:nvPr/>
        </p:nvGrpSpPr>
        <p:grpSpPr>
          <a:xfrm>
            <a:off x="904109" y="2973869"/>
            <a:ext cx="10383782" cy="2231021"/>
            <a:chOff x="904109" y="2973869"/>
            <a:chExt cx="10383782" cy="2231021"/>
          </a:xfrm>
        </p:grpSpPr>
        <p:grpSp>
          <p:nvGrpSpPr>
            <p:cNvPr id="125" name="组合 124"/>
            <p:cNvGrpSpPr/>
            <p:nvPr/>
          </p:nvGrpSpPr>
          <p:grpSpPr>
            <a:xfrm rot="0">
              <a:off x="904109" y="2973869"/>
              <a:ext cx="3292241" cy="2231021"/>
              <a:chOff x="778414" y="4245736"/>
              <a:chExt cx="3292241" cy="2231021"/>
            </a:xfrm>
          </p:grpSpPr>
          <p:sp>
            <p:nvSpPr>
              <p:cNvPr id="126" name="矩形: 圆角 84"/>
              <p:cNvSpPr/>
              <p:nvPr/>
            </p:nvSpPr>
            <p:spPr>
              <a:xfrm rot="283349">
                <a:off x="1167591" y="5382757"/>
                <a:ext cx="2862889" cy="1094000"/>
              </a:xfrm>
              <a:prstGeom prst="roundRect">
                <a:avLst>
                  <a:gd name="adj" fmla="val 6866"/>
                </a:avLst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>
                <a:outerShdw blurRad="203200" dist="127000" dir="5400000" sx="87000" sy="87000" algn="t" rotWithShape="0">
                  <a:schemeClr val="accent1">
                    <a:alpha val="5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27" name="矩形: 圆角 69"/>
              <p:cNvSpPr/>
              <p:nvPr/>
            </p:nvSpPr>
            <p:spPr>
              <a:xfrm>
                <a:off x="778414" y="4245736"/>
                <a:ext cx="3292241" cy="2093083"/>
              </a:xfrm>
              <a:prstGeom prst="roundRect">
                <a:avLst>
                  <a:gd name="adj" fmla="val 2674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330200" sx="102000" sy="102000" algn="ctr" rotWithShape="0">
                  <a:srgbClr val="086DC7">
                    <a:alpha val="23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28" name="TextBox 21" descr="{&quot;isTemplate&quot;:true,&quot;type&quot;:&quot;content&quot;,&quot;canOmit&quot;:false,&quot;range&quot;:0}"/>
              <p:cNvSpPr txBox="1"/>
              <p:nvPr/>
            </p:nvSpPr>
            <p:spPr>
              <a:xfrm>
                <a:off x="1031826" y="4993714"/>
                <a:ext cx="2800350" cy="1326006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indent="0">
                  <a:lnSpc>
                    <a:spcPct val="130000"/>
                  </a:lnSpc>
                  <a:buNone/>
                </a:pPr>
                <a:r>
                  <a:rPr lang="zh-CN" sz="1200">
                    <a:latin typeface="默认字体"/>
                    <a:ea typeface="默认字体"/>
                    <a:cs typeface="+mn-cs"/>
                    <a:sym typeface="思源黑体 CN Normal"/>
                  </a:rPr>
                  <a:t>元末明初，社会动荡不安，罗贯中结合历史文献与民间传说，创作了《三国志通俗演义》，旨在通过历史故事表达对现实的思考。</a:t>
                </a:r>
                <a:endParaRPr lang="zh-CN" sz="1200"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cxnSp>
            <p:nvCxnSpPr>
              <p:cNvPr id="129" name="直接连接符 13"/>
              <p:cNvCxnSpPr/>
              <p:nvPr/>
            </p:nvCxnSpPr>
            <p:spPr>
              <a:xfrm>
                <a:off x="1297961" y="4843791"/>
                <a:ext cx="1456547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  <a:alpha val="84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0" name="TextBox 20" descr="{&quot;isTemplate&quot;:true,&quot;type&quot;:&quot;title&quot;,&quot;canOmit&quot;:false,&quot;range&quot;:0}"/>
              <p:cNvSpPr txBox="1"/>
              <p:nvPr/>
            </p:nvSpPr>
            <p:spPr>
              <a:xfrm>
                <a:off x="1493069" y="4521490"/>
                <a:ext cx="2339107" cy="36830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zh-CN" sz="1600">
                    <a:latin typeface="默认字体"/>
                    <a:ea typeface="默认字体"/>
                    <a:cs typeface="思源黑体 CN Regular"/>
                    <a:sym typeface="思源黑体 CN Normal"/>
                  </a:rPr>
                  <a:t>罗贯中的创作背景</a:t>
                </a:r>
                <a:endParaRPr>
                  <a:latin typeface="默认字体"/>
                  <a:ea typeface="默认字体"/>
                  <a:cs typeface="+mn-cs"/>
                </a:endParaRPr>
              </a:p>
            </p:txBody>
          </p:sp>
          <p:sp>
            <p:nvSpPr>
              <p:cNvPr id="131" name="椭圆 15"/>
              <p:cNvSpPr/>
              <p:nvPr/>
            </p:nvSpPr>
            <p:spPr>
              <a:xfrm>
                <a:off x="995107" y="4431859"/>
                <a:ext cx="472165" cy="472165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>
                <a:outerShdw blurRad="203200" dist="127000" dir="5400000" sx="87000" sy="87000" algn="t" rotWithShape="0">
                  <a:schemeClr val="accent1">
                    <a:alpha val="5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32" name="Object 800011"/>
              <p:cNvSpPr txBox="1"/>
              <p:nvPr/>
            </p:nvSpPr>
            <p:spPr>
              <a:xfrm>
                <a:off x="1038054" y="4492092"/>
                <a:ext cx="386270" cy="351699"/>
              </a:xfrm>
              <a:prstGeom prst="rect">
                <a:avLst/>
              </a:prstGeom>
            </p:spPr>
            <p:txBody>
              <a:bodyPr vert="horz" lIns="47856" tIns="23928" rIns="47856" bIns="23928" rtlCol="0" anchor="t" anchorCtr="0">
                <a:noAutofit/>
              </a:bodyPr>
              <a:lstStyle/>
              <a:p>
                <a:pPr algn="ctr">
                  <a:lnSpc>
                    <a:spcPct val="114000"/>
                  </a:lnSpc>
                </a:pPr>
                <a:r>
                  <a:rPr lang="en-US" b="1">
                    <a:solidFill>
                      <a:schemeClr val="bg1">
                        <a:alpha val="100000"/>
                      </a:schemeClr>
                    </a:solidFill>
                    <a:latin typeface="默认字体"/>
                    <a:ea typeface="默认字体"/>
                    <a:cs typeface="思源黑体 CN Regular"/>
                    <a:sym typeface="思源黑体 CN Normal"/>
                  </a:rPr>
                  <a:t>01</a:t>
                </a:r>
                <a:endParaRPr lang="zh-CN" b="1">
                  <a:latin typeface="默认字体"/>
                  <a:ea typeface="默认字体"/>
                  <a:cs typeface="思源黑体 CN Regular"/>
                  <a:sym typeface="思源黑体 CN Normal"/>
                </a:endParaRPr>
              </a:p>
            </p:txBody>
          </p:sp>
        </p:grpSp>
        <p:grpSp>
          <p:nvGrpSpPr>
            <p:cNvPr id="133" name="组合 132"/>
            <p:cNvGrpSpPr/>
            <p:nvPr/>
          </p:nvGrpSpPr>
          <p:grpSpPr>
            <a:xfrm rot="0">
              <a:off x="4449880" y="2973869"/>
              <a:ext cx="3292241" cy="2231021"/>
              <a:chOff x="778414" y="4245736"/>
              <a:chExt cx="3292241" cy="2231021"/>
            </a:xfrm>
          </p:grpSpPr>
          <p:sp>
            <p:nvSpPr>
              <p:cNvPr id="134" name="矩形: 圆角 84"/>
              <p:cNvSpPr/>
              <p:nvPr/>
            </p:nvSpPr>
            <p:spPr>
              <a:xfrm rot="283349">
                <a:off x="1167591" y="5382757"/>
                <a:ext cx="2862889" cy="1094000"/>
              </a:xfrm>
              <a:prstGeom prst="roundRect">
                <a:avLst>
                  <a:gd name="adj" fmla="val 6866"/>
                </a:avLst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>
                <a:outerShdw blurRad="203200" dist="127000" dir="5400000" sx="87000" sy="87000" algn="t" rotWithShape="0">
                  <a:schemeClr val="accent1">
                    <a:alpha val="5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35" name="矩形: 圆角 69"/>
              <p:cNvSpPr/>
              <p:nvPr/>
            </p:nvSpPr>
            <p:spPr>
              <a:xfrm>
                <a:off x="778414" y="4245736"/>
                <a:ext cx="3292241" cy="2093083"/>
              </a:xfrm>
              <a:prstGeom prst="roundRect">
                <a:avLst>
                  <a:gd name="adj" fmla="val 2674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330200" sx="102000" sy="102000" algn="ctr" rotWithShape="0">
                  <a:srgbClr val="086DC7">
                    <a:alpha val="23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36" name="TextBox 21" descr="{&quot;isTemplate&quot;:true,&quot;type&quot;:&quot;content&quot;,&quot;canOmit&quot;:false,&quot;range&quot;:0}"/>
              <p:cNvSpPr txBox="1"/>
              <p:nvPr/>
            </p:nvSpPr>
            <p:spPr>
              <a:xfrm>
                <a:off x="1031826" y="4993714"/>
                <a:ext cx="2800350" cy="1326006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indent="0">
                  <a:lnSpc>
                    <a:spcPct val="130000"/>
                  </a:lnSpc>
                  <a:buNone/>
                </a:pPr>
                <a:r>
                  <a:rPr lang="zh-CN" sz="1200">
                    <a:latin typeface="默认字体"/>
                    <a:ea typeface="默认字体"/>
                    <a:cs typeface="+mn-cs"/>
                    <a:sym typeface="思源黑体 CN Normal"/>
                  </a:rPr>
                  <a:t>明清两代，《三国演义》经历了多次增删修改，毛宗岗评本最为著名，其在情节安排和人物塑造上更加精炼，成为后世流传的主要版本。</a:t>
                </a:r>
                <a:endParaRPr lang="zh-CN" sz="1200"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cxnSp>
            <p:nvCxnSpPr>
              <p:cNvPr id="137" name="直接连接符 13"/>
              <p:cNvCxnSpPr/>
              <p:nvPr/>
            </p:nvCxnSpPr>
            <p:spPr>
              <a:xfrm>
                <a:off x="1297961" y="4843791"/>
                <a:ext cx="1456547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  <a:alpha val="84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8" name="TextBox 20" descr="{&quot;isTemplate&quot;:true,&quot;type&quot;:&quot;title&quot;,&quot;canOmit&quot;:false,&quot;range&quot;:0}"/>
              <p:cNvSpPr txBox="1"/>
              <p:nvPr/>
            </p:nvSpPr>
            <p:spPr>
              <a:xfrm>
                <a:off x="1493069" y="4521490"/>
                <a:ext cx="2339107" cy="36830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zh-CN" sz="1600">
                    <a:latin typeface="默认字体"/>
                    <a:ea typeface="默认字体"/>
                    <a:cs typeface="思源黑体 CN Regular"/>
                    <a:sym typeface="思源黑体 CN Normal"/>
                  </a:rPr>
                  <a:t>明清时期的版本变迁</a:t>
                </a:r>
                <a:endParaRPr>
                  <a:latin typeface="默认字体"/>
                  <a:ea typeface="默认字体"/>
                  <a:cs typeface="+mn-cs"/>
                </a:endParaRPr>
              </a:p>
            </p:txBody>
          </p:sp>
          <p:sp>
            <p:nvSpPr>
              <p:cNvPr id="139" name="椭圆 15"/>
              <p:cNvSpPr/>
              <p:nvPr/>
            </p:nvSpPr>
            <p:spPr>
              <a:xfrm>
                <a:off x="995107" y="4431859"/>
                <a:ext cx="472165" cy="472165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>
                <a:outerShdw blurRad="203200" dist="127000" dir="5400000" sx="87000" sy="87000" algn="t" rotWithShape="0">
                  <a:schemeClr val="accent1">
                    <a:alpha val="5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40" name="Object 800011"/>
              <p:cNvSpPr txBox="1"/>
              <p:nvPr/>
            </p:nvSpPr>
            <p:spPr>
              <a:xfrm>
                <a:off x="1038054" y="4492092"/>
                <a:ext cx="386270" cy="351699"/>
              </a:xfrm>
              <a:prstGeom prst="rect">
                <a:avLst/>
              </a:prstGeom>
            </p:spPr>
            <p:txBody>
              <a:bodyPr vert="horz" lIns="47856" tIns="23928" rIns="47856" bIns="23928" rtlCol="0" anchor="t" anchorCtr="0">
                <a:noAutofit/>
              </a:bodyPr>
              <a:lstStyle/>
              <a:p>
                <a:pPr algn="ctr">
                  <a:lnSpc>
                    <a:spcPct val="114000"/>
                  </a:lnSpc>
                </a:pPr>
                <a:r>
                  <a:rPr lang="en-US" b="1">
                    <a:solidFill>
                      <a:schemeClr val="bg1">
                        <a:alpha val="100000"/>
                      </a:schemeClr>
                    </a:solidFill>
                    <a:latin typeface="默认字体"/>
                    <a:ea typeface="默认字体"/>
                    <a:cs typeface="思源黑体 CN Regular"/>
                    <a:sym typeface="思源黑体 CN Normal"/>
                  </a:rPr>
                  <a:t>02</a:t>
                </a:r>
                <a:endParaRPr lang="en-US" b="1">
                  <a:solidFill>
                    <a:schemeClr val="bg1">
                      <a:alpha val="100000"/>
                    </a:schemeClr>
                  </a:solidFill>
                  <a:latin typeface="默认字体"/>
                  <a:ea typeface="默认字体"/>
                  <a:cs typeface="思源黑体 CN Regular"/>
                  <a:sym typeface="思源黑体 CN Normal"/>
                </a:endParaRPr>
              </a:p>
            </p:txBody>
          </p:sp>
        </p:grpSp>
        <p:grpSp>
          <p:nvGrpSpPr>
            <p:cNvPr id="141" name="组合 140"/>
            <p:cNvGrpSpPr/>
            <p:nvPr/>
          </p:nvGrpSpPr>
          <p:grpSpPr>
            <a:xfrm rot="0">
              <a:off x="7995650" y="2973869"/>
              <a:ext cx="3292241" cy="2231021"/>
              <a:chOff x="778414" y="4245736"/>
              <a:chExt cx="3292241" cy="2231021"/>
            </a:xfrm>
          </p:grpSpPr>
          <p:sp>
            <p:nvSpPr>
              <p:cNvPr id="142" name="矩形: 圆角 84"/>
              <p:cNvSpPr/>
              <p:nvPr/>
            </p:nvSpPr>
            <p:spPr>
              <a:xfrm rot="283349">
                <a:off x="1167591" y="5382757"/>
                <a:ext cx="2862889" cy="1094000"/>
              </a:xfrm>
              <a:prstGeom prst="roundRect">
                <a:avLst>
                  <a:gd name="adj" fmla="val 6866"/>
                </a:avLst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>
                <a:outerShdw blurRad="203200" dist="127000" dir="5400000" sx="87000" sy="87000" algn="t" rotWithShape="0">
                  <a:schemeClr val="accent1">
                    <a:alpha val="5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43" name="矩形: 圆角 69"/>
              <p:cNvSpPr/>
              <p:nvPr/>
            </p:nvSpPr>
            <p:spPr>
              <a:xfrm>
                <a:off x="778414" y="4245736"/>
                <a:ext cx="3292241" cy="2093083"/>
              </a:xfrm>
              <a:prstGeom prst="roundRect">
                <a:avLst>
                  <a:gd name="adj" fmla="val 2674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330200" sx="102000" sy="102000" algn="ctr" rotWithShape="0">
                  <a:srgbClr val="086DC7">
                    <a:alpha val="23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44" name="TextBox 21" descr="{&quot;isTemplate&quot;:true,&quot;type&quot;:&quot;content&quot;,&quot;canOmit&quot;:false,&quot;range&quot;:0}"/>
              <p:cNvSpPr txBox="1"/>
              <p:nvPr/>
            </p:nvSpPr>
            <p:spPr>
              <a:xfrm>
                <a:off x="1031826" y="4993714"/>
                <a:ext cx="2800350" cy="1326006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indent="0">
                  <a:lnSpc>
                    <a:spcPct val="130000"/>
                  </a:lnSpc>
                  <a:buNone/>
                </a:pPr>
                <a:r>
                  <a:rPr lang="zh-CN" sz="1200">
                    <a:latin typeface="默认字体"/>
                    <a:ea typeface="默认字体"/>
                    <a:cs typeface="+mn-cs"/>
                    <a:sym typeface="思源黑体 CN Normal"/>
                  </a:rPr>
                  <a:t>随着时代发展，《三国演义》出现了多种改编版本，如连环画、青少年版、白话文版等，满足了不同读者的阅读需求，扩大了其影响力。</a:t>
                </a:r>
                <a:endParaRPr lang="zh-CN" sz="1200"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cxnSp>
            <p:nvCxnSpPr>
              <p:cNvPr id="145" name="直接连接符 13"/>
              <p:cNvCxnSpPr/>
              <p:nvPr/>
            </p:nvCxnSpPr>
            <p:spPr>
              <a:xfrm>
                <a:off x="1297961" y="4843791"/>
                <a:ext cx="1456547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  <a:alpha val="84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6" name="TextBox 20" descr="{&quot;isTemplate&quot;:true,&quot;type&quot;:&quot;title&quot;,&quot;canOmit&quot;:false,&quot;range&quot;:0}"/>
              <p:cNvSpPr txBox="1"/>
              <p:nvPr/>
            </p:nvSpPr>
            <p:spPr>
              <a:xfrm>
                <a:off x="1493069" y="4521490"/>
                <a:ext cx="2339107" cy="36830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zh-CN" sz="1600">
                    <a:latin typeface="默认字体"/>
                    <a:ea typeface="默认字体"/>
                    <a:cs typeface="思源黑体 CN Regular"/>
                    <a:sym typeface="思源黑体 CN Normal"/>
                  </a:rPr>
                  <a:t>现代版本的多样化</a:t>
                </a:r>
                <a:endParaRPr>
                  <a:latin typeface="默认字体"/>
                  <a:ea typeface="默认字体"/>
                  <a:cs typeface="+mn-cs"/>
                </a:endParaRPr>
              </a:p>
            </p:txBody>
          </p:sp>
          <p:sp>
            <p:nvSpPr>
              <p:cNvPr id="147" name="椭圆 15"/>
              <p:cNvSpPr/>
              <p:nvPr/>
            </p:nvSpPr>
            <p:spPr>
              <a:xfrm>
                <a:off x="995107" y="4431859"/>
                <a:ext cx="472165" cy="472165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>
                <a:outerShdw blurRad="203200" dist="127000" dir="5400000" sx="87000" sy="87000" algn="t" rotWithShape="0">
                  <a:schemeClr val="accent1">
                    <a:alpha val="5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48" name="Object 800011"/>
              <p:cNvSpPr txBox="1"/>
              <p:nvPr/>
            </p:nvSpPr>
            <p:spPr>
              <a:xfrm>
                <a:off x="1038054" y="4492092"/>
                <a:ext cx="386270" cy="351699"/>
              </a:xfrm>
              <a:prstGeom prst="rect">
                <a:avLst/>
              </a:prstGeom>
            </p:spPr>
            <p:txBody>
              <a:bodyPr vert="horz" lIns="47856" tIns="23928" rIns="47856" bIns="23928" rtlCol="0" anchor="t" anchorCtr="0">
                <a:noAutofit/>
              </a:bodyPr>
              <a:lstStyle/>
              <a:p>
                <a:pPr algn="ctr">
                  <a:lnSpc>
                    <a:spcPct val="114000"/>
                  </a:lnSpc>
                </a:pPr>
                <a:r>
                  <a:rPr lang="en-US" b="1">
                    <a:solidFill>
                      <a:schemeClr val="bg1">
                        <a:alpha val="100000"/>
                      </a:schemeClr>
                    </a:solidFill>
                    <a:latin typeface="默认字体"/>
                    <a:ea typeface="默认字体"/>
                    <a:cs typeface="思源黑体 CN Regular"/>
                    <a:sym typeface="思源黑体 CN Normal"/>
                  </a:rPr>
                  <a:t>03</a:t>
                </a:r>
                <a:endParaRPr lang="en-US" b="1">
                  <a:solidFill>
                    <a:schemeClr val="bg1">
                      <a:alpha val="100000"/>
                    </a:schemeClr>
                  </a:solidFill>
                  <a:latin typeface="默认字体"/>
                  <a:ea typeface="默认字体"/>
                  <a:cs typeface="思源黑体 CN Regular"/>
                  <a:sym typeface="思源黑体 CN Normal"/>
                </a:endParaRPr>
              </a:p>
            </p:txBody>
          </p:sp>
        </p:grpSp>
      </p:grpSp>
      <p:sp>
        <p:nvSpPr>
          <p:cNvPr id="149" name="文本框 148" descr="{&quot;isTemplate&quot;:true,&quot;type&quot;:&quot;title&quot;,&quot;canOmit&quot;:false,&quot;range&quot;:0}"/>
          <p:cNvSpPr txBox="1"/>
          <p:nvPr/>
        </p:nvSpPr>
        <p:spPr>
          <a:xfrm>
            <a:off x="660396" y="418039"/>
            <a:ext cx="10668000" cy="520700"/>
          </a:xfrm>
          <a:prstGeom prst="rect">
            <a:avLst/>
          </a:prstGeom>
          <a:noFill/>
        </p:spPr>
        <p:txBody>
          <a:bodyPr wrap="square" lIns="90000" tIns="46800" rIns="90000" bIns="46800" rtlCol="0" anchor="b" anchorCtr="0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sz="2800" b="1">
                <a:latin typeface="默认字体"/>
                <a:ea typeface="默认字体"/>
                <a:cs typeface="+mn-cs"/>
              </a:rPr>
              <a:t>《三国演义》版本演变</a:t>
            </a:r>
            <a:endParaRPr lang="en-US" sz="2800" b="1">
              <a:latin typeface="默认字体"/>
              <a:ea typeface="默认字体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0" name="" descr="{&quot;isTemplate&quot;:true,&quot;type&quot;:2,&quot;originSlideId&quot;:&quot;efd25425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标题 1" descr="{&quot;isTemplate&quot;:true,&quot;type&quot;:&quot;title&quot;,&quot;canOmit&quot;:false,&quot;range&quot;:0}"/>
          <p:cNvSpPr txBox="1"/>
          <p:nvPr/>
        </p:nvSpPr>
        <p:spPr>
          <a:xfrm>
            <a:off x="392698" y="4923294"/>
            <a:ext cx="11330940" cy="1079500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800" b="0" i="0" kern="1200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marL="0" indent="0">
              <a:lnSpc>
                <a:spcPct val="100000"/>
              </a:lnSpc>
              <a:buNone/>
            </a:pPr>
            <a:r>
              <a:rPr lang="zh-CN" sz="7200">
                <a:solidFill>
                  <a:schemeClr val="tx1">
                    <a:alpha val="100000"/>
                  </a:schemeClr>
                </a:solidFill>
              </a:rPr>
              <a:t>人物形象与阅读启示</a:t>
            </a:r>
            <a:endParaRPr lang="zh-CN" sz="7200">
              <a:solidFill>
                <a:schemeClr val="tx1">
                  <a:alpha val="100000"/>
                </a:schemeClr>
              </a:solidFill>
            </a:endParaRPr>
          </a:p>
        </p:txBody>
      </p:sp>
      <p:sp>
        <p:nvSpPr>
          <p:cNvPr id="152" name="标题 1"/>
          <p:cNvSpPr txBox="1"/>
          <p:nvPr/>
        </p:nvSpPr>
        <p:spPr>
          <a:xfrm>
            <a:off x="392698" y="3621770"/>
            <a:ext cx="1324402" cy="1311128"/>
          </a:xfrm>
          <a:prstGeom prst="rect">
            <a:avLst/>
          </a:prstGeom>
        </p:spPr>
        <p:txBody>
          <a:bodyPr vert="horz" wrap="none" lIns="91440" tIns="45720" rIns="91440" bIns="45720" rtlCol="0" anchor="b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800" b="0" i="0" kern="1200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kumimoji="1"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02</a:t>
            </a:r>
            <a:endParaRPr kumimoji="1"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3" name="" descr="{&quot;isTemplate&quot;:true,&quot;type&quot;:&quot;page&quot;,&quot;originSlideId&quot;:&quot;f6db42ce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组合 153" descr="{&quot;isTemplate&quot;:true,&quot;type&quot;:&quot;list&quot;,&quot;alignment&quot;:&quot;left&quot;,&quot;alignmentVertical&quot;:&quot;top&quot;,&quot;canOmit&quot;:false,&quot;scalable&quot;:false,&quot;minItemsCount&quot;:-1}"/>
          <p:cNvGrpSpPr/>
          <p:nvPr/>
        </p:nvGrpSpPr>
        <p:grpSpPr>
          <a:xfrm rot="0">
            <a:off x="963294" y="1713075"/>
            <a:ext cx="5132706" cy="4682334"/>
            <a:chOff x="963294" y="1335283"/>
            <a:chExt cx="5132706" cy="4682334"/>
          </a:xfrm>
        </p:grpSpPr>
        <p:grpSp>
          <p:nvGrpSpPr>
            <p:cNvPr id="155" name="组合 154"/>
            <p:cNvGrpSpPr/>
            <p:nvPr/>
          </p:nvGrpSpPr>
          <p:grpSpPr>
            <a:xfrm rot="0">
              <a:off x="963294" y="1335283"/>
              <a:ext cx="5132706" cy="1454224"/>
              <a:chOff x="963294" y="1335283"/>
              <a:chExt cx="5132706" cy="1454224"/>
            </a:xfrm>
          </p:grpSpPr>
          <p:grpSp>
            <p:nvGrpSpPr>
              <p:cNvPr id="156" name="Group 14"/>
              <p:cNvGrpSpPr/>
              <p:nvPr/>
            </p:nvGrpSpPr>
            <p:grpSpPr>
              <a:xfrm rot="0">
                <a:off x="963294" y="1583249"/>
                <a:ext cx="546100" cy="549911"/>
                <a:chOff x="5931156" y="1399652"/>
                <a:chExt cx="644626" cy="649224"/>
              </a:xfrm>
            </p:grpSpPr>
            <p:sp>
              <p:nvSpPr>
                <p:cNvPr id="157" name="Oval 15"/>
                <p:cNvSpPr/>
                <p:nvPr/>
              </p:nvSpPr>
              <p:spPr>
                <a:xfrm>
                  <a:off x="5931156" y="1399652"/>
                  <a:ext cx="644626" cy="649224"/>
                </a:xfrm>
                <a:prstGeom prst="ellipse">
                  <a:avLst/>
                </a:prstGeom>
                <a:solidFill>
                  <a:schemeClr val="accent1">
                    <a:alpha val="10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/>
                  <a:endParaRPr sz="1865">
                    <a:solidFill>
                      <a:schemeClr val="bg1">
                        <a:lumMod val="50000"/>
                        <a:alpha val="100000"/>
                      </a:schemeClr>
                    </a:solidFill>
                    <a:latin typeface="默认字体"/>
                    <a:ea typeface="默认字体"/>
                    <a:cs typeface="等线" panose="02010600030101010101" charset="-122"/>
                    <a:sym typeface="思源宋体 CN"/>
                  </a:endParaRPr>
                </a:p>
              </p:txBody>
            </p:sp>
            <p:sp>
              <p:nvSpPr>
                <p:cNvPr id="158" name="Freeform: Shape 16"/>
                <p:cNvSpPr/>
                <p:nvPr/>
              </p:nvSpPr>
              <p:spPr bwMode="auto">
                <a:xfrm>
                  <a:off x="6057730" y="1551942"/>
                  <a:ext cx="400552" cy="359916"/>
                </a:xfrm>
                <a:custGeom>
                  <a:avLst/>
                  <a:gdLst/>
                  <a:ahLst/>
                  <a:cxnLst>
                    <a:cxn ang="0">
                      <a:pos x="23" y="39"/>
                    </a:cxn>
                    <a:cxn ang="0">
                      <a:pos x="21" y="41"/>
                    </a:cxn>
                    <a:cxn ang="0">
                      <a:pos x="20" y="41"/>
                    </a:cxn>
                    <a:cxn ang="0">
                      <a:pos x="19" y="40"/>
                    </a:cxn>
                    <a:cxn ang="0">
                      <a:pos x="0" y="22"/>
                    </a:cxn>
                    <a:cxn ang="0">
                      <a:pos x="0" y="19"/>
                    </a:cxn>
                    <a:cxn ang="0">
                      <a:pos x="19" y="1"/>
                    </a:cxn>
                    <a:cxn ang="0">
                      <a:pos x="21" y="0"/>
                    </a:cxn>
                    <a:cxn ang="0">
                      <a:pos x="23" y="2"/>
                    </a:cxn>
                    <a:cxn ang="0">
                      <a:pos x="23" y="5"/>
                    </a:cxn>
                    <a:cxn ang="0">
                      <a:pos x="8" y="19"/>
                    </a:cxn>
                    <a:cxn ang="0">
                      <a:pos x="8" y="22"/>
                    </a:cxn>
                    <a:cxn ang="0">
                      <a:pos x="23" y="36"/>
                    </a:cxn>
                    <a:cxn ang="0">
                      <a:pos x="23" y="39"/>
                    </a:cxn>
                    <a:cxn ang="0">
                      <a:pos x="58" y="57"/>
                    </a:cxn>
                    <a:cxn ang="0">
                      <a:pos x="57" y="57"/>
                    </a:cxn>
                    <a:cxn ang="0">
                      <a:pos x="57" y="57"/>
                    </a:cxn>
                    <a:cxn ang="0">
                      <a:pos x="56" y="56"/>
                    </a:cxn>
                    <a:cxn ang="0">
                      <a:pos x="52" y="36"/>
                    </a:cxn>
                    <a:cxn ang="0">
                      <a:pos x="36" y="30"/>
                    </a:cxn>
                    <a:cxn ang="0">
                      <a:pos x="36" y="39"/>
                    </a:cxn>
                    <a:cxn ang="0">
                      <a:pos x="35" y="41"/>
                    </a:cxn>
                    <a:cxn ang="0">
                      <a:pos x="34" y="41"/>
                    </a:cxn>
                    <a:cxn ang="0">
                      <a:pos x="32" y="40"/>
                    </a:cxn>
                    <a:cxn ang="0">
                      <a:pos x="14" y="22"/>
                    </a:cxn>
                    <a:cxn ang="0">
                      <a:pos x="14" y="19"/>
                    </a:cxn>
                    <a:cxn ang="0">
                      <a:pos x="32" y="1"/>
                    </a:cxn>
                    <a:cxn ang="0">
                      <a:pos x="35" y="0"/>
                    </a:cxn>
                    <a:cxn ang="0">
                      <a:pos x="36" y="2"/>
                    </a:cxn>
                    <a:cxn ang="0">
                      <a:pos x="36" y="12"/>
                    </a:cxn>
                    <a:cxn ang="0">
                      <a:pos x="58" y="20"/>
                    </a:cxn>
                    <a:cxn ang="0">
                      <a:pos x="64" y="38"/>
                    </a:cxn>
                    <a:cxn ang="0">
                      <a:pos x="58" y="57"/>
                    </a:cxn>
                  </a:cxnLst>
                  <a:rect l="0" t="0" r="r" b="b"/>
                  <a:pathLst>
                    <a:path w="64" h="57">
                      <a:moveTo>
                        <a:pt x="23" y="39"/>
                      </a:moveTo>
                      <a:cubicBezTo>
                        <a:pt x="23" y="40"/>
                        <a:pt x="22" y="41"/>
                        <a:pt x="21" y="41"/>
                      </a:cubicBezTo>
                      <a:cubicBezTo>
                        <a:pt x="21" y="41"/>
                        <a:pt x="21" y="41"/>
                        <a:pt x="20" y="41"/>
                      </a:cubicBezTo>
                      <a:cubicBezTo>
                        <a:pt x="20" y="41"/>
                        <a:pt x="19" y="41"/>
                        <a:pt x="19" y="40"/>
                      </a:cubicBezTo>
                      <a:cubicBezTo>
                        <a:pt x="0" y="22"/>
                        <a:pt x="0" y="22"/>
                        <a:pt x="0" y="22"/>
                      </a:cubicBezTo>
                      <a:cubicBezTo>
                        <a:pt x="0" y="21"/>
                        <a:pt x="0" y="20"/>
                        <a:pt x="0" y="19"/>
                      </a:cubicBezTo>
                      <a:cubicBezTo>
                        <a:pt x="19" y="1"/>
                        <a:pt x="19" y="1"/>
                        <a:pt x="19" y="1"/>
                      </a:cubicBezTo>
                      <a:cubicBezTo>
                        <a:pt x="19" y="0"/>
                        <a:pt x="20" y="0"/>
                        <a:pt x="21" y="0"/>
                      </a:cubicBezTo>
                      <a:cubicBezTo>
                        <a:pt x="22" y="1"/>
                        <a:pt x="23" y="1"/>
                        <a:pt x="23" y="2"/>
                      </a:cubicBezTo>
                      <a:cubicBezTo>
                        <a:pt x="23" y="5"/>
                        <a:pt x="23" y="5"/>
                        <a:pt x="23" y="5"/>
                      </a:cubicBezTo>
                      <a:cubicBezTo>
                        <a:pt x="8" y="19"/>
                        <a:pt x="8" y="19"/>
                        <a:pt x="8" y="19"/>
                      </a:cubicBezTo>
                      <a:cubicBezTo>
                        <a:pt x="8" y="20"/>
                        <a:pt x="8" y="21"/>
                        <a:pt x="8" y="22"/>
                      </a:cubicBezTo>
                      <a:cubicBezTo>
                        <a:pt x="23" y="36"/>
                        <a:pt x="23" y="36"/>
                        <a:pt x="23" y="36"/>
                      </a:cubicBezTo>
                      <a:lnTo>
                        <a:pt x="23" y="39"/>
                      </a:lnTo>
                      <a:close/>
                      <a:moveTo>
                        <a:pt x="58" y="57"/>
                      </a:moveTo>
                      <a:cubicBezTo>
                        <a:pt x="58" y="57"/>
                        <a:pt x="57" y="57"/>
                        <a:pt x="57" y="57"/>
                      </a:cubicBezTo>
                      <a:cubicBezTo>
                        <a:pt x="57" y="57"/>
                        <a:pt x="57" y="57"/>
                        <a:pt x="57" y="57"/>
                      </a:cubicBezTo>
                      <a:cubicBezTo>
                        <a:pt x="56" y="57"/>
                        <a:pt x="56" y="56"/>
                        <a:pt x="56" y="56"/>
                      </a:cubicBezTo>
                      <a:cubicBezTo>
                        <a:pt x="57" y="46"/>
                        <a:pt x="56" y="40"/>
                        <a:pt x="52" y="36"/>
                      </a:cubicBezTo>
                      <a:cubicBezTo>
                        <a:pt x="49" y="32"/>
                        <a:pt x="44" y="31"/>
                        <a:pt x="36" y="30"/>
                      </a:cubicBezTo>
                      <a:cubicBezTo>
                        <a:pt x="36" y="39"/>
                        <a:pt x="36" y="39"/>
                        <a:pt x="36" y="39"/>
                      </a:cubicBezTo>
                      <a:cubicBezTo>
                        <a:pt x="36" y="40"/>
                        <a:pt x="36" y="41"/>
                        <a:pt x="35" y="41"/>
                      </a:cubicBezTo>
                      <a:cubicBezTo>
                        <a:pt x="35" y="41"/>
                        <a:pt x="34" y="41"/>
                        <a:pt x="34" y="41"/>
                      </a:cubicBezTo>
                      <a:cubicBezTo>
                        <a:pt x="33" y="41"/>
                        <a:pt x="33" y="41"/>
                        <a:pt x="32" y="40"/>
                      </a:cubicBezTo>
                      <a:cubicBezTo>
                        <a:pt x="14" y="22"/>
                        <a:pt x="14" y="22"/>
                        <a:pt x="14" y="22"/>
                      </a:cubicBezTo>
                      <a:cubicBezTo>
                        <a:pt x="13" y="21"/>
                        <a:pt x="13" y="20"/>
                        <a:pt x="14" y="19"/>
                      </a:cubicBezTo>
                      <a:cubicBezTo>
                        <a:pt x="32" y="1"/>
                        <a:pt x="32" y="1"/>
                        <a:pt x="32" y="1"/>
                      </a:cubicBezTo>
                      <a:cubicBezTo>
                        <a:pt x="33" y="0"/>
                        <a:pt x="34" y="0"/>
                        <a:pt x="35" y="0"/>
                      </a:cubicBezTo>
                      <a:cubicBezTo>
                        <a:pt x="36" y="1"/>
                        <a:pt x="36" y="1"/>
                        <a:pt x="36" y="2"/>
                      </a:cubicBezTo>
                      <a:cubicBezTo>
                        <a:pt x="36" y="12"/>
                        <a:pt x="36" y="12"/>
                        <a:pt x="36" y="12"/>
                      </a:cubicBezTo>
                      <a:cubicBezTo>
                        <a:pt x="46" y="12"/>
                        <a:pt x="53" y="15"/>
                        <a:pt x="58" y="20"/>
                      </a:cubicBezTo>
                      <a:cubicBezTo>
                        <a:pt x="63" y="25"/>
                        <a:pt x="64" y="33"/>
                        <a:pt x="64" y="38"/>
                      </a:cubicBezTo>
                      <a:cubicBezTo>
                        <a:pt x="64" y="45"/>
                        <a:pt x="58" y="56"/>
                        <a:pt x="58" y="5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9525">
                  <a:noFill/>
                  <a:round/>
                </a:ln>
              </p:spPr>
              <p:txBody>
                <a:bodyPr anchor="ctr"/>
                <a:lstStyle/>
                <a:p>
                  <a:pPr algn="ctr"/>
                  <a:endParaRPr sz="1865">
                    <a:solidFill>
                      <a:schemeClr val="bg1">
                        <a:lumMod val="50000"/>
                        <a:alpha val="100000"/>
                      </a:schemeClr>
                    </a:solidFill>
                    <a:latin typeface="默认字体"/>
                    <a:ea typeface="默认字体"/>
                    <a:cs typeface="等线" panose="02010600030101010101" charset="-122"/>
                    <a:sym typeface="思源宋体 CN"/>
                  </a:endParaRPr>
                </a:p>
              </p:txBody>
            </p:sp>
          </p:grpSp>
          <p:grpSp>
            <p:nvGrpSpPr>
              <p:cNvPr id="159" name="组合 158"/>
              <p:cNvGrpSpPr/>
              <p:nvPr/>
            </p:nvGrpSpPr>
            <p:grpSpPr>
              <a:xfrm rot="0">
                <a:off x="1776032" y="1335283"/>
                <a:ext cx="4319968" cy="1454224"/>
                <a:chOff x="1948814" y="1324329"/>
                <a:chExt cx="4319968" cy="1454224"/>
              </a:xfrm>
            </p:grpSpPr>
            <p:sp>
              <p:nvSpPr>
                <p:cNvPr id="160" name="TextBox 76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1948814" y="1324329"/>
                  <a:ext cx="4319968" cy="3937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 algn="l">
                    <a:lnSpc>
                      <a:spcPct val="100000"/>
                    </a:lnSpc>
                    <a:buNone/>
                  </a:pPr>
                  <a:r>
                    <a:rPr lang="zh-CN" sz="1800" b="1">
                      <a:solidFill>
                        <a:srgbClr val="00B050">
                          <a:alpha val="100000"/>
                        </a:srgbClr>
                      </a:solidFill>
                      <a:latin typeface="默认字体"/>
                      <a:ea typeface="默认字体"/>
                      <a:cs typeface="等线" panose="02010600030101010101" charset="-122"/>
                      <a:sym typeface="思源宋体 CN"/>
                    </a:rPr>
                    <a:t>仁德治国的理念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161" name="文本框 54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1948814" y="1594203"/>
                  <a:ext cx="4319968" cy="118435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 algn="l">
                    <a:lnSpc>
                      <a:spcPct val="130000"/>
                    </a:lnSpc>
                    <a:buNone/>
                  </a:pPr>
                  <a:r>
                    <a:rPr lang="zh-CN" sz="1400">
                      <a:solidFill>
                        <a:schemeClr val="tx1">
                          <a:alpha val="100000"/>
                        </a:schemeClr>
                      </a:solidFill>
                      <a:latin typeface="默认字体"/>
                      <a:ea typeface="默认字体"/>
                      <a:cs typeface="等线" panose="02010600030101010101" charset="-122"/>
                      <a:sym typeface="思源宋体 CN"/>
                    </a:rPr>
                    <a:t>刘备以“仁”为核心治国理政，注重民生，赢得了百姓的爱戴和支持，这种以人为本的理念对我具有重要的借鉴意义。</a:t>
                  </a:r>
                  <a:endParaRPr lang="zh-CN" sz="1400">
                    <a:solidFill>
                      <a:schemeClr val="tx1">
                        <a:alpha val="100000"/>
                      </a:schemeClr>
                    </a:solidFill>
                    <a:latin typeface="默认字体"/>
                    <a:ea typeface="默认字体"/>
                    <a:cs typeface="等线" panose="02010600030101010101" charset="-122"/>
                    <a:sym typeface="思源宋体 CN"/>
                  </a:endParaRPr>
                </a:p>
              </p:txBody>
            </p:sp>
          </p:grpSp>
        </p:grpSp>
        <p:grpSp>
          <p:nvGrpSpPr>
            <p:cNvPr id="162" name="组合 161"/>
            <p:cNvGrpSpPr/>
            <p:nvPr/>
          </p:nvGrpSpPr>
          <p:grpSpPr>
            <a:xfrm rot="0">
              <a:off x="963294" y="2969000"/>
              <a:ext cx="5132706" cy="1406821"/>
              <a:chOff x="963294" y="2508097"/>
              <a:chExt cx="5132706" cy="1406821"/>
            </a:xfrm>
          </p:grpSpPr>
          <p:grpSp>
            <p:nvGrpSpPr>
              <p:cNvPr id="163" name="Group 18"/>
              <p:cNvGrpSpPr/>
              <p:nvPr/>
            </p:nvGrpSpPr>
            <p:grpSpPr>
              <a:xfrm rot="0">
                <a:off x="963294" y="2764125"/>
                <a:ext cx="546100" cy="549911"/>
                <a:chOff x="5950091" y="2237852"/>
                <a:chExt cx="644626" cy="649224"/>
              </a:xfrm>
            </p:grpSpPr>
            <p:sp>
              <p:nvSpPr>
                <p:cNvPr id="164" name="Oval 19"/>
                <p:cNvSpPr/>
                <p:nvPr/>
              </p:nvSpPr>
              <p:spPr>
                <a:xfrm flipH="1">
                  <a:off x="5950091" y="2237852"/>
                  <a:ext cx="644626" cy="649224"/>
                </a:xfrm>
                <a:prstGeom prst="ellipse">
                  <a:avLst/>
                </a:prstGeom>
                <a:solidFill>
                  <a:schemeClr val="accent1">
                    <a:alpha val="10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/>
                  <a:endParaRPr sz="1865">
                    <a:solidFill>
                      <a:schemeClr val="bg1">
                        <a:lumMod val="50000"/>
                        <a:alpha val="100000"/>
                      </a:schemeClr>
                    </a:solidFill>
                    <a:latin typeface="默认字体"/>
                    <a:ea typeface="默认字体"/>
                    <a:cs typeface="等线" panose="02010600030101010101" charset="-122"/>
                    <a:sym typeface="思源宋体 CN"/>
                  </a:endParaRPr>
                </a:p>
              </p:txBody>
            </p:sp>
            <p:sp>
              <p:nvSpPr>
                <p:cNvPr id="165" name="Freeform: Shape 20"/>
                <p:cNvSpPr/>
                <p:nvPr/>
              </p:nvSpPr>
              <p:spPr bwMode="auto">
                <a:xfrm>
                  <a:off x="6100406" y="2400386"/>
                  <a:ext cx="315200" cy="347304"/>
                </a:xfrm>
                <a:custGeom>
                  <a:avLst/>
                  <a:gdLst/>
                  <a:ahLst/>
                  <a:cxnLst>
                    <a:cxn ang="0">
                      <a:pos x="40" y="55"/>
                    </a:cxn>
                    <a:cxn ang="0">
                      <a:pos x="32" y="51"/>
                    </a:cxn>
                    <a:cxn ang="0">
                      <a:pos x="4" y="24"/>
                    </a:cxn>
                    <a:cxn ang="0">
                      <a:pos x="0" y="14"/>
                    </a:cxn>
                    <a:cxn ang="0">
                      <a:pos x="13" y="0"/>
                    </a:cxn>
                    <a:cxn ang="0">
                      <a:pos x="23" y="5"/>
                    </a:cxn>
                    <a:cxn ang="0">
                      <a:pos x="45" y="26"/>
                    </a:cxn>
                    <a:cxn ang="0">
                      <a:pos x="45" y="27"/>
                    </a:cxn>
                    <a:cxn ang="0">
                      <a:pos x="42" y="30"/>
                    </a:cxn>
                    <a:cxn ang="0">
                      <a:pos x="42" y="29"/>
                    </a:cxn>
                    <a:cxn ang="0">
                      <a:pos x="20" y="8"/>
                    </a:cxn>
                    <a:cxn ang="0">
                      <a:pos x="13" y="5"/>
                    </a:cxn>
                    <a:cxn ang="0">
                      <a:pos x="4" y="14"/>
                    </a:cxn>
                    <a:cxn ang="0">
                      <a:pos x="7" y="21"/>
                    </a:cxn>
                    <a:cxn ang="0">
                      <a:pos x="35" y="48"/>
                    </a:cxn>
                    <a:cxn ang="0">
                      <a:pos x="40" y="50"/>
                    </a:cxn>
                    <a:cxn ang="0">
                      <a:pos x="45" y="45"/>
                    </a:cxn>
                    <a:cxn ang="0">
                      <a:pos x="43" y="40"/>
                    </a:cxn>
                    <a:cxn ang="0">
                      <a:pos x="22" y="19"/>
                    </a:cxn>
                    <a:cxn ang="0">
                      <a:pos x="20" y="18"/>
                    </a:cxn>
                    <a:cxn ang="0">
                      <a:pos x="18" y="21"/>
                    </a:cxn>
                    <a:cxn ang="0">
                      <a:pos x="19" y="23"/>
                    </a:cxn>
                    <a:cxn ang="0">
                      <a:pos x="33" y="38"/>
                    </a:cxn>
                    <a:cxn ang="0">
                      <a:pos x="34" y="38"/>
                    </a:cxn>
                    <a:cxn ang="0">
                      <a:pos x="31" y="41"/>
                    </a:cxn>
                    <a:cxn ang="0">
                      <a:pos x="30" y="41"/>
                    </a:cxn>
                    <a:cxn ang="0">
                      <a:pos x="16" y="26"/>
                    </a:cxn>
                    <a:cxn ang="0">
                      <a:pos x="13" y="21"/>
                    </a:cxn>
                    <a:cxn ang="0">
                      <a:pos x="20" y="14"/>
                    </a:cxn>
                    <a:cxn ang="0">
                      <a:pos x="26" y="16"/>
                    </a:cxn>
                    <a:cxn ang="0">
                      <a:pos x="46" y="37"/>
                    </a:cxn>
                    <a:cxn ang="0">
                      <a:pos x="50" y="45"/>
                    </a:cxn>
                    <a:cxn ang="0">
                      <a:pos x="40" y="55"/>
                    </a:cxn>
                  </a:cxnLst>
                  <a:rect l="0" t="0" r="r" b="b"/>
                  <a:pathLst>
                    <a:path w="50" h="55">
                      <a:moveTo>
                        <a:pt x="40" y="55"/>
                      </a:moveTo>
                      <a:cubicBezTo>
                        <a:pt x="37" y="55"/>
                        <a:pt x="34" y="54"/>
                        <a:pt x="32" y="51"/>
                      </a:cubicBezTo>
                      <a:cubicBezTo>
                        <a:pt x="4" y="24"/>
                        <a:pt x="4" y="24"/>
                        <a:pt x="4" y="24"/>
                      </a:cubicBezTo>
                      <a:cubicBezTo>
                        <a:pt x="1" y="21"/>
                        <a:pt x="0" y="18"/>
                        <a:pt x="0" y="14"/>
                      </a:cubicBezTo>
                      <a:cubicBezTo>
                        <a:pt x="0" y="7"/>
                        <a:pt x="6" y="0"/>
                        <a:pt x="13" y="0"/>
                      </a:cubicBezTo>
                      <a:cubicBezTo>
                        <a:pt x="17" y="0"/>
                        <a:pt x="21" y="2"/>
                        <a:pt x="23" y="5"/>
                      </a:cubicBezTo>
                      <a:cubicBezTo>
                        <a:pt x="45" y="26"/>
                        <a:pt x="45" y="26"/>
                        <a:pt x="45" y="26"/>
                      </a:cubicBezTo>
                      <a:cubicBezTo>
                        <a:pt x="45" y="26"/>
                        <a:pt x="45" y="27"/>
                        <a:pt x="45" y="27"/>
                      </a:cubicBezTo>
                      <a:cubicBezTo>
                        <a:pt x="45" y="28"/>
                        <a:pt x="43" y="30"/>
                        <a:pt x="42" y="30"/>
                      </a:cubicBezTo>
                      <a:cubicBezTo>
                        <a:pt x="42" y="30"/>
                        <a:pt x="42" y="30"/>
                        <a:pt x="42" y="29"/>
                      </a:cubicBezTo>
                      <a:cubicBezTo>
                        <a:pt x="20" y="8"/>
                        <a:pt x="20" y="8"/>
                        <a:pt x="20" y="8"/>
                      </a:cubicBezTo>
                      <a:cubicBezTo>
                        <a:pt x="18" y="6"/>
                        <a:pt x="16" y="5"/>
                        <a:pt x="13" y="5"/>
                      </a:cubicBezTo>
                      <a:cubicBezTo>
                        <a:pt x="8" y="5"/>
                        <a:pt x="4" y="9"/>
                        <a:pt x="4" y="14"/>
                      </a:cubicBezTo>
                      <a:cubicBezTo>
                        <a:pt x="4" y="16"/>
                        <a:pt x="5" y="19"/>
                        <a:pt x="7" y="21"/>
                      </a:cubicBezTo>
                      <a:cubicBezTo>
                        <a:pt x="35" y="48"/>
                        <a:pt x="35" y="48"/>
                        <a:pt x="35" y="48"/>
                      </a:cubicBezTo>
                      <a:cubicBezTo>
                        <a:pt x="36" y="50"/>
                        <a:pt x="38" y="50"/>
                        <a:pt x="40" y="50"/>
                      </a:cubicBezTo>
                      <a:cubicBezTo>
                        <a:pt x="43" y="50"/>
                        <a:pt x="45" y="48"/>
                        <a:pt x="45" y="45"/>
                      </a:cubicBezTo>
                      <a:cubicBezTo>
                        <a:pt x="45" y="43"/>
                        <a:pt x="44" y="41"/>
                        <a:pt x="43" y="40"/>
                      </a:cubicBezTo>
                      <a:cubicBezTo>
                        <a:pt x="22" y="19"/>
                        <a:pt x="22" y="19"/>
                        <a:pt x="22" y="19"/>
                      </a:cubicBezTo>
                      <a:cubicBezTo>
                        <a:pt x="22" y="19"/>
                        <a:pt x="21" y="18"/>
                        <a:pt x="20" y="18"/>
                      </a:cubicBezTo>
                      <a:cubicBezTo>
                        <a:pt x="19" y="18"/>
                        <a:pt x="18" y="19"/>
                        <a:pt x="18" y="21"/>
                      </a:cubicBezTo>
                      <a:cubicBezTo>
                        <a:pt x="18" y="22"/>
                        <a:pt x="18" y="22"/>
                        <a:pt x="19" y="23"/>
                      </a:cubicBezTo>
                      <a:cubicBezTo>
                        <a:pt x="33" y="38"/>
                        <a:pt x="33" y="38"/>
                        <a:pt x="33" y="38"/>
                      </a:cubicBezTo>
                      <a:cubicBezTo>
                        <a:pt x="34" y="38"/>
                        <a:pt x="34" y="38"/>
                        <a:pt x="34" y="38"/>
                      </a:cubicBezTo>
                      <a:cubicBezTo>
                        <a:pt x="34" y="39"/>
                        <a:pt x="32" y="41"/>
                        <a:pt x="31" y="41"/>
                      </a:cubicBezTo>
                      <a:cubicBezTo>
                        <a:pt x="31" y="41"/>
                        <a:pt x="30" y="41"/>
                        <a:pt x="30" y="41"/>
                      </a:cubicBezTo>
                      <a:cubicBezTo>
                        <a:pt x="16" y="26"/>
                        <a:pt x="16" y="26"/>
                        <a:pt x="16" y="26"/>
                      </a:cubicBezTo>
                      <a:cubicBezTo>
                        <a:pt x="14" y="25"/>
                        <a:pt x="13" y="23"/>
                        <a:pt x="13" y="21"/>
                      </a:cubicBezTo>
                      <a:cubicBezTo>
                        <a:pt x="13" y="17"/>
                        <a:pt x="16" y="14"/>
                        <a:pt x="20" y="14"/>
                      </a:cubicBezTo>
                      <a:cubicBezTo>
                        <a:pt x="22" y="14"/>
                        <a:pt x="24" y="15"/>
                        <a:pt x="26" y="16"/>
                      </a:cubicBezTo>
                      <a:cubicBezTo>
                        <a:pt x="46" y="37"/>
                        <a:pt x="46" y="37"/>
                        <a:pt x="46" y="37"/>
                      </a:cubicBezTo>
                      <a:cubicBezTo>
                        <a:pt x="49" y="39"/>
                        <a:pt x="50" y="42"/>
                        <a:pt x="50" y="45"/>
                      </a:cubicBezTo>
                      <a:cubicBezTo>
                        <a:pt x="50" y="51"/>
                        <a:pt x="46" y="55"/>
                        <a:pt x="40" y="5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9525">
                  <a:noFill/>
                  <a:round/>
                </a:ln>
              </p:spPr>
              <p:txBody>
                <a:bodyPr anchor="ctr"/>
                <a:lstStyle/>
                <a:p>
                  <a:pPr algn="ctr"/>
                  <a:endParaRPr sz="1865">
                    <a:solidFill>
                      <a:schemeClr val="bg1">
                        <a:lumMod val="50000"/>
                        <a:alpha val="100000"/>
                      </a:schemeClr>
                    </a:solidFill>
                    <a:latin typeface="默认字体"/>
                    <a:ea typeface="默认字体"/>
                    <a:cs typeface="等线" panose="02010600030101010101" charset="-122"/>
                    <a:sym typeface="思源宋体 CN"/>
                  </a:endParaRPr>
                </a:p>
              </p:txBody>
            </p:sp>
          </p:grpSp>
          <p:grpSp>
            <p:nvGrpSpPr>
              <p:cNvPr id="166" name="组合 165"/>
              <p:cNvGrpSpPr/>
              <p:nvPr/>
            </p:nvGrpSpPr>
            <p:grpSpPr>
              <a:xfrm rot="0">
                <a:off x="1776032" y="2508097"/>
                <a:ext cx="4319968" cy="1406821"/>
                <a:chOff x="1948814" y="1316267"/>
                <a:chExt cx="4319968" cy="1406821"/>
              </a:xfrm>
            </p:grpSpPr>
            <p:sp>
              <p:nvSpPr>
                <p:cNvPr id="167" name="TextBox 76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1948814" y="1316267"/>
                  <a:ext cx="4319968" cy="3937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 algn="l">
                    <a:lnSpc>
                      <a:spcPct val="100000"/>
                    </a:lnSpc>
                    <a:buNone/>
                  </a:pPr>
                  <a:r>
                    <a:rPr lang="zh-CN" sz="1800" b="1">
                      <a:solidFill>
                        <a:srgbClr val="00B050">
                          <a:alpha val="100000"/>
                        </a:srgbClr>
                      </a:solidFill>
                      <a:latin typeface="默认字体"/>
                      <a:ea typeface="默认字体"/>
                      <a:cs typeface="等线" panose="02010600030101010101" charset="-122"/>
                      <a:sym typeface="思源宋体 CN"/>
                    </a:rPr>
                    <a:t>政治智慧的体现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168" name="文本框 54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1948814" y="1594203"/>
                  <a:ext cx="4319968" cy="112888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 algn="l">
                    <a:lnSpc>
                      <a:spcPct val="130000"/>
                    </a:lnSpc>
                    <a:buNone/>
                  </a:pPr>
                  <a:r>
                    <a:rPr lang="zh-CN" sz="1400">
                      <a:solidFill>
                        <a:schemeClr val="tx1">
                          <a:alpha val="100000"/>
                        </a:schemeClr>
                      </a:solidFill>
                      <a:latin typeface="默认字体"/>
                      <a:ea typeface="默认字体"/>
                      <a:cs typeface="等线" panose="02010600030101010101" charset="-122"/>
                      <a:sym typeface="思源宋体 CN"/>
                    </a:rPr>
                    <a:t>刘备善于利用人心，通过结交贤士、广施仁政等方式，逐步壮大了自己的势力，这种政治智慧在管理和领导中同样具有重要价值。</a:t>
                  </a:r>
                  <a:endParaRPr lang="zh-CN" sz="1400">
                    <a:solidFill>
                      <a:schemeClr val="tx1">
                        <a:alpha val="100000"/>
                      </a:schemeClr>
                    </a:solidFill>
                    <a:latin typeface="默认字体"/>
                    <a:ea typeface="默认字体"/>
                    <a:cs typeface="等线" panose="02010600030101010101" charset="-122"/>
                    <a:sym typeface="思源宋体 CN"/>
                  </a:endParaRPr>
                </a:p>
              </p:txBody>
            </p:sp>
          </p:grpSp>
        </p:grpSp>
        <p:grpSp>
          <p:nvGrpSpPr>
            <p:cNvPr id="169" name="组合 168"/>
            <p:cNvGrpSpPr/>
            <p:nvPr/>
          </p:nvGrpSpPr>
          <p:grpSpPr>
            <a:xfrm rot="0">
              <a:off x="963294" y="4618841"/>
              <a:ext cx="5132706" cy="1398776"/>
              <a:chOff x="963294" y="3696718"/>
              <a:chExt cx="5132706" cy="1398776"/>
            </a:xfrm>
          </p:grpSpPr>
          <p:grpSp>
            <p:nvGrpSpPr>
              <p:cNvPr id="170" name="Group 22"/>
              <p:cNvGrpSpPr/>
              <p:nvPr/>
            </p:nvGrpSpPr>
            <p:grpSpPr>
              <a:xfrm rot="0">
                <a:off x="963294" y="3944685"/>
                <a:ext cx="546100" cy="549911"/>
                <a:chOff x="5931156" y="3059486"/>
                <a:chExt cx="644626" cy="649224"/>
              </a:xfrm>
            </p:grpSpPr>
            <p:sp>
              <p:nvSpPr>
                <p:cNvPr id="171" name="Oval 23"/>
                <p:cNvSpPr/>
                <p:nvPr/>
              </p:nvSpPr>
              <p:spPr>
                <a:xfrm>
                  <a:off x="5931156" y="3059486"/>
                  <a:ext cx="644626" cy="649224"/>
                </a:xfrm>
                <a:prstGeom prst="ellipse">
                  <a:avLst/>
                </a:prstGeom>
                <a:solidFill>
                  <a:schemeClr val="accent1">
                    <a:alpha val="10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/>
                  <a:endParaRPr sz="1865">
                    <a:solidFill>
                      <a:schemeClr val="bg1">
                        <a:lumMod val="50000"/>
                        <a:alpha val="100000"/>
                      </a:schemeClr>
                    </a:solidFill>
                    <a:latin typeface="默认字体"/>
                    <a:ea typeface="默认字体"/>
                    <a:cs typeface="等线" panose="02010600030101010101" charset="-122"/>
                    <a:sym typeface="思源宋体 CN"/>
                  </a:endParaRPr>
                </a:p>
              </p:txBody>
            </p:sp>
            <p:sp>
              <p:nvSpPr>
                <p:cNvPr id="172" name="Freeform: Shape 24"/>
                <p:cNvSpPr/>
                <p:nvPr/>
              </p:nvSpPr>
              <p:spPr bwMode="auto">
                <a:xfrm>
                  <a:off x="6058775" y="3227031"/>
                  <a:ext cx="398463" cy="345165"/>
                </a:xfrm>
                <a:custGeom>
                  <a:avLst/>
                  <a:gdLst/>
                  <a:ahLst/>
                  <a:cxnLst>
                    <a:cxn ang="0">
                      <a:pos x="67" y="63"/>
                    </a:cxn>
                    <a:cxn ang="0">
                      <a:pos x="0" y="57"/>
                    </a:cxn>
                    <a:cxn ang="0">
                      <a:pos x="7" y="0"/>
                    </a:cxn>
                    <a:cxn ang="0">
                      <a:pos x="73" y="6"/>
                    </a:cxn>
                    <a:cxn ang="0">
                      <a:pos x="15" y="7"/>
                    </a:cxn>
                    <a:cxn ang="0">
                      <a:pos x="8" y="4"/>
                    </a:cxn>
                    <a:cxn ang="0">
                      <a:pos x="5" y="12"/>
                    </a:cxn>
                    <a:cxn ang="0">
                      <a:pos x="13" y="14"/>
                    </a:cxn>
                    <a:cxn ang="0">
                      <a:pos x="15" y="7"/>
                    </a:cxn>
                    <a:cxn ang="0">
                      <a:pos x="13" y="19"/>
                    </a:cxn>
                    <a:cxn ang="0">
                      <a:pos x="5" y="21"/>
                    </a:cxn>
                    <a:cxn ang="0">
                      <a:pos x="8" y="29"/>
                    </a:cxn>
                    <a:cxn ang="0">
                      <a:pos x="15" y="26"/>
                    </a:cxn>
                    <a:cxn ang="0">
                      <a:pos x="15" y="36"/>
                    </a:cxn>
                    <a:cxn ang="0">
                      <a:pos x="8" y="34"/>
                    </a:cxn>
                    <a:cxn ang="0">
                      <a:pos x="5" y="41"/>
                    </a:cxn>
                    <a:cxn ang="0">
                      <a:pos x="13" y="43"/>
                    </a:cxn>
                    <a:cxn ang="0">
                      <a:pos x="15" y="36"/>
                    </a:cxn>
                    <a:cxn ang="0">
                      <a:pos x="13" y="48"/>
                    </a:cxn>
                    <a:cxn ang="0">
                      <a:pos x="5" y="51"/>
                    </a:cxn>
                    <a:cxn ang="0">
                      <a:pos x="8" y="58"/>
                    </a:cxn>
                    <a:cxn ang="0">
                      <a:pos x="15" y="55"/>
                    </a:cxn>
                    <a:cxn ang="0">
                      <a:pos x="54" y="7"/>
                    </a:cxn>
                    <a:cxn ang="0">
                      <a:pos x="22" y="4"/>
                    </a:cxn>
                    <a:cxn ang="0">
                      <a:pos x="20" y="26"/>
                    </a:cxn>
                    <a:cxn ang="0">
                      <a:pos x="51" y="29"/>
                    </a:cxn>
                    <a:cxn ang="0">
                      <a:pos x="54" y="7"/>
                    </a:cxn>
                    <a:cxn ang="0">
                      <a:pos x="51" y="34"/>
                    </a:cxn>
                    <a:cxn ang="0">
                      <a:pos x="20" y="36"/>
                    </a:cxn>
                    <a:cxn ang="0">
                      <a:pos x="22" y="58"/>
                    </a:cxn>
                    <a:cxn ang="0">
                      <a:pos x="54" y="55"/>
                    </a:cxn>
                    <a:cxn ang="0">
                      <a:pos x="68" y="7"/>
                    </a:cxn>
                    <a:cxn ang="0">
                      <a:pos x="61" y="4"/>
                    </a:cxn>
                    <a:cxn ang="0">
                      <a:pos x="59" y="12"/>
                    </a:cxn>
                    <a:cxn ang="0">
                      <a:pos x="66" y="14"/>
                    </a:cxn>
                    <a:cxn ang="0">
                      <a:pos x="68" y="7"/>
                    </a:cxn>
                    <a:cxn ang="0">
                      <a:pos x="66" y="19"/>
                    </a:cxn>
                    <a:cxn ang="0">
                      <a:pos x="59" y="21"/>
                    </a:cxn>
                    <a:cxn ang="0">
                      <a:pos x="61" y="29"/>
                    </a:cxn>
                    <a:cxn ang="0">
                      <a:pos x="68" y="26"/>
                    </a:cxn>
                    <a:cxn ang="0">
                      <a:pos x="68" y="36"/>
                    </a:cxn>
                    <a:cxn ang="0">
                      <a:pos x="61" y="34"/>
                    </a:cxn>
                    <a:cxn ang="0">
                      <a:pos x="59" y="41"/>
                    </a:cxn>
                    <a:cxn ang="0">
                      <a:pos x="66" y="43"/>
                    </a:cxn>
                    <a:cxn ang="0">
                      <a:pos x="68" y="36"/>
                    </a:cxn>
                    <a:cxn ang="0">
                      <a:pos x="66" y="48"/>
                    </a:cxn>
                    <a:cxn ang="0">
                      <a:pos x="59" y="51"/>
                    </a:cxn>
                    <a:cxn ang="0">
                      <a:pos x="61" y="58"/>
                    </a:cxn>
                    <a:cxn ang="0">
                      <a:pos x="68" y="55"/>
                    </a:cxn>
                  </a:cxnLst>
                  <a:rect l="0" t="0" r="r" b="b"/>
                  <a:pathLst>
                    <a:path w="73" h="63">
                      <a:moveTo>
                        <a:pt x="73" y="57"/>
                      </a:moveTo>
                      <a:cubicBezTo>
                        <a:pt x="73" y="60"/>
                        <a:pt x="71" y="63"/>
                        <a:pt x="67" y="63"/>
                      </a:cubicBezTo>
                      <a:cubicBezTo>
                        <a:pt x="7" y="63"/>
                        <a:pt x="7" y="63"/>
                        <a:pt x="7" y="63"/>
                      </a:cubicBezTo>
                      <a:cubicBezTo>
                        <a:pt x="3" y="63"/>
                        <a:pt x="0" y="60"/>
                        <a:pt x="0" y="57"/>
                      </a:cubicBezTo>
                      <a:cubicBezTo>
                        <a:pt x="0" y="6"/>
                        <a:pt x="0" y="6"/>
                        <a:pt x="0" y="6"/>
                      </a:cubicBezTo>
                      <a:cubicBezTo>
                        <a:pt x="0" y="2"/>
                        <a:pt x="3" y="0"/>
                        <a:pt x="7" y="0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71" y="0"/>
                        <a:pt x="73" y="2"/>
                        <a:pt x="73" y="6"/>
                      </a:cubicBezTo>
                      <a:lnTo>
                        <a:pt x="73" y="57"/>
                      </a:lnTo>
                      <a:close/>
                      <a:moveTo>
                        <a:pt x="15" y="7"/>
                      </a:moveTo>
                      <a:cubicBezTo>
                        <a:pt x="15" y="6"/>
                        <a:pt x="14" y="4"/>
                        <a:pt x="13" y="4"/>
                      </a:cubicBezTo>
                      <a:cubicBezTo>
                        <a:pt x="8" y="4"/>
                        <a:pt x="8" y="4"/>
                        <a:pt x="8" y="4"/>
                      </a:cubicBezTo>
                      <a:cubicBezTo>
                        <a:pt x="6" y="4"/>
                        <a:pt x="5" y="6"/>
                        <a:pt x="5" y="7"/>
                      </a:cubicBezTo>
                      <a:cubicBezTo>
                        <a:pt x="5" y="12"/>
                        <a:pt x="5" y="12"/>
                        <a:pt x="5" y="12"/>
                      </a:cubicBezTo>
                      <a:cubicBezTo>
                        <a:pt x="5" y="13"/>
                        <a:pt x="6" y="14"/>
                        <a:pt x="8" y="14"/>
                      </a:cubicBezTo>
                      <a:cubicBezTo>
                        <a:pt x="13" y="14"/>
                        <a:pt x="13" y="14"/>
                        <a:pt x="13" y="14"/>
                      </a:cubicBezTo>
                      <a:cubicBezTo>
                        <a:pt x="14" y="14"/>
                        <a:pt x="15" y="13"/>
                        <a:pt x="15" y="12"/>
                      </a:cubicBezTo>
                      <a:lnTo>
                        <a:pt x="15" y="7"/>
                      </a:lnTo>
                      <a:close/>
                      <a:moveTo>
                        <a:pt x="15" y="21"/>
                      </a:moveTo>
                      <a:cubicBezTo>
                        <a:pt x="15" y="20"/>
                        <a:pt x="14" y="19"/>
                        <a:pt x="13" y="19"/>
                      </a:cubicBezTo>
                      <a:cubicBezTo>
                        <a:pt x="8" y="19"/>
                        <a:pt x="8" y="19"/>
                        <a:pt x="8" y="19"/>
                      </a:cubicBezTo>
                      <a:cubicBezTo>
                        <a:pt x="6" y="19"/>
                        <a:pt x="5" y="20"/>
                        <a:pt x="5" y="21"/>
                      </a:cubicBezTo>
                      <a:cubicBezTo>
                        <a:pt x="5" y="26"/>
                        <a:pt x="5" y="26"/>
                        <a:pt x="5" y="26"/>
                      </a:cubicBezTo>
                      <a:cubicBezTo>
                        <a:pt x="5" y="28"/>
                        <a:pt x="6" y="29"/>
                        <a:pt x="8" y="29"/>
                      </a:cubicBezTo>
                      <a:cubicBezTo>
                        <a:pt x="13" y="29"/>
                        <a:pt x="13" y="29"/>
                        <a:pt x="13" y="29"/>
                      </a:cubicBezTo>
                      <a:cubicBezTo>
                        <a:pt x="14" y="29"/>
                        <a:pt x="15" y="28"/>
                        <a:pt x="15" y="26"/>
                      </a:cubicBezTo>
                      <a:lnTo>
                        <a:pt x="15" y="21"/>
                      </a:lnTo>
                      <a:close/>
                      <a:moveTo>
                        <a:pt x="15" y="36"/>
                      </a:moveTo>
                      <a:cubicBezTo>
                        <a:pt x="15" y="35"/>
                        <a:pt x="14" y="34"/>
                        <a:pt x="13" y="34"/>
                      </a:cubicBezTo>
                      <a:cubicBezTo>
                        <a:pt x="8" y="34"/>
                        <a:pt x="8" y="34"/>
                        <a:pt x="8" y="34"/>
                      </a:cubicBezTo>
                      <a:cubicBezTo>
                        <a:pt x="6" y="34"/>
                        <a:pt x="5" y="35"/>
                        <a:pt x="5" y="36"/>
                      </a:cubicBezTo>
                      <a:cubicBezTo>
                        <a:pt x="5" y="41"/>
                        <a:pt x="5" y="41"/>
                        <a:pt x="5" y="41"/>
                      </a:cubicBezTo>
                      <a:cubicBezTo>
                        <a:pt x="5" y="42"/>
                        <a:pt x="6" y="43"/>
                        <a:pt x="8" y="43"/>
                      </a:cubicBezTo>
                      <a:cubicBezTo>
                        <a:pt x="13" y="43"/>
                        <a:pt x="13" y="43"/>
                        <a:pt x="13" y="43"/>
                      </a:cubicBezTo>
                      <a:cubicBezTo>
                        <a:pt x="14" y="43"/>
                        <a:pt x="15" y="42"/>
                        <a:pt x="15" y="41"/>
                      </a:cubicBezTo>
                      <a:lnTo>
                        <a:pt x="15" y="36"/>
                      </a:lnTo>
                      <a:close/>
                      <a:moveTo>
                        <a:pt x="15" y="51"/>
                      </a:moveTo>
                      <a:cubicBezTo>
                        <a:pt x="15" y="49"/>
                        <a:pt x="14" y="48"/>
                        <a:pt x="13" y="48"/>
                      </a:cubicBezTo>
                      <a:cubicBezTo>
                        <a:pt x="8" y="48"/>
                        <a:pt x="8" y="48"/>
                        <a:pt x="8" y="48"/>
                      </a:cubicBezTo>
                      <a:cubicBezTo>
                        <a:pt x="6" y="48"/>
                        <a:pt x="5" y="49"/>
                        <a:pt x="5" y="51"/>
                      </a:cubicBezTo>
                      <a:cubicBezTo>
                        <a:pt x="5" y="55"/>
                        <a:pt x="5" y="55"/>
                        <a:pt x="5" y="55"/>
                      </a:cubicBezTo>
                      <a:cubicBezTo>
                        <a:pt x="5" y="57"/>
                        <a:pt x="6" y="58"/>
                        <a:pt x="8" y="58"/>
                      </a:cubicBezTo>
                      <a:cubicBezTo>
                        <a:pt x="13" y="58"/>
                        <a:pt x="13" y="58"/>
                        <a:pt x="13" y="58"/>
                      </a:cubicBezTo>
                      <a:cubicBezTo>
                        <a:pt x="14" y="58"/>
                        <a:pt x="15" y="57"/>
                        <a:pt x="15" y="55"/>
                      </a:cubicBezTo>
                      <a:lnTo>
                        <a:pt x="15" y="51"/>
                      </a:lnTo>
                      <a:close/>
                      <a:moveTo>
                        <a:pt x="54" y="7"/>
                      </a:moveTo>
                      <a:cubicBezTo>
                        <a:pt x="54" y="6"/>
                        <a:pt x="53" y="4"/>
                        <a:pt x="51" y="4"/>
                      </a:cubicBezTo>
                      <a:cubicBezTo>
                        <a:pt x="22" y="4"/>
                        <a:pt x="22" y="4"/>
                        <a:pt x="22" y="4"/>
                      </a:cubicBezTo>
                      <a:cubicBezTo>
                        <a:pt x="21" y="4"/>
                        <a:pt x="20" y="6"/>
                        <a:pt x="20" y="7"/>
                      </a:cubicBezTo>
                      <a:cubicBezTo>
                        <a:pt x="20" y="26"/>
                        <a:pt x="20" y="26"/>
                        <a:pt x="20" y="26"/>
                      </a:cubicBezTo>
                      <a:cubicBezTo>
                        <a:pt x="20" y="28"/>
                        <a:pt x="21" y="29"/>
                        <a:pt x="22" y="29"/>
                      </a:cubicBezTo>
                      <a:cubicBezTo>
                        <a:pt x="51" y="29"/>
                        <a:pt x="51" y="29"/>
                        <a:pt x="51" y="29"/>
                      </a:cubicBezTo>
                      <a:cubicBezTo>
                        <a:pt x="53" y="29"/>
                        <a:pt x="54" y="28"/>
                        <a:pt x="54" y="26"/>
                      </a:cubicBezTo>
                      <a:lnTo>
                        <a:pt x="54" y="7"/>
                      </a:lnTo>
                      <a:close/>
                      <a:moveTo>
                        <a:pt x="54" y="36"/>
                      </a:moveTo>
                      <a:cubicBezTo>
                        <a:pt x="54" y="35"/>
                        <a:pt x="53" y="34"/>
                        <a:pt x="51" y="34"/>
                      </a:cubicBezTo>
                      <a:cubicBezTo>
                        <a:pt x="22" y="34"/>
                        <a:pt x="22" y="34"/>
                        <a:pt x="22" y="34"/>
                      </a:cubicBezTo>
                      <a:cubicBezTo>
                        <a:pt x="21" y="34"/>
                        <a:pt x="20" y="35"/>
                        <a:pt x="20" y="36"/>
                      </a:cubicBezTo>
                      <a:cubicBezTo>
                        <a:pt x="20" y="55"/>
                        <a:pt x="20" y="55"/>
                        <a:pt x="20" y="55"/>
                      </a:cubicBezTo>
                      <a:cubicBezTo>
                        <a:pt x="20" y="57"/>
                        <a:pt x="21" y="58"/>
                        <a:pt x="22" y="58"/>
                      </a:cubicBezTo>
                      <a:cubicBezTo>
                        <a:pt x="51" y="58"/>
                        <a:pt x="51" y="58"/>
                        <a:pt x="51" y="58"/>
                      </a:cubicBezTo>
                      <a:cubicBezTo>
                        <a:pt x="53" y="58"/>
                        <a:pt x="54" y="57"/>
                        <a:pt x="54" y="55"/>
                      </a:cubicBezTo>
                      <a:lnTo>
                        <a:pt x="54" y="36"/>
                      </a:lnTo>
                      <a:close/>
                      <a:moveTo>
                        <a:pt x="68" y="7"/>
                      </a:moveTo>
                      <a:cubicBezTo>
                        <a:pt x="68" y="6"/>
                        <a:pt x="67" y="4"/>
                        <a:pt x="66" y="4"/>
                      </a:cubicBezTo>
                      <a:cubicBezTo>
                        <a:pt x="61" y="4"/>
                        <a:pt x="61" y="4"/>
                        <a:pt x="61" y="4"/>
                      </a:cubicBezTo>
                      <a:cubicBezTo>
                        <a:pt x="60" y="4"/>
                        <a:pt x="59" y="6"/>
                        <a:pt x="59" y="7"/>
                      </a:cubicBezTo>
                      <a:cubicBezTo>
                        <a:pt x="59" y="12"/>
                        <a:pt x="59" y="12"/>
                        <a:pt x="59" y="12"/>
                      </a:cubicBezTo>
                      <a:cubicBezTo>
                        <a:pt x="59" y="13"/>
                        <a:pt x="60" y="14"/>
                        <a:pt x="61" y="14"/>
                      </a:cubicBezTo>
                      <a:cubicBezTo>
                        <a:pt x="66" y="14"/>
                        <a:pt x="66" y="14"/>
                        <a:pt x="66" y="14"/>
                      </a:cubicBezTo>
                      <a:cubicBezTo>
                        <a:pt x="67" y="14"/>
                        <a:pt x="68" y="13"/>
                        <a:pt x="68" y="12"/>
                      </a:cubicBezTo>
                      <a:lnTo>
                        <a:pt x="68" y="7"/>
                      </a:lnTo>
                      <a:close/>
                      <a:moveTo>
                        <a:pt x="68" y="21"/>
                      </a:moveTo>
                      <a:cubicBezTo>
                        <a:pt x="68" y="20"/>
                        <a:pt x="67" y="19"/>
                        <a:pt x="66" y="19"/>
                      </a:cubicBezTo>
                      <a:cubicBezTo>
                        <a:pt x="61" y="19"/>
                        <a:pt x="61" y="19"/>
                        <a:pt x="61" y="19"/>
                      </a:cubicBezTo>
                      <a:cubicBezTo>
                        <a:pt x="60" y="19"/>
                        <a:pt x="59" y="20"/>
                        <a:pt x="59" y="21"/>
                      </a:cubicBezTo>
                      <a:cubicBezTo>
                        <a:pt x="59" y="26"/>
                        <a:pt x="59" y="26"/>
                        <a:pt x="59" y="26"/>
                      </a:cubicBezTo>
                      <a:cubicBezTo>
                        <a:pt x="59" y="28"/>
                        <a:pt x="60" y="29"/>
                        <a:pt x="61" y="29"/>
                      </a:cubicBezTo>
                      <a:cubicBezTo>
                        <a:pt x="66" y="29"/>
                        <a:pt x="66" y="29"/>
                        <a:pt x="66" y="29"/>
                      </a:cubicBezTo>
                      <a:cubicBezTo>
                        <a:pt x="67" y="29"/>
                        <a:pt x="68" y="28"/>
                        <a:pt x="68" y="26"/>
                      </a:cubicBezTo>
                      <a:lnTo>
                        <a:pt x="68" y="21"/>
                      </a:lnTo>
                      <a:close/>
                      <a:moveTo>
                        <a:pt x="68" y="36"/>
                      </a:moveTo>
                      <a:cubicBezTo>
                        <a:pt x="68" y="35"/>
                        <a:pt x="67" y="34"/>
                        <a:pt x="66" y="34"/>
                      </a:cubicBezTo>
                      <a:cubicBezTo>
                        <a:pt x="61" y="34"/>
                        <a:pt x="61" y="34"/>
                        <a:pt x="61" y="34"/>
                      </a:cubicBezTo>
                      <a:cubicBezTo>
                        <a:pt x="60" y="34"/>
                        <a:pt x="59" y="35"/>
                        <a:pt x="59" y="36"/>
                      </a:cubicBezTo>
                      <a:cubicBezTo>
                        <a:pt x="59" y="41"/>
                        <a:pt x="59" y="41"/>
                        <a:pt x="59" y="41"/>
                      </a:cubicBezTo>
                      <a:cubicBezTo>
                        <a:pt x="59" y="42"/>
                        <a:pt x="60" y="43"/>
                        <a:pt x="61" y="43"/>
                      </a:cubicBezTo>
                      <a:cubicBezTo>
                        <a:pt x="66" y="43"/>
                        <a:pt x="66" y="43"/>
                        <a:pt x="66" y="43"/>
                      </a:cubicBezTo>
                      <a:cubicBezTo>
                        <a:pt x="67" y="43"/>
                        <a:pt x="68" y="42"/>
                        <a:pt x="68" y="41"/>
                      </a:cubicBezTo>
                      <a:lnTo>
                        <a:pt x="68" y="36"/>
                      </a:lnTo>
                      <a:close/>
                      <a:moveTo>
                        <a:pt x="68" y="51"/>
                      </a:moveTo>
                      <a:cubicBezTo>
                        <a:pt x="68" y="49"/>
                        <a:pt x="67" y="48"/>
                        <a:pt x="66" y="48"/>
                      </a:cubicBezTo>
                      <a:cubicBezTo>
                        <a:pt x="61" y="48"/>
                        <a:pt x="61" y="48"/>
                        <a:pt x="61" y="48"/>
                      </a:cubicBezTo>
                      <a:cubicBezTo>
                        <a:pt x="60" y="48"/>
                        <a:pt x="59" y="49"/>
                        <a:pt x="59" y="51"/>
                      </a:cubicBezTo>
                      <a:cubicBezTo>
                        <a:pt x="59" y="55"/>
                        <a:pt x="59" y="55"/>
                        <a:pt x="59" y="55"/>
                      </a:cubicBezTo>
                      <a:cubicBezTo>
                        <a:pt x="59" y="57"/>
                        <a:pt x="60" y="58"/>
                        <a:pt x="61" y="58"/>
                      </a:cubicBezTo>
                      <a:cubicBezTo>
                        <a:pt x="66" y="58"/>
                        <a:pt x="66" y="58"/>
                        <a:pt x="66" y="58"/>
                      </a:cubicBezTo>
                      <a:cubicBezTo>
                        <a:pt x="67" y="58"/>
                        <a:pt x="68" y="57"/>
                        <a:pt x="68" y="55"/>
                      </a:cubicBezTo>
                      <a:lnTo>
                        <a:pt x="68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9525">
                  <a:noFill/>
                  <a:round/>
                </a:ln>
              </p:spPr>
              <p:txBody>
                <a:bodyPr anchor="ctr"/>
                <a:lstStyle/>
                <a:p>
                  <a:pPr algn="ctr"/>
                  <a:endParaRPr sz="1865">
                    <a:solidFill>
                      <a:schemeClr val="bg1">
                        <a:lumMod val="50000"/>
                        <a:alpha val="100000"/>
                      </a:schemeClr>
                    </a:solidFill>
                    <a:latin typeface="默认字体"/>
                    <a:ea typeface="默认字体"/>
                    <a:cs typeface="等线" panose="02010600030101010101" charset="-122"/>
                    <a:sym typeface="思源宋体 CN"/>
                  </a:endParaRPr>
                </a:p>
              </p:txBody>
            </p:sp>
          </p:grpSp>
          <p:grpSp>
            <p:nvGrpSpPr>
              <p:cNvPr id="173" name="组合 172"/>
              <p:cNvGrpSpPr/>
              <p:nvPr/>
            </p:nvGrpSpPr>
            <p:grpSpPr>
              <a:xfrm rot="0">
                <a:off x="1776032" y="3696718"/>
                <a:ext cx="4319968" cy="1398776"/>
                <a:chOff x="1948814" y="1324329"/>
                <a:chExt cx="4319968" cy="1398776"/>
              </a:xfrm>
            </p:grpSpPr>
            <p:sp>
              <p:nvSpPr>
                <p:cNvPr id="174" name="TextBox 76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1948814" y="1324329"/>
                  <a:ext cx="4319968" cy="3937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 algn="l">
                    <a:lnSpc>
                      <a:spcPct val="100000"/>
                    </a:lnSpc>
                    <a:buNone/>
                  </a:pPr>
                  <a:r>
                    <a:rPr lang="zh-CN" sz="1800" b="1">
                      <a:solidFill>
                        <a:srgbClr val="00B050">
                          <a:alpha val="100000"/>
                        </a:srgbClr>
                      </a:solidFill>
                      <a:latin typeface="默认字体"/>
                      <a:ea typeface="默认字体"/>
                      <a:cs typeface="等线" panose="02010600030101010101" charset="-122"/>
                      <a:sym typeface="思源宋体 CN"/>
                    </a:rPr>
                    <a:t>面对困境的坚韧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175" name="文本框 54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1948814" y="1594203"/>
                  <a:ext cx="4319968" cy="11289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 algn="l">
                    <a:lnSpc>
                      <a:spcPct val="130000"/>
                    </a:lnSpc>
                    <a:buNone/>
                  </a:pPr>
                  <a:r>
                    <a:rPr lang="zh-CN" sz="1400">
                      <a:solidFill>
                        <a:schemeClr val="tx1">
                          <a:alpha val="100000"/>
                        </a:schemeClr>
                      </a:solidFill>
                      <a:latin typeface="默认字体"/>
                      <a:ea typeface="默认字体"/>
                      <a:cs typeface="等线" panose="02010600030101010101" charset="-122"/>
                      <a:sym typeface="思源宋体 CN"/>
                    </a:rPr>
                    <a:t>刘备在多次失败后仍能保持坚韧不拔的精神，最终建立了蜀汉政权，这种在逆境中不放弃的精神值得我的学习和借鉴。</a:t>
                  </a:r>
                  <a:endParaRPr lang="zh-CN" sz="1400">
                    <a:solidFill>
                      <a:schemeClr val="tx1">
                        <a:alpha val="100000"/>
                      </a:schemeClr>
                    </a:solidFill>
                    <a:latin typeface="默认字体"/>
                    <a:ea typeface="默认字体"/>
                    <a:cs typeface="等线" panose="02010600030101010101" charset="-122"/>
                    <a:sym typeface="思源宋体 CN"/>
                  </a:endParaRPr>
                </a:p>
              </p:txBody>
            </p:sp>
          </p:grpSp>
        </p:grpSp>
      </p:grpSp>
      <p:sp>
        <p:nvSpPr>
          <p:cNvPr id="176" name="文本框 175" descr="{&quot;isTemplate&quot;:true,&quot;type&quot;:&quot;title&quot;,&quot;canOmit&quot;:false,&quot;range&quot;:0}"/>
          <p:cNvSpPr txBox="1"/>
          <p:nvPr/>
        </p:nvSpPr>
        <p:spPr>
          <a:xfrm>
            <a:off x="660396" y="418039"/>
            <a:ext cx="10668000" cy="520700"/>
          </a:xfrm>
          <a:prstGeom prst="rect">
            <a:avLst/>
          </a:prstGeom>
          <a:noFill/>
        </p:spPr>
        <p:txBody>
          <a:bodyPr wrap="square" lIns="90000" tIns="46800" rIns="90000" bIns="46800" rtlCol="0" anchor="b" anchorCtr="0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sz="2800" b="1">
                <a:latin typeface="默认字体"/>
                <a:ea typeface="默认字体"/>
                <a:cs typeface="+mn-cs"/>
              </a:rPr>
              <a:t>刘备的仁德与政治智慧</a:t>
            </a:r>
            <a:endParaRPr lang="en-US" sz="2800" b="1">
              <a:latin typeface="默认字体"/>
              <a:ea typeface="默认字体"/>
              <a:cs typeface="+mn-cs"/>
            </a:endParaRPr>
          </a:p>
        </p:txBody>
      </p:sp>
      <p:pic>
        <p:nvPicPr>
          <p:cNvPr id="177" name="图片 17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9061" y="1467937"/>
            <a:ext cx="4459335" cy="4495815"/>
          </a:xfrm>
          <a:prstGeom prst="rect">
            <a:avLst/>
          </a:prstGeom>
          <a:effectLst>
            <a:glow rad="1003300">
              <a:srgbClr val="0E0E0E">
                <a:alpha val="100000"/>
              </a:srgbClr>
            </a:glow>
            <a:outerShdw sx="36000" sy="36000" rotWithShape="0">
              <a:srgbClr val="000000">
                <a:alpha val="100000"/>
              </a:srgbClr>
            </a:outerShdw>
            <a:reflection endA="300" endPos="0" dir="5400000" sy="-100000" rotWithShape="0"/>
            <a:softEdge rad="635000"/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0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  <p:cond evt="onPrev" delay="0"/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78" name="" descr="{&quot;isTemplate&quot;:true,&quot;type&quot;:&quot;page&quot;,&quot;originSlideId&quot;:&quot;fec7a767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9" name="组合 178" descr="{&quot;isTemplate&quot;:true,&quot;type&quot;:&quot;list&quot;,&quot;alignment&quot;:&quot;left&quot;,&quot;alignmentVertical&quot;:&quot;top&quot;,&quot;canOmit&quot;:false,&quot;scalable&quot;:false,&quot;minItemsCount&quot;:-1}"/>
          <p:cNvGrpSpPr/>
          <p:nvPr/>
        </p:nvGrpSpPr>
        <p:grpSpPr>
          <a:xfrm>
            <a:off x="546848" y="2095362"/>
            <a:ext cx="11098304" cy="3925639"/>
            <a:chOff x="546848" y="2095362"/>
            <a:chExt cx="11098304" cy="3925639"/>
          </a:xfrm>
        </p:grpSpPr>
        <p:grpSp>
          <p:nvGrpSpPr>
            <p:cNvPr id="180" name="组合 179"/>
            <p:cNvGrpSpPr/>
            <p:nvPr/>
          </p:nvGrpSpPr>
          <p:grpSpPr>
            <a:xfrm rot="0">
              <a:off x="546848" y="2095362"/>
              <a:ext cx="7445116" cy="1865439"/>
              <a:chOff x="546848" y="1563549"/>
              <a:chExt cx="7445116" cy="1865439"/>
            </a:xfrm>
          </p:grpSpPr>
          <p:grpSp>
            <p:nvGrpSpPr>
              <p:cNvPr id="181" name="组合 1"/>
              <p:cNvGrpSpPr/>
              <p:nvPr/>
            </p:nvGrpSpPr>
            <p:grpSpPr>
              <a:xfrm>
                <a:off x="4706025" y="1762365"/>
                <a:ext cx="3285939" cy="864011"/>
                <a:chOff x="4652684" y="1837929"/>
                <a:chExt cx="3285939" cy="864011"/>
              </a:xfrm>
            </p:grpSpPr>
            <p:sp>
              <p:nvSpPr>
                <p:cNvPr id="182" name="Oval 5"/>
                <p:cNvSpPr>
                  <a:spLocks noChangeArrowheads="1"/>
                </p:cNvSpPr>
                <p:nvPr/>
              </p:nvSpPr>
              <p:spPr bwMode="auto">
                <a:xfrm>
                  <a:off x="4652684" y="1837929"/>
                  <a:ext cx="861388" cy="8640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 sz="1355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sp>
              <p:nvSpPr>
                <p:cNvPr id="183" name="Freeform 7"/>
                <p:cNvSpPr/>
                <p:nvPr/>
              </p:nvSpPr>
              <p:spPr bwMode="auto">
                <a:xfrm>
                  <a:off x="5428190" y="1846568"/>
                  <a:ext cx="2510433" cy="847284"/>
                </a:xfrm>
                <a:custGeom>
                  <a:avLst/>
                  <a:gdLst>
                    <a:gd name="T0" fmla="*/ 1603 w 1926"/>
                    <a:gd name="T1" fmla="*/ 0 h 647"/>
                    <a:gd name="T2" fmla="*/ 1603 w 1926"/>
                    <a:gd name="T3" fmla="*/ 0 h 647"/>
                    <a:gd name="T4" fmla="*/ 0 w 1926"/>
                    <a:gd name="T5" fmla="*/ 0 h 647"/>
                    <a:gd name="T6" fmla="*/ 150 w 1926"/>
                    <a:gd name="T7" fmla="*/ 325 h 647"/>
                    <a:gd name="T8" fmla="*/ 3 w 1926"/>
                    <a:gd name="T9" fmla="*/ 647 h 647"/>
                    <a:gd name="T10" fmla="*/ 1603 w 1926"/>
                    <a:gd name="T11" fmla="*/ 647 h 647"/>
                    <a:gd name="T12" fmla="*/ 1926 w 1926"/>
                    <a:gd name="T13" fmla="*/ 324 h 647"/>
                    <a:gd name="T14" fmla="*/ 1603 w 1926"/>
                    <a:gd name="T15" fmla="*/ 0 h 64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926" h="647">
                      <a:moveTo>
                        <a:pt x="1603" y="0"/>
                      </a:moveTo>
                      <a:cubicBezTo>
                        <a:pt x="1603" y="0"/>
                        <a:pt x="1603" y="0"/>
                        <a:pt x="1603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92" y="78"/>
                        <a:pt x="150" y="195"/>
                        <a:pt x="150" y="325"/>
                      </a:cubicBezTo>
                      <a:cubicBezTo>
                        <a:pt x="150" y="453"/>
                        <a:pt x="93" y="569"/>
                        <a:pt x="3" y="647"/>
                      </a:cubicBezTo>
                      <a:cubicBezTo>
                        <a:pt x="1603" y="647"/>
                        <a:pt x="1603" y="647"/>
                        <a:pt x="1603" y="647"/>
                      </a:cubicBezTo>
                      <a:cubicBezTo>
                        <a:pt x="1781" y="647"/>
                        <a:pt x="1926" y="502"/>
                        <a:pt x="1926" y="324"/>
                      </a:cubicBezTo>
                      <a:cubicBezTo>
                        <a:pt x="1926" y="145"/>
                        <a:pt x="1781" y="0"/>
                        <a:pt x="1603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 sz="1355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sp>
              <p:nvSpPr>
                <p:cNvPr id="184" name="任意多边形 183"/>
                <p:cNvSpPr>
                  <a:spLocks noChangeAspect="1"/>
                </p:cNvSpPr>
                <p:nvPr/>
              </p:nvSpPr>
              <p:spPr bwMode="auto">
                <a:xfrm>
                  <a:off x="4882845" y="2045018"/>
                  <a:ext cx="393546" cy="461688"/>
                </a:xfrm>
                <a:custGeom>
                  <a:avLst/>
                  <a:gdLst>
                    <a:gd name="T0" fmla="*/ 4448 w 5811"/>
                    <a:gd name="T1" fmla="*/ 4374 h 6827"/>
                    <a:gd name="T2" fmla="*/ 4640 w 5811"/>
                    <a:gd name="T3" fmla="*/ 4074 h 6827"/>
                    <a:gd name="T4" fmla="*/ 5160 w 5811"/>
                    <a:gd name="T5" fmla="*/ 2255 h 6827"/>
                    <a:gd name="T6" fmla="*/ 2905 w 5811"/>
                    <a:gd name="T7" fmla="*/ 0 h 6827"/>
                    <a:gd name="T8" fmla="*/ 650 w 5811"/>
                    <a:gd name="T9" fmla="*/ 2255 h 6827"/>
                    <a:gd name="T10" fmla="*/ 1363 w 5811"/>
                    <a:gd name="T11" fmla="*/ 4373 h 6827"/>
                    <a:gd name="T12" fmla="*/ 0 w 5811"/>
                    <a:gd name="T13" fmla="*/ 5506 h 6827"/>
                    <a:gd name="T14" fmla="*/ 939 w 5811"/>
                    <a:gd name="T15" fmla="*/ 6498 h 6827"/>
                    <a:gd name="T16" fmla="*/ 2905 w 5811"/>
                    <a:gd name="T17" fmla="*/ 6827 h 6827"/>
                    <a:gd name="T18" fmla="*/ 4871 w 5811"/>
                    <a:gd name="T19" fmla="*/ 6498 h 6827"/>
                    <a:gd name="T20" fmla="*/ 5811 w 5811"/>
                    <a:gd name="T21" fmla="*/ 5506 h 6827"/>
                    <a:gd name="T22" fmla="*/ 4448 w 5811"/>
                    <a:gd name="T23" fmla="*/ 4374 h 6827"/>
                    <a:gd name="T24" fmla="*/ 2905 w 5811"/>
                    <a:gd name="T25" fmla="*/ 1551 h 6827"/>
                    <a:gd name="T26" fmla="*/ 3610 w 5811"/>
                    <a:gd name="T27" fmla="*/ 2255 h 6827"/>
                    <a:gd name="T28" fmla="*/ 2905 w 5811"/>
                    <a:gd name="T29" fmla="*/ 2960 h 6827"/>
                    <a:gd name="T30" fmla="*/ 2201 w 5811"/>
                    <a:gd name="T31" fmla="*/ 2255 h 6827"/>
                    <a:gd name="T32" fmla="*/ 2905 w 5811"/>
                    <a:gd name="T33" fmla="*/ 1551 h 6827"/>
                    <a:gd name="T34" fmla="*/ 4675 w 5811"/>
                    <a:gd name="T35" fmla="*/ 6008 h 6827"/>
                    <a:gd name="T36" fmla="*/ 2905 w 5811"/>
                    <a:gd name="T37" fmla="*/ 6298 h 6827"/>
                    <a:gd name="T38" fmla="*/ 1136 w 5811"/>
                    <a:gd name="T39" fmla="*/ 6008 h 6827"/>
                    <a:gd name="T40" fmla="*/ 528 w 5811"/>
                    <a:gd name="T41" fmla="*/ 5506 h 6827"/>
                    <a:gd name="T42" fmla="*/ 1719 w 5811"/>
                    <a:gd name="T43" fmla="*/ 4831 h 6827"/>
                    <a:gd name="T44" fmla="*/ 2761 w 5811"/>
                    <a:gd name="T45" fmla="*/ 5768 h 6827"/>
                    <a:gd name="T46" fmla="*/ 2905 w 5811"/>
                    <a:gd name="T47" fmla="*/ 5812 h 6827"/>
                    <a:gd name="T48" fmla="*/ 3050 w 5811"/>
                    <a:gd name="T49" fmla="*/ 5768 h 6827"/>
                    <a:gd name="T50" fmla="*/ 3666 w 5811"/>
                    <a:gd name="T51" fmla="*/ 5270 h 6827"/>
                    <a:gd name="T52" fmla="*/ 4092 w 5811"/>
                    <a:gd name="T53" fmla="*/ 4831 h 6827"/>
                    <a:gd name="T54" fmla="*/ 5283 w 5811"/>
                    <a:gd name="T55" fmla="*/ 5506 h 6827"/>
                    <a:gd name="T56" fmla="*/ 4675 w 5811"/>
                    <a:gd name="T57" fmla="*/ 6008 h 68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811" h="6827">
                      <a:moveTo>
                        <a:pt x="4448" y="4374"/>
                      </a:moveTo>
                      <a:cubicBezTo>
                        <a:pt x="4517" y="4275"/>
                        <a:pt x="4581" y="4175"/>
                        <a:pt x="4640" y="4074"/>
                      </a:cubicBezTo>
                      <a:cubicBezTo>
                        <a:pt x="4985" y="3483"/>
                        <a:pt x="5160" y="2871"/>
                        <a:pt x="5160" y="2255"/>
                      </a:cubicBezTo>
                      <a:cubicBezTo>
                        <a:pt x="5160" y="1012"/>
                        <a:pt x="4149" y="0"/>
                        <a:pt x="2905" y="0"/>
                      </a:cubicBezTo>
                      <a:cubicBezTo>
                        <a:pt x="1662" y="0"/>
                        <a:pt x="650" y="1012"/>
                        <a:pt x="650" y="2255"/>
                      </a:cubicBezTo>
                      <a:cubicBezTo>
                        <a:pt x="650" y="2973"/>
                        <a:pt x="895" y="3696"/>
                        <a:pt x="1363" y="4373"/>
                      </a:cubicBezTo>
                      <a:cubicBezTo>
                        <a:pt x="501" y="4604"/>
                        <a:pt x="0" y="5014"/>
                        <a:pt x="0" y="5506"/>
                      </a:cubicBezTo>
                      <a:cubicBezTo>
                        <a:pt x="0" y="5903"/>
                        <a:pt x="333" y="6256"/>
                        <a:pt x="939" y="6498"/>
                      </a:cubicBezTo>
                      <a:cubicBezTo>
                        <a:pt x="1469" y="6710"/>
                        <a:pt x="2167" y="6827"/>
                        <a:pt x="2905" y="6827"/>
                      </a:cubicBezTo>
                      <a:cubicBezTo>
                        <a:pt x="3644" y="6827"/>
                        <a:pt x="4342" y="6710"/>
                        <a:pt x="4871" y="6498"/>
                      </a:cubicBezTo>
                      <a:cubicBezTo>
                        <a:pt x="5477" y="6256"/>
                        <a:pt x="5811" y="5903"/>
                        <a:pt x="5811" y="5506"/>
                      </a:cubicBezTo>
                      <a:cubicBezTo>
                        <a:pt x="5811" y="5014"/>
                        <a:pt x="5310" y="4604"/>
                        <a:pt x="4448" y="4374"/>
                      </a:cubicBezTo>
                      <a:close/>
                      <a:moveTo>
                        <a:pt x="2905" y="1551"/>
                      </a:moveTo>
                      <a:cubicBezTo>
                        <a:pt x="3294" y="1551"/>
                        <a:pt x="3610" y="1866"/>
                        <a:pt x="3610" y="2255"/>
                      </a:cubicBezTo>
                      <a:cubicBezTo>
                        <a:pt x="3610" y="2644"/>
                        <a:pt x="3294" y="2960"/>
                        <a:pt x="2905" y="2960"/>
                      </a:cubicBezTo>
                      <a:cubicBezTo>
                        <a:pt x="2516" y="2960"/>
                        <a:pt x="2201" y="2644"/>
                        <a:pt x="2201" y="2255"/>
                      </a:cubicBezTo>
                      <a:cubicBezTo>
                        <a:pt x="2201" y="1866"/>
                        <a:pt x="2516" y="1551"/>
                        <a:pt x="2905" y="1551"/>
                      </a:cubicBezTo>
                      <a:close/>
                      <a:moveTo>
                        <a:pt x="4675" y="6008"/>
                      </a:moveTo>
                      <a:cubicBezTo>
                        <a:pt x="4207" y="6195"/>
                        <a:pt x="3578" y="6298"/>
                        <a:pt x="2905" y="6298"/>
                      </a:cubicBezTo>
                      <a:cubicBezTo>
                        <a:pt x="2233" y="6298"/>
                        <a:pt x="1604" y="6195"/>
                        <a:pt x="1136" y="6008"/>
                      </a:cubicBezTo>
                      <a:cubicBezTo>
                        <a:pt x="766" y="5860"/>
                        <a:pt x="528" y="5663"/>
                        <a:pt x="528" y="5506"/>
                      </a:cubicBezTo>
                      <a:cubicBezTo>
                        <a:pt x="528" y="5295"/>
                        <a:pt x="944" y="4996"/>
                        <a:pt x="1719" y="4831"/>
                      </a:cubicBezTo>
                      <a:cubicBezTo>
                        <a:pt x="2232" y="5420"/>
                        <a:pt x="2739" y="5754"/>
                        <a:pt x="2761" y="5768"/>
                      </a:cubicBezTo>
                      <a:cubicBezTo>
                        <a:pt x="2805" y="5797"/>
                        <a:pt x="2855" y="5812"/>
                        <a:pt x="2905" y="5812"/>
                      </a:cubicBezTo>
                      <a:cubicBezTo>
                        <a:pt x="2956" y="5812"/>
                        <a:pt x="3006" y="5797"/>
                        <a:pt x="3050" y="5768"/>
                      </a:cubicBezTo>
                      <a:cubicBezTo>
                        <a:pt x="3061" y="5761"/>
                        <a:pt x="3327" y="5586"/>
                        <a:pt x="3666" y="5270"/>
                      </a:cubicBezTo>
                      <a:cubicBezTo>
                        <a:pt x="3819" y="5128"/>
                        <a:pt x="3961" y="4982"/>
                        <a:pt x="4092" y="4831"/>
                      </a:cubicBezTo>
                      <a:cubicBezTo>
                        <a:pt x="4866" y="4997"/>
                        <a:pt x="5283" y="5295"/>
                        <a:pt x="5283" y="5506"/>
                      </a:cubicBezTo>
                      <a:cubicBezTo>
                        <a:pt x="5283" y="5663"/>
                        <a:pt x="5044" y="5860"/>
                        <a:pt x="4675" y="600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endParaRPr lang="zh-CN" sz="1355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</p:grpSp>
          <p:grpSp>
            <p:nvGrpSpPr>
              <p:cNvPr id="185" name="组合 184"/>
              <p:cNvGrpSpPr/>
              <p:nvPr/>
            </p:nvGrpSpPr>
            <p:grpSpPr>
              <a:xfrm>
                <a:off x="546848" y="1563549"/>
                <a:ext cx="3600005" cy="1865439"/>
                <a:chOff x="546848" y="1563549"/>
                <a:chExt cx="3600005" cy="1865439"/>
              </a:xfrm>
            </p:grpSpPr>
            <p:sp>
              <p:nvSpPr>
                <p:cNvPr id="186" name="文本框 33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546848" y="1563549"/>
                  <a:ext cx="3600005" cy="5207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lvl="0" indent="0" algn="r">
                    <a:lnSpc>
                      <a:spcPct val="100000"/>
                    </a:lnSpc>
                    <a:buNone/>
                    <a:defRPr sz="1800">
                      <a:solidFill>
                        <a:schemeClr val="tx1">
                          <a:alpha val="100000"/>
                        </a:schemeClr>
                      </a:solidFill>
                      <a:latin typeface="等线" panose="02010600030101010101" charset="-122"/>
                      <a:ea typeface="等线" panose="02010600030101010101" charset="-122"/>
                      <a:cs typeface="+mn-cs"/>
                    </a:defRPr>
                  </a:pPr>
                  <a:r>
                    <a:rPr lang="zh-CN" sz="1800" b="1">
                      <a:latin typeface="默认字体"/>
                      <a:ea typeface="默认字体"/>
                      <a:cs typeface="+mn-cs"/>
                      <a:sym typeface="思源宋体 CN"/>
                    </a:rPr>
                    <a:t>权谋手段的运用</a:t>
                  </a:r>
                  <a:endParaRPr lang="en-US" sz="1865" b="1">
                    <a:solidFill>
                      <a:srgbClr val="6F815D">
                        <a:alpha val="100000"/>
                      </a:srgbClr>
                    </a:solidFill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sp>
              <p:nvSpPr>
                <p:cNvPr id="187" name="文本框 33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546848" y="1988999"/>
                  <a:ext cx="3600005" cy="143998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lvl="0" indent="0" algn="r">
                    <a:lnSpc>
                      <a:spcPct val="130000"/>
                    </a:lnSpc>
                    <a:buNone/>
                    <a:defRPr sz="1800">
                      <a:solidFill>
                        <a:schemeClr val="tx1">
                          <a:alpha val="100000"/>
                        </a:schemeClr>
                      </a:solidFill>
                      <a:latin typeface="等线" panose="02010600030101010101" charset="-122"/>
                      <a:ea typeface="等线" panose="02010600030101010101" charset="-122"/>
                      <a:cs typeface="+mn-cs"/>
                    </a:defRPr>
                  </a:pPr>
                  <a:r>
                    <a:rPr lang="zh-CN" sz="1400">
                      <a:latin typeface="默认字体"/>
                      <a:ea typeface="默认字体"/>
                      <a:cs typeface="+mn-cs"/>
                      <a:sym typeface="思源宋体 CN"/>
                    </a:rPr>
                    <a:t>曹操善于运用权谋手段，如“挟天子以令诸侯”，通过政治手腕巩固了自己的地位，这种权谋对我具有一定的价值。</a:t>
                  </a:r>
                  <a:endParaRPr lang="zh-CN" sz="1400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</p:grpSp>
        </p:grpSp>
        <p:grpSp>
          <p:nvGrpSpPr>
            <p:cNvPr id="188" name="组合 187"/>
            <p:cNvGrpSpPr/>
            <p:nvPr/>
          </p:nvGrpSpPr>
          <p:grpSpPr>
            <a:xfrm rot="0">
              <a:off x="546848" y="4155562"/>
              <a:ext cx="7441870" cy="1865439"/>
              <a:chOff x="546848" y="3623749"/>
              <a:chExt cx="7441870" cy="1865439"/>
            </a:xfrm>
          </p:grpSpPr>
          <p:grpSp>
            <p:nvGrpSpPr>
              <p:cNvPr id="189" name="组合 14"/>
              <p:cNvGrpSpPr/>
              <p:nvPr/>
            </p:nvGrpSpPr>
            <p:grpSpPr>
              <a:xfrm>
                <a:off x="4702779" y="3790567"/>
                <a:ext cx="3285939" cy="864011"/>
                <a:chOff x="4649438" y="3866131"/>
                <a:chExt cx="3285939" cy="864011"/>
              </a:xfrm>
            </p:grpSpPr>
            <p:sp>
              <p:nvSpPr>
                <p:cNvPr id="190" name="Oval 5"/>
                <p:cNvSpPr>
                  <a:spLocks noChangeArrowheads="1"/>
                </p:cNvSpPr>
                <p:nvPr/>
              </p:nvSpPr>
              <p:spPr bwMode="auto">
                <a:xfrm>
                  <a:off x="4649438" y="3866131"/>
                  <a:ext cx="861388" cy="8640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 sz="1355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sp>
              <p:nvSpPr>
                <p:cNvPr id="191" name="Freeform 7"/>
                <p:cNvSpPr/>
                <p:nvPr/>
              </p:nvSpPr>
              <p:spPr bwMode="auto">
                <a:xfrm>
                  <a:off x="5424944" y="3874770"/>
                  <a:ext cx="2510433" cy="847284"/>
                </a:xfrm>
                <a:custGeom>
                  <a:avLst/>
                  <a:gdLst>
                    <a:gd name="T0" fmla="*/ 1603 w 1926"/>
                    <a:gd name="T1" fmla="*/ 0 h 647"/>
                    <a:gd name="T2" fmla="*/ 1603 w 1926"/>
                    <a:gd name="T3" fmla="*/ 0 h 647"/>
                    <a:gd name="T4" fmla="*/ 0 w 1926"/>
                    <a:gd name="T5" fmla="*/ 0 h 647"/>
                    <a:gd name="T6" fmla="*/ 150 w 1926"/>
                    <a:gd name="T7" fmla="*/ 325 h 647"/>
                    <a:gd name="T8" fmla="*/ 3 w 1926"/>
                    <a:gd name="T9" fmla="*/ 647 h 647"/>
                    <a:gd name="T10" fmla="*/ 1603 w 1926"/>
                    <a:gd name="T11" fmla="*/ 647 h 647"/>
                    <a:gd name="T12" fmla="*/ 1926 w 1926"/>
                    <a:gd name="T13" fmla="*/ 324 h 647"/>
                    <a:gd name="T14" fmla="*/ 1603 w 1926"/>
                    <a:gd name="T15" fmla="*/ 0 h 64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926" h="647">
                      <a:moveTo>
                        <a:pt x="1603" y="0"/>
                      </a:moveTo>
                      <a:cubicBezTo>
                        <a:pt x="1603" y="0"/>
                        <a:pt x="1603" y="0"/>
                        <a:pt x="1603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92" y="78"/>
                        <a:pt x="150" y="195"/>
                        <a:pt x="150" y="325"/>
                      </a:cubicBezTo>
                      <a:cubicBezTo>
                        <a:pt x="150" y="453"/>
                        <a:pt x="93" y="569"/>
                        <a:pt x="3" y="647"/>
                      </a:cubicBezTo>
                      <a:cubicBezTo>
                        <a:pt x="1603" y="647"/>
                        <a:pt x="1603" y="647"/>
                        <a:pt x="1603" y="647"/>
                      </a:cubicBezTo>
                      <a:cubicBezTo>
                        <a:pt x="1781" y="647"/>
                        <a:pt x="1926" y="502"/>
                        <a:pt x="1926" y="324"/>
                      </a:cubicBezTo>
                      <a:cubicBezTo>
                        <a:pt x="1926" y="145"/>
                        <a:pt x="1781" y="0"/>
                        <a:pt x="1603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 sz="1355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grpSp>
              <p:nvGrpSpPr>
                <p:cNvPr id="192" name="Group 58"/>
                <p:cNvGrpSpPr/>
                <p:nvPr/>
              </p:nvGrpSpPr>
              <p:grpSpPr>
                <a:xfrm>
                  <a:off x="4900529" y="4057120"/>
                  <a:ext cx="352744" cy="518848"/>
                  <a:chOff x="9209088" y="5059363"/>
                  <a:chExt cx="300038" cy="441324"/>
                </a:xfrm>
                <a:solidFill>
                  <a:schemeClr val="bg1"/>
                </a:solidFill>
              </p:grpSpPr>
              <p:sp>
                <p:nvSpPr>
                  <p:cNvPr id="193" name="Freeform 412"/>
                  <p:cNvSpPr/>
                  <p:nvPr/>
                </p:nvSpPr>
                <p:spPr bwMode="auto">
                  <a:xfrm>
                    <a:off x="9313863" y="5059363"/>
                    <a:ext cx="90488" cy="90487"/>
                  </a:xfrm>
                  <a:custGeom>
                    <a:avLst/>
                    <a:gdLst>
                      <a:gd name="T0" fmla="*/ 343 w 686"/>
                      <a:gd name="T1" fmla="*/ 0 h 686"/>
                      <a:gd name="T2" fmla="*/ 390 w 686"/>
                      <a:gd name="T3" fmla="*/ 3 h 686"/>
                      <a:gd name="T4" fmla="*/ 435 w 686"/>
                      <a:gd name="T5" fmla="*/ 12 h 686"/>
                      <a:gd name="T6" fmla="*/ 477 w 686"/>
                      <a:gd name="T7" fmla="*/ 27 h 686"/>
                      <a:gd name="T8" fmla="*/ 517 w 686"/>
                      <a:gd name="T9" fmla="*/ 46 h 686"/>
                      <a:gd name="T10" fmla="*/ 553 w 686"/>
                      <a:gd name="T11" fmla="*/ 71 h 686"/>
                      <a:gd name="T12" fmla="*/ 586 w 686"/>
                      <a:gd name="T13" fmla="*/ 100 h 686"/>
                      <a:gd name="T14" fmla="*/ 615 w 686"/>
                      <a:gd name="T15" fmla="*/ 133 h 686"/>
                      <a:gd name="T16" fmla="*/ 640 w 686"/>
                      <a:gd name="T17" fmla="*/ 169 h 686"/>
                      <a:gd name="T18" fmla="*/ 659 w 686"/>
                      <a:gd name="T19" fmla="*/ 209 h 686"/>
                      <a:gd name="T20" fmla="*/ 674 w 686"/>
                      <a:gd name="T21" fmla="*/ 251 h 686"/>
                      <a:gd name="T22" fmla="*/ 683 w 686"/>
                      <a:gd name="T23" fmla="*/ 296 h 686"/>
                      <a:gd name="T24" fmla="*/ 686 w 686"/>
                      <a:gd name="T25" fmla="*/ 342 h 686"/>
                      <a:gd name="T26" fmla="*/ 683 w 686"/>
                      <a:gd name="T27" fmla="*/ 389 h 686"/>
                      <a:gd name="T28" fmla="*/ 674 w 686"/>
                      <a:gd name="T29" fmla="*/ 434 h 686"/>
                      <a:gd name="T30" fmla="*/ 659 w 686"/>
                      <a:gd name="T31" fmla="*/ 476 h 686"/>
                      <a:gd name="T32" fmla="*/ 640 w 686"/>
                      <a:gd name="T33" fmla="*/ 516 h 686"/>
                      <a:gd name="T34" fmla="*/ 615 w 686"/>
                      <a:gd name="T35" fmla="*/ 552 h 686"/>
                      <a:gd name="T36" fmla="*/ 586 w 686"/>
                      <a:gd name="T37" fmla="*/ 585 h 686"/>
                      <a:gd name="T38" fmla="*/ 553 w 686"/>
                      <a:gd name="T39" fmla="*/ 614 h 686"/>
                      <a:gd name="T40" fmla="*/ 517 w 686"/>
                      <a:gd name="T41" fmla="*/ 639 h 686"/>
                      <a:gd name="T42" fmla="*/ 477 w 686"/>
                      <a:gd name="T43" fmla="*/ 659 h 686"/>
                      <a:gd name="T44" fmla="*/ 435 w 686"/>
                      <a:gd name="T45" fmla="*/ 674 h 686"/>
                      <a:gd name="T46" fmla="*/ 390 w 686"/>
                      <a:gd name="T47" fmla="*/ 682 h 686"/>
                      <a:gd name="T48" fmla="*/ 343 w 686"/>
                      <a:gd name="T49" fmla="*/ 686 h 686"/>
                      <a:gd name="T50" fmla="*/ 296 w 686"/>
                      <a:gd name="T51" fmla="*/ 682 h 686"/>
                      <a:gd name="T52" fmla="*/ 252 w 686"/>
                      <a:gd name="T53" fmla="*/ 674 h 686"/>
                      <a:gd name="T54" fmla="*/ 210 w 686"/>
                      <a:gd name="T55" fmla="*/ 659 h 686"/>
                      <a:gd name="T56" fmla="*/ 170 w 686"/>
                      <a:gd name="T57" fmla="*/ 639 h 686"/>
                      <a:gd name="T58" fmla="*/ 134 w 686"/>
                      <a:gd name="T59" fmla="*/ 614 h 686"/>
                      <a:gd name="T60" fmla="*/ 101 w 686"/>
                      <a:gd name="T61" fmla="*/ 585 h 686"/>
                      <a:gd name="T62" fmla="*/ 72 w 686"/>
                      <a:gd name="T63" fmla="*/ 552 h 686"/>
                      <a:gd name="T64" fmla="*/ 48 w 686"/>
                      <a:gd name="T65" fmla="*/ 516 h 686"/>
                      <a:gd name="T66" fmla="*/ 27 w 686"/>
                      <a:gd name="T67" fmla="*/ 476 h 686"/>
                      <a:gd name="T68" fmla="*/ 13 w 686"/>
                      <a:gd name="T69" fmla="*/ 434 h 686"/>
                      <a:gd name="T70" fmla="*/ 4 w 686"/>
                      <a:gd name="T71" fmla="*/ 389 h 686"/>
                      <a:gd name="T72" fmla="*/ 0 w 686"/>
                      <a:gd name="T73" fmla="*/ 342 h 686"/>
                      <a:gd name="T74" fmla="*/ 4 w 686"/>
                      <a:gd name="T75" fmla="*/ 296 h 686"/>
                      <a:gd name="T76" fmla="*/ 13 w 686"/>
                      <a:gd name="T77" fmla="*/ 251 h 686"/>
                      <a:gd name="T78" fmla="*/ 27 w 686"/>
                      <a:gd name="T79" fmla="*/ 209 h 686"/>
                      <a:gd name="T80" fmla="*/ 48 w 686"/>
                      <a:gd name="T81" fmla="*/ 169 h 686"/>
                      <a:gd name="T82" fmla="*/ 72 w 686"/>
                      <a:gd name="T83" fmla="*/ 133 h 686"/>
                      <a:gd name="T84" fmla="*/ 101 w 686"/>
                      <a:gd name="T85" fmla="*/ 100 h 686"/>
                      <a:gd name="T86" fmla="*/ 134 w 686"/>
                      <a:gd name="T87" fmla="*/ 71 h 686"/>
                      <a:gd name="T88" fmla="*/ 170 w 686"/>
                      <a:gd name="T89" fmla="*/ 46 h 686"/>
                      <a:gd name="T90" fmla="*/ 210 w 686"/>
                      <a:gd name="T91" fmla="*/ 27 h 686"/>
                      <a:gd name="T92" fmla="*/ 252 w 686"/>
                      <a:gd name="T93" fmla="*/ 12 h 686"/>
                      <a:gd name="T94" fmla="*/ 296 w 686"/>
                      <a:gd name="T95" fmla="*/ 3 h 686"/>
                      <a:gd name="T96" fmla="*/ 343 w 686"/>
                      <a:gd name="T97" fmla="*/ 0 h 68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</a:cxnLst>
                    <a:rect l="0" t="0" r="r" b="b"/>
                    <a:pathLst>
                      <a:path w="686" h="686">
                        <a:moveTo>
                          <a:pt x="343" y="0"/>
                        </a:moveTo>
                        <a:lnTo>
                          <a:pt x="390" y="3"/>
                        </a:lnTo>
                        <a:lnTo>
                          <a:pt x="435" y="12"/>
                        </a:lnTo>
                        <a:lnTo>
                          <a:pt x="477" y="27"/>
                        </a:lnTo>
                        <a:lnTo>
                          <a:pt x="517" y="46"/>
                        </a:lnTo>
                        <a:lnTo>
                          <a:pt x="553" y="71"/>
                        </a:lnTo>
                        <a:lnTo>
                          <a:pt x="586" y="100"/>
                        </a:lnTo>
                        <a:lnTo>
                          <a:pt x="615" y="133"/>
                        </a:lnTo>
                        <a:lnTo>
                          <a:pt x="640" y="169"/>
                        </a:lnTo>
                        <a:lnTo>
                          <a:pt x="659" y="209"/>
                        </a:lnTo>
                        <a:lnTo>
                          <a:pt x="674" y="251"/>
                        </a:lnTo>
                        <a:lnTo>
                          <a:pt x="683" y="296"/>
                        </a:lnTo>
                        <a:lnTo>
                          <a:pt x="686" y="342"/>
                        </a:lnTo>
                        <a:lnTo>
                          <a:pt x="683" y="389"/>
                        </a:lnTo>
                        <a:lnTo>
                          <a:pt x="674" y="434"/>
                        </a:lnTo>
                        <a:lnTo>
                          <a:pt x="659" y="476"/>
                        </a:lnTo>
                        <a:lnTo>
                          <a:pt x="640" y="516"/>
                        </a:lnTo>
                        <a:lnTo>
                          <a:pt x="615" y="552"/>
                        </a:lnTo>
                        <a:lnTo>
                          <a:pt x="586" y="585"/>
                        </a:lnTo>
                        <a:lnTo>
                          <a:pt x="553" y="614"/>
                        </a:lnTo>
                        <a:lnTo>
                          <a:pt x="517" y="639"/>
                        </a:lnTo>
                        <a:lnTo>
                          <a:pt x="477" y="659"/>
                        </a:lnTo>
                        <a:lnTo>
                          <a:pt x="435" y="674"/>
                        </a:lnTo>
                        <a:lnTo>
                          <a:pt x="390" y="682"/>
                        </a:lnTo>
                        <a:lnTo>
                          <a:pt x="343" y="686"/>
                        </a:lnTo>
                        <a:lnTo>
                          <a:pt x="296" y="682"/>
                        </a:lnTo>
                        <a:lnTo>
                          <a:pt x="252" y="674"/>
                        </a:lnTo>
                        <a:lnTo>
                          <a:pt x="210" y="659"/>
                        </a:lnTo>
                        <a:lnTo>
                          <a:pt x="170" y="639"/>
                        </a:lnTo>
                        <a:lnTo>
                          <a:pt x="134" y="614"/>
                        </a:lnTo>
                        <a:lnTo>
                          <a:pt x="101" y="585"/>
                        </a:lnTo>
                        <a:lnTo>
                          <a:pt x="72" y="552"/>
                        </a:lnTo>
                        <a:lnTo>
                          <a:pt x="48" y="516"/>
                        </a:lnTo>
                        <a:lnTo>
                          <a:pt x="27" y="476"/>
                        </a:lnTo>
                        <a:lnTo>
                          <a:pt x="13" y="434"/>
                        </a:lnTo>
                        <a:lnTo>
                          <a:pt x="4" y="389"/>
                        </a:lnTo>
                        <a:lnTo>
                          <a:pt x="0" y="342"/>
                        </a:lnTo>
                        <a:lnTo>
                          <a:pt x="4" y="296"/>
                        </a:lnTo>
                        <a:lnTo>
                          <a:pt x="13" y="251"/>
                        </a:lnTo>
                        <a:lnTo>
                          <a:pt x="27" y="209"/>
                        </a:lnTo>
                        <a:lnTo>
                          <a:pt x="48" y="169"/>
                        </a:lnTo>
                        <a:lnTo>
                          <a:pt x="72" y="133"/>
                        </a:lnTo>
                        <a:lnTo>
                          <a:pt x="101" y="100"/>
                        </a:lnTo>
                        <a:lnTo>
                          <a:pt x="134" y="71"/>
                        </a:lnTo>
                        <a:lnTo>
                          <a:pt x="170" y="46"/>
                        </a:lnTo>
                        <a:lnTo>
                          <a:pt x="210" y="27"/>
                        </a:lnTo>
                        <a:lnTo>
                          <a:pt x="252" y="12"/>
                        </a:lnTo>
                        <a:lnTo>
                          <a:pt x="296" y="3"/>
                        </a:lnTo>
                        <a:lnTo>
                          <a:pt x="343" y="0"/>
                        </a:lnTo>
                        <a:close/>
                      </a:path>
                    </a:pathLst>
                  </a:custGeom>
                  <a:grpFill/>
                  <a:ln w="0">
                    <a:noFill/>
                    <a:prstDash val="solid"/>
                    <a:round/>
                  </a:ln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en-US" sz="1355"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  <p:sp>
                <p:nvSpPr>
                  <p:cNvPr id="194" name="Freeform 413"/>
                  <p:cNvSpPr/>
                  <p:nvPr/>
                </p:nvSpPr>
                <p:spPr bwMode="auto">
                  <a:xfrm>
                    <a:off x="9288463" y="5156200"/>
                    <a:ext cx="141288" cy="344487"/>
                  </a:xfrm>
                  <a:custGeom>
                    <a:avLst/>
                    <a:gdLst>
                      <a:gd name="T0" fmla="*/ 925 w 1073"/>
                      <a:gd name="T1" fmla="*/ 1 h 2605"/>
                      <a:gd name="T2" fmla="*/ 982 w 1073"/>
                      <a:gd name="T3" fmla="*/ 12 h 2605"/>
                      <a:gd name="T4" fmla="*/ 1029 w 1073"/>
                      <a:gd name="T5" fmla="*/ 45 h 2605"/>
                      <a:gd name="T6" fmla="*/ 1061 w 1073"/>
                      <a:gd name="T7" fmla="*/ 91 h 2605"/>
                      <a:gd name="T8" fmla="*/ 1073 w 1073"/>
                      <a:gd name="T9" fmla="*/ 149 h 2605"/>
                      <a:gd name="T10" fmla="*/ 1069 w 1073"/>
                      <a:gd name="T11" fmla="*/ 1419 h 2605"/>
                      <a:gd name="T12" fmla="*/ 1048 w 1073"/>
                      <a:gd name="T13" fmla="*/ 1472 h 2605"/>
                      <a:gd name="T14" fmla="*/ 1007 w 1073"/>
                      <a:gd name="T15" fmla="*/ 1512 h 2605"/>
                      <a:gd name="T16" fmla="*/ 954 w 1073"/>
                      <a:gd name="T17" fmla="*/ 1535 h 2605"/>
                      <a:gd name="T18" fmla="*/ 900 w 1073"/>
                      <a:gd name="T19" fmla="*/ 1536 h 2605"/>
                      <a:gd name="T20" fmla="*/ 854 w 1073"/>
                      <a:gd name="T21" fmla="*/ 1520 h 2605"/>
                      <a:gd name="T22" fmla="*/ 835 w 1073"/>
                      <a:gd name="T23" fmla="*/ 2456 h 2605"/>
                      <a:gd name="T24" fmla="*/ 824 w 1073"/>
                      <a:gd name="T25" fmla="*/ 2515 h 2605"/>
                      <a:gd name="T26" fmla="*/ 792 w 1073"/>
                      <a:gd name="T27" fmla="*/ 2561 h 2605"/>
                      <a:gd name="T28" fmla="*/ 744 w 1073"/>
                      <a:gd name="T29" fmla="*/ 2593 h 2605"/>
                      <a:gd name="T30" fmla="*/ 687 w 1073"/>
                      <a:gd name="T31" fmla="*/ 2605 h 2605"/>
                      <a:gd name="T32" fmla="*/ 629 w 1073"/>
                      <a:gd name="T33" fmla="*/ 2593 h 2605"/>
                      <a:gd name="T34" fmla="*/ 582 w 1073"/>
                      <a:gd name="T35" fmla="*/ 2561 h 2605"/>
                      <a:gd name="T36" fmla="*/ 551 w 1073"/>
                      <a:gd name="T37" fmla="*/ 2515 h 2605"/>
                      <a:gd name="T38" fmla="*/ 539 w 1073"/>
                      <a:gd name="T39" fmla="*/ 2456 h 2605"/>
                      <a:gd name="T40" fmla="*/ 532 w 1073"/>
                      <a:gd name="T41" fmla="*/ 2486 h 2605"/>
                      <a:gd name="T42" fmla="*/ 509 w 1073"/>
                      <a:gd name="T43" fmla="*/ 2539 h 2605"/>
                      <a:gd name="T44" fmla="*/ 469 w 1073"/>
                      <a:gd name="T45" fmla="*/ 2579 h 2605"/>
                      <a:gd name="T46" fmla="*/ 416 w 1073"/>
                      <a:gd name="T47" fmla="*/ 2602 h 2605"/>
                      <a:gd name="T48" fmla="*/ 357 w 1073"/>
                      <a:gd name="T49" fmla="*/ 2602 h 2605"/>
                      <a:gd name="T50" fmla="*/ 304 w 1073"/>
                      <a:gd name="T51" fmla="*/ 2579 h 2605"/>
                      <a:gd name="T52" fmla="*/ 263 w 1073"/>
                      <a:gd name="T53" fmla="*/ 2539 h 2605"/>
                      <a:gd name="T54" fmla="*/ 241 w 1073"/>
                      <a:gd name="T55" fmla="*/ 2486 h 2605"/>
                      <a:gd name="T56" fmla="*/ 238 w 1073"/>
                      <a:gd name="T57" fmla="*/ 1507 h 2605"/>
                      <a:gd name="T58" fmla="*/ 197 w 1073"/>
                      <a:gd name="T59" fmla="*/ 1530 h 2605"/>
                      <a:gd name="T60" fmla="*/ 148 w 1073"/>
                      <a:gd name="T61" fmla="*/ 1538 h 2605"/>
                      <a:gd name="T62" fmla="*/ 91 w 1073"/>
                      <a:gd name="T63" fmla="*/ 1526 h 2605"/>
                      <a:gd name="T64" fmla="*/ 43 w 1073"/>
                      <a:gd name="T65" fmla="*/ 1495 h 2605"/>
                      <a:gd name="T66" fmla="*/ 12 w 1073"/>
                      <a:gd name="T67" fmla="*/ 1447 h 2605"/>
                      <a:gd name="T68" fmla="*/ 0 w 1073"/>
                      <a:gd name="T69" fmla="*/ 1389 h 2605"/>
                      <a:gd name="T70" fmla="*/ 3 w 1073"/>
                      <a:gd name="T71" fmla="*/ 119 h 2605"/>
                      <a:gd name="T72" fmla="*/ 25 w 1073"/>
                      <a:gd name="T73" fmla="*/ 67 h 2605"/>
                      <a:gd name="T74" fmla="*/ 64 w 1073"/>
                      <a:gd name="T75" fmla="*/ 27 h 2605"/>
                      <a:gd name="T76" fmla="*/ 116 w 1073"/>
                      <a:gd name="T77" fmla="*/ 5 h 2605"/>
                      <a:gd name="T78" fmla="*/ 145 w 1073"/>
                      <a:gd name="T79" fmla="*/ 0 h 260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</a:cxnLst>
                    <a:rect l="0" t="0" r="r" b="b"/>
                    <a:pathLst>
                      <a:path w="1073" h="2605">
                        <a:moveTo>
                          <a:pt x="145" y="0"/>
                        </a:moveTo>
                        <a:lnTo>
                          <a:pt x="925" y="1"/>
                        </a:lnTo>
                        <a:lnTo>
                          <a:pt x="954" y="4"/>
                        </a:lnTo>
                        <a:lnTo>
                          <a:pt x="982" y="12"/>
                        </a:lnTo>
                        <a:lnTo>
                          <a:pt x="1007" y="26"/>
                        </a:lnTo>
                        <a:lnTo>
                          <a:pt x="1029" y="45"/>
                        </a:lnTo>
                        <a:lnTo>
                          <a:pt x="1048" y="66"/>
                        </a:lnTo>
                        <a:lnTo>
                          <a:pt x="1061" y="91"/>
                        </a:lnTo>
                        <a:lnTo>
                          <a:pt x="1069" y="119"/>
                        </a:lnTo>
                        <a:lnTo>
                          <a:pt x="1073" y="149"/>
                        </a:lnTo>
                        <a:lnTo>
                          <a:pt x="1073" y="1389"/>
                        </a:lnTo>
                        <a:lnTo>
                          <a:pt x="1069" y="1419"/>
                        </a:lnTo>
                        <a:lnTo>
                          <a:pt x="1061" y="1447"/>
                        </a:lnTo>
                        <a:lnTo>
                          <a:pt x="1048" y="1472"/>
                        </a:lnTo>
                        <a:lnTo>
                          <a:pt x="1029" y="1495"/>
                        </a:lnTo>
                        <a:lnTo>
                          <a:pt x="1007" y="1512"/>
                        </a:lnTo>
                        <a:lnTo>
                          <a:pt x="982" y="1526"/>
                        </a:lnTo>
                        <a:lnTo>
                          <a:pt x="954" y="1535"/>
                        </a:lnTo>
                        <a:lnTo>
                          <a:pt x="925" y="1538"/>
                        </a:lnTo>
                        <a:lnTo>
                          <a:pt x="900" y="1536"/>
                        </a:lnTo>
                        <a:lnTo>
                          <a:pt x="876" y="1530"/>
                        </a:lnTo>
                        <a:lnTo>
                          <a:pt x="854" y="1520"/>
                        </a:lnTo>
                        <a:lnTo>
                          <a:pt x="835" y="1508"/>
                        </a:lnTo>
                        <a:lnTo>
                          <a:pt x="835" y="2456"/>
                        </a:lnTo>
                        <a:lnTo>
                          <a:pt x="833" y="2486"/>
                        </a:lnTo>
                        <a:lnTo>
                          <a:pt x="824" y="2515"/>
                        </a:lnTo>
                        <a:lnTo>
                          <a:pt x="810" y="2539"/>
                        </a:lnTo>
                        <a:lnTo>
                          <a:pt x="792" y="2561"/>
                        </a:lnTo>
                        <a:lnTo>
                          <a:pt x="770" y="2579"/>
                        </a:lnTo>
                        <a:lnTo>
                          <a:pt x="744" y="2593"/>
                        </a:lnTo>
                        <a:lnTo>
                          <a:pt x="717" y="2602"/>
                        </a:lnTo>
                        <a:lnTo>
                          <a:pt x="687" y="2605"/>
                        </a:lnTo>
                        <a:lnTo>
                          <a:pt x="657" y="2602"/>
                        </a:lnTo>
                        <a:lnTo>
                          <a:pt x="629" y="2593"/>
                        </a:lnTo>
                        <a:lnTo>
                          <a:pt x="604" y="2579"/>
                        </a:lnTo>
                        <a:lnTo>
                          <a:pt x="582" y="2561"/>
                        </a:lnTo>
                        <a:lnTo>
                          <a:pt x="564" y="2539"/>
                        </a:lnTo>
                        <a:lnTo>
                          <a:pt x="551" y="2515"/>
                        </a:lnTo>
                        <a:lnTo>
                          <a:pt x="542" y="2486"/>
                        </a:lnTo>
                        <a:lnTo>
                          <a:pt x="539" y="2456"/>
                        </a:lnTo>
                        <a:lnTo>
                          <a:pt x="535" y="2456"/>
                        </a:lnTo>
                        <a:lnTo>
                          <a:pt x="532" y="2486"/>
                        </a:lnTo>
                        <a:lnTo>
                          <a:pt x="523" y="2515"/>
                        </a:lnTo>
                        <a:lnTo>
                          <a:pt x="509" y="2539"/>
                        </a:lnTo>
                        <a:lnTo>
                          <a:pt x="492" y="2561"/>
                        </a:lnTo>
                        <a:lnTo>
                          <a:pt x="469" y="2579"/>
                        </a:lnTo>
                        <a:lnTo>
                          <a:pt x="444" y="2593"/>
                        </a:lnTo>
                        <a:lnTo>
                          <a:pt x="416" y="2602"/>
                        </a:lnTo>
                        <a:lnTo>
                          <a:pt x="386" y="2605"/>
                        </a:lnTo>
                        <a:lnTo>
                          <a:pt x="357" y="2602"/>
                        </a:lnTo>
                        <a:lnTo>
                          <a:pt x="328" y="2593"/>
                        </a:lnTo>
                        <a:lnTo>
                          <a:pt x="304" y="2579"/>
                        </a:lnTo>
                        <a:lnTo>
                          <a:pt x="281" y="2561"/>
                        </a:lnTo>
                        <a:lnTo>
                          <a:pt x="263" y="2539"/>
                        </a:lnTo>
                        <a:lnTo>
                          <a:pt x="250" y="2515"/>
                        </a:lnTo>
                        <a:lnTo>
                          <a:pt x="241" y="2486"/>
                        </a:lnTo>
                        <a:lnTo>
                          <a:pt x="238" y="2456"/>
                        </a:lnTo>
                        <a:lnTo>
                          <a:pt x="238" y="1507"/>
                        </a:lnTo>
                        <a:lnTo>
                          <a:pt x="218" y="1520"/>
                        </a:lnTo>
                        <a:lnTo>
                          <a:pt x="197" y="1530"/>
                        </a:lnTo>
                        <a:lnTo>
                          <a:pt x="173" y="1536"/>
                        </a:lnTo>
                        <a:lnTo>
                          <a:pt x="148" y="1538"/>
                        </a:lnTo>
                        <a:lnTo>
                          <a:pt x="119" y="1535"/>
                        </a:lnTo>
                        <a:lnTo>
                          <a:pt x="91" y="1526"/>
                        </a:lnTo>
                        <a:lnTo>
                          <a:pt x="66" y="1512"/>
                        </a:lnTo>
                        <a:lnTo>
                          <a:pt x="43" y="1495"/>
                        </a:lnTo>
                        <a:lnTo>
                          <a:pt x="25" y="1472"/>
                        </a:lnTo>
                        <a:lnTo>
                          <a:pt x="12" y="1447"/>
                        </a:lnTo>
                        <a:lnTo>
                          <a:pt x="3" y="1419"/>
                        </a:lnTo>
                        <a:lnTo>
                          <a:pt x="0" y="1389"/>
                        </a:lnTo>
                        <a:lnTo>
                          <a:pt x="0" y="149"/>
                        </a:lnTo>
                        <a:lnTo>
                          <a:pt x="3" y="119"/>
                        </a:lnTo>
                        <a:lnTo>
                          <a:pt x="11" y="92"/>
                        </a:lnTo>
                        <a:lnTo>
                          <a:pt x="25" y="67"/>
                        </a:lnTo>
                        <a:lnTo>
                          <a:pt x="42" y="46"/>
                        </a:lnTo>
                        <a:lnTo>
                          <a:pt x="64" y="27"/>
                        </a:lnTo>
                        <a:lnTo>
                          <a:pt x="89" y="13"/>
                        </a:lnTo>
                        <a:lnTo>
                          <a:pt x="116" y="5"/>
                        </a:lnTo>
                        <a:lnTo>
                          <a:pt x="145" y="1"/>
                        </a:lnTo>
                        <a:lnTo>
                          <a:pt x="145" y="0"/>
                        </a:lnTo>
                        <a:close/>
                      </a:path>
                    </a:pathLst>
                  </a:custGeom>
                  <a:grpFill/>
                  <a:ln w="0">
                    <a:noFill/>
                    <a:prstDash val="solid"/>
                    <a:round/>
                  </a:ln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en-US" sz="1355"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  <p:sp>
                <p:nvSpPr>
                  <p:cNvPr id="195" name="Freeform 414"/>
                  <p:cNvSpPr/>
                  <p:nvPr/>
                </p:nvSpPr>
                <p:spPr bwMode="auto">
                  <a:xfrm>
                    <a:off x="9232901" y="5059363"/>
                    <a:ext cx="74613" cy="82550"/>
                  </a:xfrm>
                  <a:custGeom>
                    <a:avLst/>
                    <a:gdLst>
                      <a:gd name="T0" fmla="*/ 314 w 565"/>
                      <a:gd name="T1" fmla="*/ 0 h 629"/>
                      <a:gd name="T2" fmla="*/ 358 w 565"/>
                      <a:gd name="T3" fmla="*/ 3 h 629"/>
                      <a:gd name="T4" fmla="*/ 400 w 565"/>
                      <a:gd name="T5" fmla="*/ 12 h 629"/>
                      <a:gd name="T6" fmla="*/ 439 w 565"/>
                      <a:gd name="T7" fmla="*/ 25 h 629"/>
                      <a:gd name="T8" fmla="*/ 474 w 565"/>
                      <a:gd name="T9" fmla="*/ 44 h 629"/>
                      <a:gd name="T10" fmla="*/ 508 w 565"/>
                      <a:gd name="T11" fmla="*/ 67 h 629"/>
                      <a:gd name="T12" fmla="*/ 538 w 565"/>
                      <a:gd name="T13" fmla="*/ 94 h 629"/>
                      <a:gd name="T14" fmla="*/ 565 w 565"/>
                      <a:gd name="T15" fmla="*/ 125 h 629"/>
                      <a:gd name="T16" fmla="*/ 545 w 565"/>
                      <a:gd name="T17" fmla="*/ 165 h 629"/>
                      <a:gd name="T18" fmla="*/ 528 w 565"/>
                      <a:gd name="T19" fmla="*/ 206 h 629"/>
                      <a:gd name="T20" fmla="*/ 516 w 565"/>
                      <a:gd name="T21" fmla="*/ 250 h 629"/>
                      <a:gd name="T22" fmla="*/ 509 w 565"/>
                      <a:gd name="T23" fmla="*/ 296 h 629"/>
                      <a:gd name="T24" fmla="*/ 507 w 565"/>
                      <a:gd name="T25" fmla="*/ 342 h 629"/>
                      <a:gd name="T26" fmla="*/ 509 w 565"/>
                      <a:gd name="T27" fmla="*/ 391 h 629"/>
                      <a:gd name="T28" fmla="*/ 518 w 565"/>
                      <a:gd name="T29" fmla="*/ 437 h 629"/>
                      <a:gd name="T30" fmla="*/ 530 w 565"/>
                      <a:gd name="T31" fmla="*/ 483 h 629"/>
                      <a:gd name="T32" fmla="*/ 548 w 565"/>
                      <a:gd name="T33" fmla="*/ 525 h 629"/>
                      <a:gd name="T34" fmla="*/ 518 w 565"/>
                      <a:gd name="T35" fmla="*/ 555 h 629"/>
                      <a:gd name="T36" fmla="*/ 483 w 565"/>
                      <a:gd name="T37" fmla="*/ 581 h 629"/>
                      <a:gd name="T38" fmla="*/ 445 w 565"/>
                      <a:gd name="T39" fmla="*/ 601 h 629"/>
                      <a:gd name="T40" fmla="*/ 404 w 565"/>
                      <a:gd name="T41" fmla="*/ 616 h 629"/>
                      <a:gd name="T42" fmla="*/ 361 w 565"/>
                      <a:gd name="T43" fmla="*/ 626 h 629"/>
                      <a:gd name="T44" fmla="*/ 314 w 565"/>
                      <a:gd name="T45" fmla="*/ 629 h 629"/>
                      <a:gd name="T46" fmla="*/ 272 w 565"/>
                      <a:gd name="T47" fmla="*/ 627 h 629"/>
                      <a:gd name="T48" fmla="*/ 231 w 565"/>
                      <a:gd name="T49" fmla="*/ 619 h 629"/>
                      <a:gd name="T50" fmla="*/ 192 w 565"/>
                      <a:gd name="T51" fmla="*/ 605 h 629"/>
                      <a:gd name="T52" fmla="*/ 156 w 565"/>
                      <a:gd name="T53" fmla="*/ 587 h 629"/>
                      <a:gd name="T54" fmla="*/ 122 w 565"/>
                      <a:gd name="T55" fmla="*/ 565 h 629"/>
                      <a:gd name="T56" fmla="*/ 92 w 565"/>
                      <a:gd name="T57" fmla="*/ 538 h 629"/>
                      <a:gd name="T58" fmla="*/ 66 w 565"/>
                      <a:gd name="T59" fmla="*/ 507 h 629"/>
                      <a:gd name="T60" fmla="*/ 43 w 565"/>
                      <a:gd name="T61" fmla="*/ 474 h 629"/>
                      <a:gd name="T62" fmla="*/ 25 w 565"/>
                      <a:gd name="T63" fmla="*/ 437 h 629"/>
                      <a:gd name="T64" fmla="*/ 11 w 565"/>
                      <a:gd name="T65" fmla="*/ 398 h 629"/>
                      <a:gd name="T66" fmla="*/ 2 w 565"/>
                      <a:gd name="T67" fmla="*/ 357 h 629"/>
                      <a:gd name="T68" fmla="*/ 0 w 565"/>
                      <a:gd name="T69" fmla="*/ 315 h 629"/>
                      <a:gd name="T70" fmla="*/ 3 w 565"/>
                      <a:gd name="T71" fmla="*/ 269 h 629"/>
                      <a:gd name="T72" fmla="*/ 13 w 565"/>
                      <a:gd name="T73" fmla="*/ 223 h 629"/>
                      <a:gd name="T74" fmla="*/ 29 w 565"/>
                      <a:gd name="T75" fmla="*/ 182 h 629"/>
                      <a:gd name="T76" fmla="*/ 51 w 565"/>
                      <a:gd name="T77" fmla="*/ 143 h 629"/>
                      <a:gd name="T78" fmla="*/ 77 w 565"/>
                      <a:gd name="T79" fmla="*/ 108 h 629"/>
                      <a:gd name="T80" fmla="*/ 108 w 565"/>
                      <a:gd name="T81" fmla="*/ 76 h 629"/>
                      <a:gd name="T82" fmla="*/ 144 w 565"/>
                      <a:gd name="T83" fmla="*/ 51 h 629"/>
                      <a:gd name="T84" fmla="*/ 183 w 565"/>
                      <a:gd name="T85" fmla="*/ 29 h 629"/>
                      <a:gd name="T86" fmla="*/ 224 w 565"/>
                      <a:gd name="T87" fmla="*/ 13 h 629"/>
                      <a:gd name="T88" fmla="*/ 268 w 565"/>
                      <a:gd name="T89" fmla="*/ 3 h 629"/>
                      <a:gd name="T90" fmla="*/ 314 w 565"/>
                      <a:gd name="T91" fmla="*/ 0 h 6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</a:cxnLst>
                    <a:rect l="0" t="0" r="r" b="b"/>
                    <a:pathLst>
                      <a:path w="565" h="629">
                        <a:moveTo>
                          <a:pt x="314" y="0"/>
                        </a:moveTo>
                        <a:lnTo>
                          <a:pt x="358" y="3"/>
                        </a:lnTo>
                        <a:lnTo>
                          <a:pt x="400" y="12"/>
                        </a:lnTo>
                        <a:lnTo>
                          <a:pt x="439" y="25"/>
                        </a:lnTo>
                        <a:lnTo>
                          <a:pt x="474" y="44"/>
                        </a:lnTo>
                        <a:lnTo>
                          <a:pt x="508" y="67"/>
                        </a:lnTo>
                        <a:lnTo>
                          <a:pt x="538" y="94"/>
                        </a:lnTo>
                        <a:lnTo>
                          <a:pt x="565" y="125"/>
                        </a:lnTo>
                        <a:lnTo>
                          <a:pt x="545" y="165"/>
                        </a:lnTo>
                        <a:lnTo>
                          <a:pt x="528" y="206"/>
                        </a:lnTo>
                        <a:lnTo>
                          <a:pt x="516" y="250"/>
                        </a:lnTo>
                        <a:lnTo>
                          <a:pt x="509" y="296"/>
                        </a:lnTo>
                        <a:lnTo>
                          <a:pt x="507" y="342"/>
                        </a:lnTo>
                        <a:lnTo>
                          <a:pt x="509" y="391"/>
                        </a:lnTo>
                        <a:lnTo>
                          <a:pt x="518" y="437"/>
                        </a:lnTo>
                        <a:lnTo>
                          <a:pt x="530" y="483"/>
                        </a:lnTo>
                        <a:lnTo>
                          <a:pt x="548" y="525"/>
                        </a:lnTo>
                        <a:lnTo>
                          <a:pt x="518" y="555"/>
                        </a:lnTo>
                        <a:lnTo>
                          <a:pt x="483" y="581"/>
                        </a:lnTo>
                        <a:lnTo>
                          <a:pt x="445" y="601"/>
                        </a:lnTo>
                        <a:lnTo>
                          <a:pt x="404" y="616"/>
                        </a:lnTo>
                        <a:lnTo>
                          <a:pt x="361" y="626"/>
                        </a:lnTo>
                        <a:lnTo>
                          <a:pt x="314" y="629"/>
                        </a:lnTo>
                        <a:lnTo>
                          <a:pt x="272" y="627"/>
                        </a:lnTo>
                        <a:lnTo>
                          <a:pt x="231" y="619"/>
                        </a:lnTo>
                        <a:lnTo>
                          <a:pt x="192" y="605"/>
                        </a:lnTo>
                        <a:lnTo>
                          <a:pt x="156" y="587"/>
                        </a:lnTo>
                        <a:lnTo>
                          <a:pt x="122" y="565"/>
                        </a:lnTo>
                        <a:lnTo>
                          <a:pt x="92" y="538"/>
                        </a:lnTo>
                        <a:lnTo>
                          <a:pt x="66" y="507"/>
                        </a:lnTo>
                        <a:lnTo>
                          <a:pt x="43" y="474"/>
                        </a:lnTo>
                        <a:lnTo>
                          <a:pt x="25" y="437"/>
                        </a:lnTo>
                        <a:lnTo>
                          <a:pt x="11" y="398"/>
                        </a:lnTo>
                        <a:lnTo>
                          <a:pt x="2" y="357"/>
                        </a:lnTo>
                        <a:lnTo>
                          <a:pt x="0" y="315"/>
                        </a:lnTo>
                        <a:lnTo>
                          <a:pt x="3" y="269"/>
                        </a:lnTo>
                        <a:lnTo>
                          <a:pt x="13" y="223"/>
                        </a:lnTo>
                        <a:lnTo>
                          <a:pt x="29" y="182"/>
                        </a:lnTo>
                        <a:lnTo>
                          <a:pt x="51" y="143"/>
                        </a:lnTo>
                        <a:lnTo>
                          <a:pt x="77" y="108"/>
                        </a:lnTo>
                        <a:lnTo>
                          <a:pt x="108" y="76"/>
                        </a:lnTo>
                        <a:lnTo>
                          <a:pt x="144" y="51"/>
                        </a:lnTo>
                        <a:lnTo>
                          <a:pt x="183" y="29"/>
                        </a:lnTo>
                        <a:lnTo>
                          <a:pt x="224" y="13"/>
                        </a:lnTo>
                        <a:lnTo>
                          <a:pt x="268" y="3"/>
                        </a:lnTo>
                        <a:lnTo>
                          <a:pt x="314" y="0"/>
                        </a:lnTo>
                        <a:close/>
                      </a:path>
                    </a:pathLst>
                  </a:custGeom>
                  <a:grpFill/>
                  <a:ln w="0">
                    <a:noFill/>
                    <a:prstDash val="solid"/>
                    <a:round/>
                  </a:ln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en-US" sz="1355"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  <p:sp>
                <p:nvSpPr>
                  <p:cNvPr id="196" name="Freeform 415"/>
                  <p:cNvSpPr/>
                  <p:nvPr/>
                </p:nvSpPr>
                <p:spPr bwMode="auto">
                  <a:xfrm>
                    <a:off x="9209088" y="5148263"/>
                    <a:ext cx="96838" cy="317500"/>
                  </a:xfrm>
                  <a:custGeom>
                    <a:avLst/>
                    <a:gdLst>
                      <a:gd name="T0" fmla="*/ 373 w 729"/>
                      <a:gd name="T1" fmla="*/ 0 h 2394"/>
                      <a:gd name="T2" fmla="*/ 510 w 729"/>
                      <a:gd name="T3" fmla="*/ 0 h 2394"/>
                      <a:gd name="T4" fmla="*/ 600 w 729"/>
                      <a:gd name="T5" fmla="*/ 0 h 2394"/>
                      <a:gd name="T6" fmla="*/ 550 w 729"/>
                      <a:gd name="T7" fmla="*/ 46 h 2394"/>
                      <a:gd name="T8" fmla="*/ 513 w 729"/>
                      <a:gd name="T9" fmla="*/ 105 h 2394"/>
                      <a:gd name="T10" fmla="*/ 494 w 729"/>
                      <a:gd name="T11" fmla="*/ 172 h 2394"/>
                      <a:gd name="T12" fmla="*/ 490 w 729"/>
                      <a:gd name="T13" fmla="*/ 1448 h 2394"/>
                      <a:gd name="T14" fmla="*/ 502 w 729"/>
                      <a:gd name="T15" fmla="*/ 1526 h 2394"/>
                      <a:gd name="T16" fmla="*/ 536 w 729"/>
                      <a:gd name="T17" fmla="*/ 1594 h 2394"/>
                      <a:gd name="T18" fmla="*/ 588 w 729"/>
                      <a:gd name="T19" fmla="*/ 1648 h 2394"/>
                      <a:gd name="T20" fmla="*/ 652 w 729"/>
                      <a:gd name="T21" fmla="*/ 1685 h 2394"/>
                      <a:gd name="T22" fmla="*/ 729 w 729"/>
                      <a:gd name="T23" fmla="*/ 1702 h 2394"/>
                      <a:gd name="T24" fmla="*/ 708 w 729"/>
                      <a:gd name="T25" fmla="*/ 2370 h 2394"/>
                      <a:gd name="T26" fmla="*/ 659 w 729"/>
                      <a:gd name="T27" fmla="*/ 2392 h 2394"/>
                      <a:gd name="T28" fmla="*/ 604 w 729"/>
                      <a:gd name="T29" fmla="*/ 2392 h 2394"/>
                      <a:gd name="T30" fmla="*/ 555 w 729"/>
                      <a:gd name="T31" fmla="*/ 2372 h 2394"/>
                      <a:gd name="T32" fmla="*/ 518 w 729"/>
                      <a:gd name="T33" fmla="*/ 2335 h 2394"/>
                      <a:gd name="T34" fmla="*/ 498 w 729"/>
                      <a:gd name="T35" fmla="*/ 2285 h 2394"/>
                      <a:gd name="T36" fmla="*/ 491 w 729"/>
                      <a:gd name="T37" fmla="*/ 2258 h 2394"/>
                      <a:gd name="T38" fmla="*/ 481 w 729"/>
                      <a:gd name="T39" fmla="*/ 2311 h 2394"/>
                      <a:gd name="T40" fmla="*/ 451 w 729"/>
                      <a:gd name="T41" fmla="*/ 2354 h 2394"/>
                      <a:gd name="T42" fmla="*/ 408 w 729"/>
                      <a:gd name="T43" fmla="*/ 2383 h 2394"/>
                      <a:gd name="T44" fmla="*/ 355 w 729"/>
                      <a:gd name="T45" fmla="*/ 2394 h 2394"/>
                      <a:gd name="T46" fmla="*/ 301 w 729"/>
                      <a:gd name="T47" fmla="*/ 2383 h 2394"/>
                      <a:gd name="T48" fmla="*/ 258 w 729"/>
                      <a:gd name="T49" fmla="*/ 2354 h 2394"/>
                      <a:gd name="T50" fmla="*/ 229 w 729"/>
                      <a:gd name="T51" fmla="*/ 2311 h 2394"/>
                      <a:gd name="T52" fmla="*/ 218 w 729"/>
                      <a:gd name="T53" fmla="*/ 2258 h 2394"/>
                      <a:gd name="T54" fmla="*/ 201 w 729"/>
                      <a:gd name="T55" fmla="*/ 1397 h 2394"/>
                      <a:gd name="T56" fmla="*/ 159 w 729"/>
                      <a:gd name="T57" fmla="*/ 1411 h 2394"/>
                      <a:gd name="T58" fmla="*/ 109 w 729"/>
                      <a:gd name="T59" fmla="*/ 1410 h 2394"/>
                      <a:gd name="T60" fmla="*/ 60 w 729"/>
                      <a:gd name="T61" fmla="*/ 1390 h 2394"/>
                      <a:gd name="T62" fmla="*/ 24 w 729"/>
                      <a:gd name="T63" fmla="*/ 1353 h 2394"/>
                      <a:gd name="T64" fmla="*/ 3 w 729"/>
                      <a:gd name="T65" fmla="*/ 1305 h 2394"/>
                      <a:gd name="T66" fmla="*/ 0 w 729"/>
                      <a:gd name="T67" fmla="*/ 137 h 2394"/>
                      <a:gd name="T68" fmla="*/ 11 w 729"/>
                      <a:gd name="T69" fmla="*/ 84 h 2394"/>
                      <a:gd name="T70" fmla="*/ 39 w 729"/>
                      <a:gd name="T71" fmla="*/ 42 h 2394"/>
                      <a:gd name="T72" fmla="*/ 81 w 729"/>
                      <a:gd name="T73" fmla="*/ 12 h 2394"/>
                      <a:gd name="T74" fmla="*/ 133 w 729"/>
                      <a:gd name="T75" fmla="*/ 1 h 2394"/>
                      <a:gd name="T76" fmla="*/ 289 w 729"/>
                      <a:gd name="T77" fmla="*/ 0 h 239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</a:cxnLst>
                    <a:rect l="0" t="0" r="r" b="b"/>
                    <a:pathLst>
                      <a:path w="729" h="2394">
                        <a:moveTo>
                          <a:pt x="329" y="0"/>
                        </a:moveTo>
                        <a:lnTo>
                          <a:pt x="373" y="0"/>
                        </a:lnTo>
                        <a:lnTo>
                          <a:pt x="463" y="0"/>
                        </a:lnTo>
                        <a:lnTo>
                          <a:pt x="510" y="0"/>
                        </a:lnTo>
                        <a:lnTo>
                          <a:pt x="556" y="0"/>
                        </a:lnTo>
                        <a:lnTo>
                          <a:pt x="600" y="0"/>
                        </a:lnTo>
                        <a:lnTo>
                          <a:pt x="573" y="21"/>
                        </a:lnTo>
                        <a:lnTo>
                          <a:pt x="550" y="46"/>
                        </a:lnTo>
                        <a:lnTo>
                          <a:pt x="529" y="74"/>
                        </a:lnTo>
                        <a:lnTo>
                          <a:pt x="513" y="105"/>
                        </a:lnTo>
                        <a:lnTo>
                          <a:pt x="501" y="137"/>
                        </a:lnTo>
                        <a:lnTo>
                          <a:pt x="494" y="172"/>
                        </a:lnTo>
                        <a:lnTo>
                          <a:pt x="490" y="208"/>
                        </a:lnTo>
                        <a:lnTo>
                          <a:pt x="490" y="1448"/>
                        </a:lnTo>
                        <a:lnTo>
                          <a:pt x="494" y="1488"/>
                        </a:lnTo>
                        <a:lnTo>
                          <a:pt x="502" y="1526"/>
                        </a:lnTo>
                        <a:lnTo>
                          <a:pt x="516" y="1562"/>
                        </a:lnTo>
                        <a:lnTo>
                          <a:pt x="536" y="1594"/>
                        </a:lnTo>
                        <a:lnTo>
                          <a:pt x="559" y="1622"/>
                        </a:lnTo>
                        <a:lnTo>
                          <a:pt x="588" y="1648"/>
                        </a:lnTo>
                        <a:lnTo>
                          <a:pt x="619" y="1668"/>
                        </a:lnTo>
                        <a:lnTo>
                          <a:pt x="652" y="1685"/>
                        </a:lnTo>
                        <a:lnTo>
                          <a:pt x="690" y="1697"/>
                        </a:lnTo>
                        <a:lnTo>
                          <a:pt x="729" y="1702"/>
                        </a:lnTo>
                        <a:lnTo>
                          <a:pt x="729" y="2354"/>
                        </a:lnTo>
                        <a:lnTo>
                          <a:pt x="708" y="2370"/>
                        </a:lnTo>
                        <a:lnTo>
                          <a:pt x="685" y="2383"/>
                        </a:lnTo>
                        <a:lnTo>
                          <a:pt x="659" y="2392"/>
                        </a:lnTo>
                        <a:lnTo>
                          <a:pt x="632" y="2394"/>
                        </a:lnTo>
                        <a:lnTo>
                          <a:pt x="604" y="2392"/>
                        </a:lnTo>
                        <a:lnTo>
                          <a:pt x="579" y="2383"/>
                        </a:lnTo>
                        <a:lnTo>
                          <a:pt x="555" y="2372"/>
                        </a:lnTo>
                        <a:lnTo>
                          <a:pt x="535" y="2354"/>
                        </a:lnTo>
                        <a:lnTo>
                          <a:pt x="518" y="2335"/>
                        </a:lnTo>
                        <a:lnTo>
                          <a:pt x="505" y="2311"/>
                        </a:lnTo>
                        <a:lnTo>
                          <a:pt x="498" y="2285"/>
                        </a:lnTo>
                        <a:lnTo>
                          <a:pt x="495" y="2258"/>
                        </a:lnTo>
                        <a:lnTo>
                          <a:pt x="491" y="2258"/>
                        </a:lnTo>
                        <a:lnTo>
                          <a:pt x="488" y="2285"/>
                        </a:lnTo>
                        <a:lnTo>
                          <a:pt x="481" y="2311"/>
                        </a:lnTo>
                        <a:lnTo>
                          <a:pt x="469" y="2335"/>
                        </a:lnTo>
                        <a:lnTo>
                          <a:pt x="451" y="2354"/>
                        </a:lnTo>
                        <a:lnTo>
                          <a:pt x="431" y="2372"/>
                        </a:lnTo>
                        <a:lnTo>
                          <a:pt x="408" y="2383"/>
                        </a:lnTo>
                        <a:lnTo>
                          <a:pt x="382" y="2392"/>
                        </a:lnTo>
                        <a:lnTo>
                          <a:pt x="355" y="2394"/>
                        </a:lnTo>
                        <a:lnTo>
                          <a:pt x="327" y="2392"/>
                        </a:lnTo>
                        <a:lnTo>
                          <a:pt x="301" y="2383"/>
                        </a:lnTo>
                        <a:lnTo>
                          <a:pt x="279" y="2372"/>
                        </a:lnTo>
                        <a:lnTo>
                          <a:pt x="258" y="2354"/>
                        </a:lnTo>
                        <a:lnTo>
                          <a:pt x="242" y="2335"/>
                        </a:lnTo>
                        <a:lnTo>
                          <a:pt x="229" y="2311"/>
                        </a:lnTo>
                        <a:lnTo>
                          <a:pt x="221" y="2285"/>
                        </a:lnTo>
                        <a:lnTo>
                          <a:pt x="218" y="2258"/>
                        </a:lnTo>
                        <a:lnTo>
                          <a:pt x="218" y="1386"/>
                        </a:lnTo>
                        <a:lnTo>
                          <a:pt x="201" y="1397"/>
                        </a:lnTo>
                        <a:lnTo>
                          <a:pt x="180" y="1406"/>
                        </a:lnTo>
                        <a:lnTo>
                          <a:pt x="159" y="1411"/>
                        </a:lnTo>
                        <a:lnTo>
                          <a:pt x="137" y="1414"/>
                        </a:lnTo>
                        <a:lnTo>
                          <a:pt x="109" y="1410"/>
                        </a:lnTo>
                        <a:lnTo>
                          <a:pt x="83" y="1403"/>
                        </a:lnTo>
                        <a:lnTo>
                          <a:pt x="60" y="1390"/>
                        </a:lnTo>
                        <a:lnTo>
                          <a:pt x="40" y="1374"/>
                        </a:lnTo>
                        <a:lnTo>
                          <a:pt x="24" y="1353"/>
                        </a:lnTo>
                        <a:lnTo>
                          <a:pt x="11" y="1330"/>
                        </a:lnTo>
                        <a:lnTo>
                          <a:pt x="3" y="1305"/>
                        </a:lnTo>
                        <a:lnTo>
                          <a:pt x="0" y="1276"/>
                        </a:lnTo>
                        <a:lnTo>
                          <a:pt x="0" y="137"/>
                        </a:lnTo>
                        <a:lnTo>
                          <a:pt x="2" y="110"/>
                        </a:lnTo>
                        <a:lnTo>
                          <a:pt x="11" y="84"/>
                        </a:lnTo>
                        <a:lnTo>
                          <a:pt x="23" y="61"/>
                        </a:lnTo>
                        <a:lnTo>
                          <a:pt x="39" y="42"/>
                        </a:lnTo>
                        <a:lnTo>
                          <a:pt x="58" y="25"/>
                        </a:lnTo>
                        <a:lnTo>
                          <a:pt x="81" y="12"/>
                        </a:lnTo>
                        <a:lnTo>
                          <a:pt x="106" y="4"/>
                        </a:lnTo>
                        <a:lnTo>
                          <a:pt x="133" y="1"/>
                        </a:lnTo>
                        <a:lnTo>
                          <a:pt x="133" y="0"/>
                        </a:lnTo>
                        <a:lnTo>
                          <a:pt x="289" y="0"/>
                        </a:lnTo>
                        <a:lnTo>
                          <a:pt x="329" y="0"/>
                        </a:lnTo>
                        <a:close/>
                      </a:path>
                    </a:pathLst>
                  </a:custGeom>
                  <a:grpFill/>
                  <a:ln w="0">
                    <a:noFill/>
                    <a:prstDash val="solid"/>
                    <a:round/>
                  </a:ln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en-US" sz="1355"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  <p:sp>
                <p:nvSpPr>
                  <p:cNvPr id="197" name="Freeform 416"/>
                  <p:cNvSpPr/>
                  <p:nvPr/>
                </p:nvSpPr>
                <p:spPr bwMode="auto">
                  <a:xfrm>
                    <a:off x="9410701" y="5059363"/>
                    <a:ext cx="74613" cy="82550"/>
                  </a:xfrm>
                  <a:custGeom>
                    <a:avLst/>
                    <a:gdLst>
                      <a:gd name="T0" fmla="*/ 249 w 565"/>
                      <a:gd name="T1" fmla="*/ 0 h 629"/>
                      <a:gd name="T2" fmla="*/ 297 w 565"/>
                      <a:gd name="T3" fmla="*/ 3 h 629"/>
                      <a:gd name="T4" fmla="*/ 341 w 565"/>
                      <a:gd name="T5" fmla="*/ 13 h 629"/>
                      <a:gd name="T6" fmla="*/ 382 w 565"/>
                      <a:gd name="T7" fmla="*/ 29 h 629"/>
                      <a:gd name="T8" fmla="*/ 421 w 565"/>
                      <a:gd name="T9" fmla="*/ 51 h 629"/>
                      <a:gd name="T10" fmla="*/ 457 w 565"/>
                      <a:gd name="T11" fmla="*/ 76 h 629"/>
                      <a:gd name="T12" fmla="*/ 488 w 565"/>
                      <a:gd name="T13" fmla="*/ 108 h 629"/>
                      <a:gd name="T14" fmla="*/ 514 w 565"/>
                      <a:gd name="T15" fmla="*/ 143 h 629"/>
                      <a:gd name="T16" fmla="*/ 535 w 565"/>
                      <a:gd name="T17" fmla="*/ 182 h 629"/>
                      <a:gd name="T18" fmla="*/ 552 w 565"/>
                      <a:gd name="T19" fmla="*/ 223 h 629"/>
                      <a:gd name="T20" fmla="*/ 561 w 565"/>
                      <a:gd name="T21" fmla="*/ 269 h 629"/>
                      <a:gd name="T22" fmla="*/ 565 w 565"/>
                      <a:gd name="T23" fmla="*/ 315 h 629"/>
                      <a:gd name="T24" fmla="*/ 562 w 565"/>
                      <a:gd name="T25" fmla="*/ 357 h 629"/>
                      <a:gd name="T26" fmla="*/ 554 w 565"/>
                      <a:gd name="T27" fmla="*/ 398 h 629"/>
                      <a:gd name="T28" fmla="*/ 540 w 565"/>
                      <a:gd name="T29" fmla="*/ 437 h 629"/>
                      <a:gd name="T30" fmla="*/ 521 w 565"/>
                      <a:gd name="T31" fmla="*/ 474 h 629"/>
                      <a:gd name="T32" fmla="*/ 499 w 565"/>
                      <a:gd name="T33" fmla="*/ 507 h 629"/>
                      <a:gd name="T34" fmla="*/ 473 w 565"/>
                      <a:gd name="T35" fmla="*/ 538 h 629"/>
                      <a:gd name="T36" fmla="*/ 443 w 565"/>
                      <a:gd name="T37" fmla="*/ 565 h 629"/>
                      <a:gd name="T38" fmla="*/ 409 w 565"/>
                      <a:gd name="T39" fmla="*/ 587 h 629"/>
                      <a:gd name="T40" fmla="*/ 372 w 565"/>
                      <a:gd name="T41" fmla="*/ 605 h 629"/>
                      <a:gd name="T42" fmla="*/ 333 w 565"/>
                      <a:gd name="T43" fmla="*/ 619 h 629"/>
                      <a:gd name="T44" fmla="*/ 292 w 565"/>
                      <a:gd name="T45" fmla="*/ 627 h 629"/>
                      <a:gd name="T46" fmla="*/ 249 w 565"/>
                      <a:gd name="T47" fmla="*/ 629 h 629"/>
                      <a:gd name="T48" fmla="*/ 204 w 565"/>
                      <a:gd name="T49" fmla="*/ 626 h 629"/>
                      <a:gd name="T50" fmla="*/ 161 w 565"/>
                      <a:gd name="T51" fmla="*/ 616 h 629"/>
                      <a:gd name="T52" fmla="*/ 120 w 565"/>
                      <a:gd name="T53" fmla="*/ 601 h 629"/>
                      <a:gd name="T54" fmla="*/ 82 w 565"/>
                      <a:gd name="T55" fmla="*/ 581 h 629"/>
                      <a:gd name="T56" fmla="*/ 47 w 565"/>
                      <a:gd name="T57" fmla="*/ 555 h 629"/>
                      <a:gd name="T58" fmla="*/ 17 w 565"/>
                      <a:gd name="T59" fmla="*/ 526 h 629"/>
                      <a:gd name="T60" fmla="*/ 34 w 565"/>
                      <a:gd name="T61" fmla="*/ 483 h 629"/>
                      <a:gd name="T62" fmla="*/ 47 w 565"/>
                      <a:gd name="T63" fmla="*/ 438 h 629"/>
                      <a:gd name="T64" fmla="*/ 56 w 565"/>
                      <a:gd name="T65" fmla="*/ 391 h 629"/>
                      <a:gd name="T66" fmla="*/ 59 w 565"/>
                      <a:gd name="T67" fmla="*/ 342 h 629"/>
                      <a:gd name="T68" fmla="*/ 56 w 565"/>
                      <a:gd name="T69" fmla="*/ 296 h 629"/>
                      <a:gd name="T70" fmla="*/ 48 w 565"/>
                      <a:gd name="T71" fmla="*/ 250 h 629"/>
                      <a:gd name="T72" fmla="*/ 36 w 565"/>
                      <a:gd name="T73" fmla="*/ 206 h 629"/>
                      <a:gd name="T74" fmla="*/ 20 w 565"/>
                      <a:gd name="T75" fmla="*/ 164 h 629"/>
                      <a:gd name="T76" fmla="*/ 0 w 565"/>
                      <a:gd name="T77" fmla="*/ 124 h 629"/>
                      <a:gd name="T78" fmla="*/ 27 w 565"/>
                      <a:gd name="T79" fmla="*/ 94 h 629"/>
                      <a:gd name="T80" fmla="*/ 57 w 565"/>
                      <a:gd name="T81" fmla="*/ 67 h 629"/>
                      <a:gd name="T82" fmla="*/ 90 w 565"/>
                      <a:gd name="T83" fmla="*/ 44 h 629"/>
                      <a:gd name="T84" fmla="*/ 126 w 565"/>
                      <a:gd name="T85" fmla="*/ 25 h 629"/>
                      <a:gd name="T86" fmla="*/ 165 w 565"/>
                      <a:gd name="T87" fmla="*/ 12 h 629"/>
                      <a:gd name="T88" fmla="*/ 207 w 565"/>
                      <a:gd name="T89" fmla="*/ 3 h 629"/>
                      <a:gd name="T90" fmla="*/ 249 w 565"/>
                      <a:gd name="T91" fmla="*/ 0 h 6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</a:cxnLst>
                    <a:rect l="0" t="0" r="r" b="b"/>
                    <a:pathLst>
                      <a:path w="565" h="629">
                        <a:moveTo>
                          <a:pt x="249" y="0"/>
                        </a:moveTo>
                        <a:lnTo>
                          <a:pt x="297" y="3"/>
                        </a:lnTo>
                        <a:lnTo>
                          <a:pt x="341" y="13"/>
                        </a:lnTo>
                        <a:lnTo>
                          <a:pt x="382" y="29"/>
                        </a:lnTo>
                        <a:lnTo>
                          <a:pt x="421" y="51"/>
                        </a:lnTo>
                        <a:lnTo>
                          <a:pt x="457" y="76"/>
                        </a:lnTo>
                        <a:lnTo>
                          <a:pt x="488" y="108"/>
                        </a:lnTo>
                        <a:lnTo>
                          <a:pt x="514" y="143"/>
                        </a:lnTo>
                        <a:lnTo>
                          <a:pt x="535" y="182"/>
                        </a:lnTo>
                        <a:lnTo>
                          <a:pt x="552" y="223"/>
                        </a:lnTo>
                        <a:lnTo>
                          <a:pt x="561" y="269"/>
                        </a:lnTo>
                        <a:lnTo>
                          <a:pt x="565" y="315"/>
                        </a:lnTo>
                        <a:lnTo>
                          <a:pt x="562" y="357"/>
                        </a:lnTo>
                        <a:lnTo>
                          <a:pt x="554" y="398"/>
                        </a:lnTo>
                        <a:lnTo>
                          <a:pt x="540" y="437"/>
                        </a:lnTo>
                        <a:lnTo>
                          <a:pt x="521" y="474"/>
                        </a:lnTo>
                        <a:lnTo>
                          <a:pt x="499" y="507"/>
                        </a:lnTo>
                        <a:lnTo>
                          <a:pt x="473" y="538"/>
                        </a:lnTo>
                        <a:lnTo>
                          <a:pt x="443" y="565"/>
                        </a:lnTo>
                        <a:lnTo>
                          <a:pt x="409" y="587"/>
                        </a:lnTo>
                        <a:lnTo>
                          <a:pt x="372" y="605"/>
                        </a:lnTo>
                        <a:lnTo>
                          <a:pt x="333" y="619"/>
                        </a:lnTo>
                        <a:lnTo>
                          <a:pt x="292" y="627"/>
                        </a:lnTo>
                        <a:lnTo>
                          <a:pt x="249" y="629"/>
                        </a:lnTo>
                        <a:lnTo>
                          <a:pt x="204" y="626"/>
                        </a:lnTo>
                        <a:lnTo>
                          <a:pt x="161" y="616"/>
                        </a:lnTo>
                        <a:lnTo>
                          <a:pt x="120" y="601"/>
                        </a:lnTo>
                        <a:lnTo>
                          <a:pt x="82" y="581"/>
                        </a:lnTo>
                        <a:lnTo>
                          <a:pt x="47" y="555"/>
                        </a:lnTo>
                        <a:lnTo>
                          <a:pt x="17" y="526"/>
                        </a:lnTo>
                        <a:lnTo>
                          <a:pt x="34" y="483"/>
                        </a:lnTo>
                        <a:lnTo>
                          <a:pt x="47" y="438"/>
                        </a:lnTo>
                        <a:lnTo>
                          <a:pt x="56" y="391"/>
                        </a:lnTo>
                        <a:lnTo>
                          <a:pt x="59" y="342"/>
                        </a:lnTo>
                        <a:lnTo>
                          <a:pt x="56" y="296"/>
                        </a:lnTo>
                        <a:lnTo>
                          <a:pt x="48" y="250"/>
                        </a:lnTo>
                        <a:lnTo>
                          <a:pt x="36" y="206"/>
                        </a:lnTo>
                        <a:lnTo>
                          <a:pt x="20" y="164"/>
                        </a:lnTo>
                        <a:lnTo>
                          <a:pt x="0" y="124"/>
                        </a:lnTo>
                        <a:lnTo>
                          <a:pt x="27" y="94"/>
                        </a:lnTo>
                        <a:lnTo>
                          <a:pt x="57" y="67"/>
                        </a:lnTo>
                        <a:lnTo>
                          <a:pt x="90" y="44"/>
                        </a:lnTo>
                        <a:lnTo>
                          <a:pt x="126" y="25"/>
                        </a:lnTo>
                        <a:lnTo>
                          <a:pt x="165" y="12"/>
                        </a:lnTo>
                        <a:lnTo>
                          <a:pt x="207" y="3"/>
                        </a:lnTo>
                        <a:lnTo>
                          <a:pt x="249" y="0"/>
                        </a:lnTo>
                        <a:close/>
                      </a:path>
                    </a:pathLst>
                  </a:custGeom>
                  <a:grpFill/>
                  <a:ln w="0">
                    <a:noFill/>
                    <a:prstDash val="solid"/>
                    <a:round/>
                  </a:ln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en-US" sz="1355"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  <p:sp>
                <p:nvSpPr>
                  <p:cNvPr id="198" name="Freeform 417"/>
                  <p:cNvSpPr/>
                  <p:nvPr/>
                </p:nvSpPr>
                <p:spPr bwMode="auto">
                  <a:xfrm>
                    <a:off x="9412288" y="5148263"/>
                    <a:ext cx="96838" cy="317500"/>
                  </a:xfrm>
                  <a:custGeom>
                    <a:avLst/>
                    <a:gdLst>
                      <a:gd name="T0" fmla="*/ 510 w 728"/>
                      <a:gd name="T1" fmla="*/ 0 h 2394"/>
                      <a:gd name="T2" fmla="*/ 579 w 728"/>
                      <a:gd name="T3" fmla="*/ 0 h 2394"/>
                      <a:gd name="T4" fmla="*/ 594 w 728"/>
                      <a:gd name="T5" fmla="*/ 0 h 2394"/>
                      <a:gd name="T6" fmla="*/ 621 w 728"/>
                      <a:gd name="T7" fmla="*/ 4 h 2394"/>
                      <a:gd name="T8" fmla="*/ 669 w 728"/>
                      <a:gd name="T9" fmla="*/ 25 h 2394"/>
                      <a:gd name="T10" fmla="*/ 705 w 728"/>
                      <a:gd name="T11" fmla="*/ 61 h 2394"/>
                      <a:gd name="T12" fmla="*/ 725 w 728"/>
                      <a:gd name="T13" fmla="*/ 110 h 2394"/>
                      <a:gd name="T14" fmla="*/ 728 w 728"/>
                      <a:gd name="T15" fmla="*/ 1276 h 2394"/>
                      <a:gd name="T16" fmla="*/ 717 w 728"/>
                      <a:gd name="T17" fmla="*/ 1330 h 2394"/>
                      <a:gd name="T18" fmla="*/ 688 w 728"/>
                      <a:gd name="T19" fmla="*/ 1374 h 2394"/>
                      <a:gd name="T20" fmla="*/ 645 w 728"/>
                      <a:gd name="T21" fmla="*/ 1403 h 2394"/>
                      <a:gd name="T22" fmla="*/ 592 w 728"/>
                      <a:gd name="T23" fmla="*/ 1414 h 2394"/>
                      <a:gd name="T24" fmla="*/ 547 w 728"/>
                      <a:gd name="T25" fmla="*/ 1406 h 2394"/>
                      <a:gd name="T26" fmla="*/ 509 w 728"/>
                      <a:gd name="T27" fmla="*/ 1386 h 2394"/>
                      <a:gd name="T28" fmla="*/ 506 w 728"/>
                      <a:gd name="T29" fmla="*/ 2285 h 2394"/>
                      <a:gd name="T30" fmla="*/ 486 w 728"/>
                      <a:gd name="T31" fmla="*/ 2335 h 2394"/>
                      <a:gd name="T32" fmla="*/ 449 w 728"/>
                      <a:gd name="T33" fmla="*/ 2372 h 2394"/>
                      <a:gd name="T34" fmla="*/ 401 w 728"/>
                      <a:gd name="T35" fmla="*/ 2392 h 2394"/>
                      <a:gd name="T36" fmla="*/ 345 w 728"/>
                      <a:gd name="T37" fmla="*/ 2392 h 2394"/>
                      <a:gd name="T38" fmla="*/ 297 w 728"/>
                      <a:gd name="T39" fmla="*/ 2372 h 2394"/>
                      <a:gd name="T40" fmla="*/ 260 w 728"/>
                      <a:gd name="T41" fmla="*/ 2335 h 2394"/>
                      <a:gd name="T42" fmla="*/ 240 w 728"/>
                      <a:gd name="T43" fmla="*/ 2285 h 2394"/>
                      <a:gd name="T44" fmla="*/ 233 w 728"/>
                      <a:gd name="T45" fmla="*/ 2258 h 2394"/>
                      <a:gd name="T46" fmla="*/ 222 w 728"/>
                      <a:gd name="T47" fmla="*/ 2311 h 2394"/>
                      <a:gd name="T48" fmla="*/ 192 w 728"/>
                      <a:gd name="T49" fmla="*/ 2354 h 2394"/>
                      <a:gd name="T50" fmla="*/ 149 w 728"/>
                      <a:gd name="T51" fmla="*/ 2383 h 2394"/>
                      <a:gd name="T52" fmla="*/ 96 w 728"/>
                      <a:gd name="T53" fmla="*/ 2394 h 2394"/>
                      <a:gd name="T54" fmla="*/ 43 w 728"/>
                      <a:gd name="T55" fmla="*/ 2383 h 2394"/>
                      <a:gd name="T56" fmla="*/ 0 w 728"/>
                      <a:gd name="T57" fmla="*/ 2354 h 2394"/>
                      <a:gd name="T58" fmla="*/ 39 w 728"/>
                      <a:gd name="T59" fmla="*/ 1697 h 2394"/>
                      <a:gd name="T60" fmla="*/ 109 w 728"/>
                      <a:gd name="T61" fmla="*/ 1668 h 2394"/>
                      <a:gd name="T62" fmla="*/ 168 w 728"/>
                      <a:gd name="T63" fmla="*/ 1622 h 2394"/>
                      <a:gd name="T64" fmla="*/ 210 w 728"/>
                      <a:gd name="T65" fmla="*/ 1560 h 2394"/>
                      <a:gd name="T66" fmla="*/ 234 w 728"/>
                      <a:gd name="T67" fmla="*/ 1488 h 2394"/>
                      <a:gd name="T68" fmla="*/ 236 w 728"/>
                      <a:gd name="T69" fmla="*/ 208 h 2394"/>
                      <a:gd name="T70" fmla="*/ 227 w 728"/>
                      <a:gd name="T71" fmla="*/ 137 h 2394"/>
                      <a:gd name="T72" fmla="*/ 199 w 728"/>
                      <a:gd name="T73" fmla="*/ 74 h 2394"/>
                      <a:gd name="T74" fmla="*/ 155 w 728"/>
                      <a:gd name="T75" fmla="*/ 21 h 2394"/>
                      <a:gd name="T76" fmla="*/ 438 w 728"/>
                      <a:gd name="T77" fmla="*/ 0 h 239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</a:cxnLst>
                    <a:rect l="0" t="0" r="r" b="b"/>
                    <a:pathLst>
                      <a:path w="728" h="2394">
                        <a:moveTo>
                          <a:pt x="476" y="0"/>
                        </a:moveTo>
                        <a:lnTo>
                          <a:pt x="510" y="0"/>
                        </a:lnTo>
                        <a:lnTo>
                          <a:pt x="561" y="0"/>
                        </a:lnTo>
                        <a:lnTo>
                          <a:pt x="579" y="0"/>
                        </a:lnTo>
                        <a:lnTo>
                          <a:pt x="591" y="0"/>
                        </a:lnTo>
                        <a:lnTo>
                          <a:pt x="594" y="0"/>
                        </a:lnTo>
                        <a:lnTo>
                          <a:pt x="594" y="1"/>
                        </a:lnTo>
                        <a:lnTo>
                          <a:pt x="621" y="4"/>
                        </a:lnTo>
                        <a:lnTo>
                          <a:pt x="647" y="12"/>
                        </a:lnTo>
                        <a:lnTo>
                          <a:pt x="669" y="25"/>
                        </a:lnTo>
                        <a:lnTo>
                          <a:pt x="689" y="42"/>
                        </a:lnTo>
                        <a:lnTo>
                          <a:pt x="705" y="61"/>
                        </a:lnTo>
                        <a:lnTo>
                          <a:pt x="717" y="84"/>
                        </a:lnTo>
                        <a:lnTo>
                          <a:pt x="725" y="110"/>
                        </a:lnTo>
                        <a:lnTo>
                          <a:pt x="728" y="137"/>
                        </a:lnTo>
                        <a:lnTo>
                          <a:pt x="728" y="1276"/>
                        </a:lnTo>
                        <a:lnTo>
                          <a:pt x="725" y="1305"/>
                        </a:lnTo>
                        <a:lnTo>
                          <a:pt x="717" y="1330"/>
                        </a:lnTo>
                        <a:lnTo>
                          <a:pt x="704" y="1353"/>
                        </a:lnTo>
                        <a:lnTo>
                          <a:pt x="688" y="1374"/>
                        </a:lnTo>
                        <a:lnTo>
                          <a:pt x="667" y="1390"/>
                        </a:lnTo>
                        <a:lnTo>
                          <a:pt x="645" y="1403"/>
                        </a:lnTo>
                        <a:lnTo>
                          <a:pt x="619" y="1410"/>
                        </a:lnTo>
                        <a:lnTo>
                          <a:pt x="592" y="1414"/>
                        </a:lnTo>
                        <a:lnTo>
                          <a:pt x="569" y="1411"/>
                        </a:lnTo>
                        <a:lnTo>
                          <a:pt x="547" y="1406"/>
                        </a:lnTo>
                        <a:lnTo>
                          <a:pt x="527" y="1397"/>
                        </a:lnTo>
                        <a:lnTo>
                          <a:pt x="509" y="1386"/>
                        </a:lnTo>
                        <a:lnTo>
                          <a:pt x="509" y="2258"/>
                        </a:lnTo>
                        <a:lnTo>
                          <a:pt x="506" y="2285"/>
                        </a:lnTo>
                        <a:lnTo>
                          <a:pt x="499" y="2311"/>
                        </a:lnTo>
                        <a:lnTo>
                          <a:pt x="486" y="2335"/>
                        </a:lnTo>
                        <a:lnTo>
                          <a:pt x="470" y="2354"/>
                        </a:lnTo>
                        <a:lnTo>
                          <a:pt x="449" y="2372"/>
                        </a:lnTo>
                        <a:lnTo>
                          <a:pt x="426" y="2383"/>
                        </a:lnTo>
                        <a:lnTo>
                          <a:pt x="401" y="2392"/>
                        </a:lnTo>
                        <a:lnTo>
                          <a:pt x="372" y="2394"/>
                        </a:lnTo>
                        <a:lnTo>
                          <a:pt x="345" y="2392"/>
                        </a:lnTo>
                        <a:lnTo>
                          <a:pt x="320" y="2383"/>
                        </a:lnTo>
                        <a:lnTo>
                          <a:pt x="297" y="2372"/>
                        </a:lnTo>
                        <a:lnTo>
                          <a:pt x="276" y="2354"/>
                        </a:lnTo>
                        <a:lnTo>
                          <a:pt x="260" y="2335"/>
                        </a:lnTo>
                        <a:lnTo>
                          <a:pt x="247" y="2311"/>
                        </a:lnTo>
                        <a:lnTo>
                          <a:pt x="240" y="2285"/>
                        </a:lnTo>
                        <a:lnTo>
                          <a:pt x="236" y="2258"/>
                        </a:lnTo>
                        <a:lnTo>
                          <a:pt x="233" y="2258"/>
                        </a:lnTo>
                        <a:lnTo>
                          <a:pt x="230" y="2285"/>
                        </a:lnTo>
                        <a:lnTo>
                          <a:pt x="222" y="2311"/>
                        </a:lnTo>
                        <a:lnTo>
                          <a:pt x="209" y="2335"/>
                        </a:lnTo>
                        <a:lnTo>
                          <a:pt x="192" y="2354"/>
                        </a:lnTo>
                        <a:lnTo>
                          <a:pt x="173" y="2372"/>
                        </a:lnTo>
                        <a:lnTo>
                          <a:pt x="149" y="2383"/>
                        </a:lnTo>
                        <a:lnTo>
                          <a:pt x="123" y="2392"/>
                        </a:lnTo>
                        <a:lnTo>
                          <a:pt x="96" y="2394"/>
                        </a:lnTo>
                        <a:lnTo>
                          <a:pt x="69" y="2392"/>
                        </a:lnTo>
                        <a:lnTo>
                          <a:pt x="43" y="2383"/>
                        </a:lnTo>
                        <a:lnTo>
                          <a:pt x="19" y="2372"/>
                        </a:lnTo>
                        <a:lnTo>
                          <a:pt x="0" y="2354"/>
                        </a:lnTo>
                        <a:lnTo>
                          <a:pt x="0" y="1702"/>
                        </a:lnTo>
                        <a:lnTo>
                          <a:pt x="39" y="1697"/>
                        </a:lnTo>
                        <a:lnTo>
                          <a:pt x="75" y="1685"/>
                        </a:lnTo>
                        <a:lnTo>
                          <a:pt x="109" y="1668"/>
                        </a:lnTo>
                        <a:lnTo>
                          <a:pt x="140" y="1648"/>
                        </a:lnTo>
                        <a:lnTo>
                          <a:pt x="168" y="1622"/>
                        </a:lnTo>
                        <a:lnTo>
                          <a:pt x="191" y="1593"/>
                        </a:lnTo>
                        <a:lnTo>
                          <a:pt x="210" y="1560"/>
                        </a:lnTo>
                        <a:lnTo>
                          <a:pt x="224" y="1526"/>
                        </a:lnTo>
                        <a:lnTo>
                          <a:pt x="234" y="1488"/>
                        </a:lnTo>
                        <a:lnTo>
                          <a:pt x="236" y="1448"/>
                        </a:lnTo>
                        <a:lnTo>
                          <a:pt x="236" y="208"/>
                        </a:lnTo>
                        <a:lnTo>
                          <a:pt x="234" y="172"/>
                        </a:lnTo>
                        <a:lnTo>
                          <a:pt x="227" y="137"/>
                        </a:lnTo>
                        <a:lnTo>
                          <a:pt x="215" y="105"/>
                        </a:lnTo>
                        <a:lnTo>
                          <a:pt x="199" y="74"/>
                        </a:lnTo>
                        <a:lnTo>
                          <a:pt x="178" y="46"/>
                        </a:lnTo>
                        <a:lnTo>
                          <a:pt x="155" y="21"/>
                        </a:lnTo>
                        <a:lnTo>
                          <a:pt x="128" y="0"/>
                        </a:lnTo>
                        <a:lnTo>
                          <a:pt x="438" y="0"/>
                        </a:lnTo>
                        <a:lnTo>
                          <a:pt x="476" y="0"/>
                        </a:lnTo>
                        <a:close/>
                      </a:path>
                    </a:pathLst>
                  </a:custGeom>
                  <a:grpFill/>
                  <a:ln w="0">
                    <a:noFill/>
                    <a:prstDash val="solid"/>
                    <a:round/>
                  </a:ln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en-US" sz="1355"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</p:grpSp>
          </p:grpSp>
          <p:grpSp>
            <p:nvGrpSpPr>
              <p:cNvPr id="199" name="组合 198"/>
              <p:cNvGrpSpPr/>
              <p:nvPr/>
            </p:nvGrpSpPr>
            <p:grpSpPr>
              <a:xfrm rot="0">
                <a:off x="546848" y="3623749"/>
                <a:ext cx="3600005" cy="1865439"/>
                <a:chOff x="546848" y="1498422"/>
                <a:chExt cx="3600005" cy="1865439"/>
              </a:xfrm>
            </p:grpSpPr>
            <p:sp>
              <p:nvSpPr>
                <p:cNvPr id="200" name="文本框 33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546848" y="1498422"/>
                  <a:ext cx="3600005" cy="5207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lvl="0" indent="0" algn="r">
                    <a:lnSpc>
                      <a:spcPct val="100000"/>
                    </a:lnSpc>
                    <a:buNone/>
                    <a:defRPr sz="1800">
                      <a:solidFill>
                        <a:schemeClr val="tx1">
                          <a:alpha val="100000"/>
                        </a:schemeClr>
                      </a:solidFill>
                      <a:latin typeface="等线" panose="02010600030101010101" charset="-122"/>
                      <a:ea typeface="等线" panose="02010600030101010101" charset="-122"/>
                      <a:cs typeface="+mn-cs"/>
                    </a:defRPr>
                  </a:pPr>
                  <a:r>
                    <a:rPr lang="zh-CN" sz="1800" b="1">
                      <a:latin typeface="默认字体"/>
                      <a:ea typeface="默认字体"/>
                      <a:cs typeface="+mn-cs"/>
                      <a:sym typeface="思源宋体 CN"/>
                    </a:rPr>
                    <a:t>历史评价的两面性</a:t>
                  </a:r>
                  <a:endParaRPr lang="en-US" sz="1865" b="1">
                    <a:solidFill>
                      <a:srgbClr val="6F815D">
                        <a:alpha val="100000"/>
                      </a:srgbClr>
                    </a:solidFill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sp>
              <p:nvSpPr>
                <p:cNvPr id="201" name="文本框 33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546848" y="1923872"/>
                  <a:ext cx="3600005" cy="143998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lvl="0" indent="0" algn="r">
                    <a:lnSpc>
                      <a:spcPct val="130000"/>
                    </a:lnSpc>
                    <a:buNone/>
                    <a:defRPr sz="1800">
                      <a:solidFill>
                        <a:schemeClr val="tx1">
                          <a:alpha val="100000"/>
                        </a:schemeClr>
                      </a:solidFill>
                      <a:latin typeface="等线" panose="02010600030101010101" charset="-122"/>
                      <a:ea typeface="等线" panose="02010600030101010101" charset="-122"/>
                      <a:cs typeface="+mn-cs"/>
                    </a:defRPr>
                  </a:pPr>
                  <a:r>
                    <a:rPr lang="zh-CN" sz="1400">
                      <a:latin typeface="默认字体"/>
                      <a:ea typeface="默认字体"/>
                      <a:cs typeface="+mn-cs"/>
                      <a:sym typeface="思源宋体 CN"/>
                    </a:rPr>
                    <a:t>曹操因其卓越的政治和军事才能被后人称道，但其权谋手段和冷酷无情也引发了不少争议，这种复杂性有助于培养我的辩证思维能力。</a:t>
                  </a:r>
                  <a:endParaRPr lang="zh-CN" sz="1400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</p:grpSp>
        </p:grpSp>
        <p:grpSp>
          <p:nvGrpSpPr>
            <p:cNvPr id="202" name="组合 201"/>
            <p:cNvGrpSpPr/>
            <p:nvPr/>
          </p:nvGrpSpPr>
          <p:grpSpPr>
            <a:xfrm rot="0">
              <a:off x="4146853" y="3150101"/>
              <a:ext cx="7498299" cy="1865439"/>
              <a:chOff x="4146853" y="2618288"/>
              <a:chExt cx="7498299" cy="1865439"/>
            </a:xfrm>
          </p:grpSpPr>
          <p:grpSp>
            <p:nvGrpSpPr>
              <p:cNvPr id="203" name="组合 6"/>
              <p:cNvGrpSpPr/>
              <p:nvPr/>
            </p:nvGrpSpPr>
            <p:grpSpPr>
              <a:xfrm>
                <a:off x="4146853" y="2768377"/>
                <a:ext cx="3285939" cy="864011"/>
                <a:chOff x="4093512" y="2843942"/>
                <a:chExt cx="3285939" cy="864011"/>
              </a:xfrm>
            </p:grpSpPr>
            <p:sp>
              <p:nvSpPr>
                <p:cNvPr id="204" name="Oval 5"/>
                <p:cNvSpPr>
                  <a:spLocks noChangeArrowheads="1"/>
                </p:cNvSpPr>
                <p:nvPr/>
              </p:nvSpPr>
              <p:spPr bwMode="auto">
                <a:xfrm rot="10800000">
                  <a:off x="6518063" y="2843942"/>
                  <a:ext cx="861388" cy="86401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 sz="1355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sp>
              <p:nvSpPr>
                <p:cNvPr id="205" name="Freeform 7"/>
                <p:cNvSpPr/>
                <p:nvPr/>
              </p:nvSpPr>
              <p:spPr bwMode="auto">
                <a:xfrm rot="10800000">
                  <a:off x="4093512" y="2852030"/>
                  <a:ext cx="2510432" cy="847284"/>
                </a:xfrm>
                <a:custGeom>
                  <a:avLst/>
                  <a:gdLst>
                    <a:gd name="T0" fmla="*/ 1603 w 1926"/>
                    <a:gd name="T1" fmla="*/ 0 h 647"/>
                    <a:gd name="T2" fmla="*/ 1603 w 1926"/>
                    <a:gd name="T3" fmla="*/ 0 h 647"/>
                    <a:gd name="T4" fmla="*/ 0 w 1926"/>
                    <a:gd name="T5" fmla="*/ 0 h 647"/>
                    <a:gd name="T6" fmla="*/ 150 w 1926"/>
                    <a:gd name="T7" fmla="*/ 325 h 647"/>
                    <a:gd name="T8" fmla="*/ 3 w 1926"/>
                    <a:gd name="T9" fmla="*/ 647 h 647"/>
                    <a:gd name="T10" fmla="*/ 1603 w 1926"/>
                    <a:gd name="T11" fmla="*/ 647 h 647"/>
                    <a:gd name="T12" fmla="*/ 1926 w 1926"/>
                    <a:gd name="T13" fmla="*/ 324 h 647"/>
                    <a:gd name="T14" fmla="*/ 1603 w 1926"/>
                    <a:gd name="T15" fmla="*/ 0 h 64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926" h="647">
                      <a:moveTo>
                        <a:pt x="1603" y="0"/>
                      </a:moveTo>
                      <a:cubicBezTo>
                        <a:pt x="1603" y="0"/>
                        <a:pt x="1603" y="0"/>
                        <a:pt x="1603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92" y="78"/>
                        <a:pt x="150" y="195"/>
                        <a:pt x="150" y="325"/>
                      </a:cubicBezTo>
                      <a:cubicBezTo>
                        <a:pt x="150" y="453"/>
                        <a:pt x="93" y="569"/>
                        <a:pt x="3" y="647"/>
                      </a:cubicBezTo>
                      <a:cubicBezTo>
                        <a:pt x="1603" y="647"/>
                        <a:pt x="1603" y="647"/>
                        <a:pt x="1603" y="647"/>
                      </a:cubicBezTo>
                      <a:cubicBezTo>
                        <a:pt x="1781" y="647"/>
                        <a:pt x="1926" y="502"/>
                        <a:pt x="1926" y="324"/>
                      </a:cubicBezTo>
                      <a:cubicBezTo>
                        <a:pt x="1926" y="145"/>
                        <a:pt x="1781" y="0"/>
                        <a:pt x="1603" y="0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 sz="1355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grpSp>
              <p:nvGrpSpPr>
                <p:cNvPr id="206" name="Group 51"/>
                <p:cNvGrpSpPr/>
                <p:nvPr/>
              </p:nvGrpSpPr>
              <p:grpSpPr>
                <a:xfrm>
                  <a:off x="6730246" y="3079197"/>
                  <a:ext cx="430529" cy="372348"/>
                  <a:chOff x="2084388" y="3051175"/>
                  <a:chExt cx="293688" cy="254001"/>
                </a:xfrm>
                <a:solidFill>
                  <a:schemeClr val="bg1"/>
                </a:solidFill>
              </p:grpSpPr>
              <p:sp>
                <p:nvSpPr>
                  <p:cNvPr id="207" name="Freeform 154"/>
                  <p:cNvSpPr/>
                  <p:nvPr/>
                </p:nvSpPr>
                <p:spPr bwMode="auto">
                  <a:xfrm>
                    <a:off x="2084388" y="3106738"/>
                    <a:ext cx="36513" cy="198438"/>
                  </a:xfrm>
                  <a:custGeom>
                    <a:avLst/>
                    <a:gdLst/>
                    <a:ahLst/>
                    <a:cxnLst>
                      <a:cxn ang="0">
                        <a:pos x="0" y="14"/>
                      </a:cxn>
                      <a:cxn ang="0">
                        <a:pos x="0" y="65"/>
                      </a:cxn>
                      <a:cxn ang="0">
                        <a:pos x="14" y="79"/>
                      </a:cxn>
                      <a:cxn ang="0">
                        <a:pos x="14" y="0"/>
                      </a:cxn>
                      <a:cxn ang="0">
                        <a:pos x="0" y="14"/>
                      </a:cxn>
                    </a:cxnLst>
                    <a:rect l="0" t="0" r="r" b="b"/>
                    <a:pathLst>
                      <a:path w="14" h="79">
                        <a:moveTo>
                          <a:pt x="0" y="14"/>
                        </a:moveTo>
                        <a:cubicBezTo>
                          <a:pt x="0" y="65"/>
                          <a:pt x="0" y="65"/>
                          <a:pt x="0" y="65"/>
                        </a:cubicBezTo>
                        <a:cubicBezTo>
                          <a:pt x="0" y="73"/>
                          <a:pt x="6" y="79"/>
                          <a:pt x="14" y="79"/>
                        </a:cubicBezTo>
                        <a:cubicBezTo>
                          <a:pt x="14" y="0"/>
                          <a:pt x="14" y="0"/>
                          <a:pt x="14" y="0"/>
                        </a:cubicBezTo>
                        <a:cubicBezTo>
                          <a:pt x="6" y="0"/>
                          <a:pt x="0" y="6"/>
                          <a:pt x="0" y="14"/>
                        </a:cubicBezTo>
                        <a:close/>
                      </a:path>
                    </a:pathLst>
                  </a:custGeom>
                  <a:grpFill/>
                  <a:ln w="9525">
                    <a:noFill/>
                    <a:round/>
                  </a:ln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en-US" sz="1355">
                      <a:solidFill>
                        <a:schemeClr val="tx1">
                          <a:lumMod val="75000"/>
                          <a:lumOff val="25000"/>
                          <a:alpha val="100000"/>
                        </a:schemeClr>
                      </a:solidFill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  <p:sp>
                <p:nvSpPr>
                  <p:cNvPr id="208" name="Freeform 155"/>
                  <p:cNvSpPr>
                    <a:spLocks noEditPoints="1"/>
                  </p:cNvSpPr>
                  <p:nvPr/>
                </p:nvSpPr>
                <p:spPr bwMode="auto">
                  <a:xfrm>
                    <a:off x="2139951" y="3051175"/>
                    <a:ext cx="182563" cy="254000"/>
                  </a:xfrm>
                  <a:custGeom>
                    <a:avLst/>
                    <a:gdLst/>
                    <a:ahLst/>
                    <a:cxnLst>
                      <a:cxn ang="0">
                        <a:pos x="58" y="7"/>
                      </a:cxn>
                      <a:cxn ang="0">
                        <a:pos x="50" y="0"/>
                      </a:cxn>
                      <a:cxn ang="0">
                        <a:pos x="21" y="0"/>
                      </a:cxn>
                      <a:cxn ang="0">
                        <a:pos x="14" y="7"/>
                      </a:cxn>
                      <a:cxn ang="0">
                        <a:pos x="14" y="22"/>
                      </a:cxn>
                      <a:cxn ang="0">
                        <a:pos x="0" y="22"/>
                      </a:cxn>
                      <a:cxn ang="0">
                        <a:pos x="0" y="101"/>
                      </a:cxn>
                      <a:cxn ang="0">
                        <a:pos x="72" y="101"/>
                      </a:cxn>
                      <a:cxn ang="0">
                        <a:pos x="72" y="22"/>
                      </a:cxn>
                      <a:cxn ang="0">
                        <a:pos x="58" y="22"/>
                      </a:cxn>
                      <a:cxn ang="0">
                        <a:pos x="58" y="7"/>
                      </a:cxn>
                      <a:cxn ang="0">
                        <a:pos x="50" y="22"/>
                      </a:cxn>
                      <a:cxn ang="0">
                        <a:pos x="21" y="22"/>
                      </a:cxn>
                      <a:cxn ang="0">
                        <a:pos x="21" y="7"/>
                      </a:cxn>
                      <a:cxn ang="0">
                        <a:pos x="50" y="7"/>
                      </a:cxn>
                      <a:cxn ang="0">
                        <a:pos x="50" y="22"/>
                      </a:cxn>
                    </a:cxnLst>
                    <a:rect l="0" t="0" r="r" b="b"/>
                    <a:pathLst>
                      <a:path w="72" h="101">
                        <a:moveTo>
                          <a:pt x="58" y="7"/>
                        </a:moveTo>
                        <a:cubicBezTo>
                          <a:pt x="58" y="3"/>
                          <a:pt x="54" y="0"/>
                          <a:pt x="50" y="0"/>
                        </a:cubicBezTo>
                        <a:cubicBezTo>
                          <a:pt x="21" y="0"/>
                          <a:pt x="21" y="0"/>
                          <a:pt x="21" y="0"/>
                        </a:cubicBezTo>
                        <a:cubicBezTo>
                          <a:pt x="17" y="0"/>
                          <a:pt x="14" y="3"/>
                          <a:pt x="14" y="7"/>
                        </a:cubicBezTo>
                        <a:cubicBezTo>
                          <a:pt x="14" y="22"/>
                          <a:pt x="14" y="22"/>
                          <a:pt x="14" y="22"/>
                        </a:cubicBezTo>
                        <a:cubicBezTo>
                          <a:pt x="0" y="22"/>
                          <a:pt x="0" y="22"/>
                          <a:pt x="0" y="22"/>
                        </a:cubicBezTo>
                        <a:cubicBezTo>
                          <a:pt x="0" y="101"/>
                          <a:pt x="0" y="101"/>
                          <a:pt x="0" y="101"/>
                        </a:cubicBezTo>
                        <a:cubicBezTo>
                          <a:pt x="72" y="101"/>
                          <a:pt x="72" y="101"/>
                          <a:pt x="72" y="101"/>
                        </a:cubicBezTo>
                        <a:cubicBezTo>
                          <a:pt x="72" y="22"/>
                          <a:pt x="72" y="22"/>
                          <a:pt x="72" y="22"/>
                        </a:cubicBezTo>
                        <a:cubicBezTo>
                          <a:pt x="58" y="22"/>
                          <a:pt x="58" y="22"/>
                          <a:pt x="58" y="22"/>
                        </a:cubicBezTo>
                        <a:lnTo>
                          <a:pt x="58" y="7"/>
                        </a:lnTo>
                        <a:close/>
                        <a:moveTo>
                          <a:pt x="50" y="22"/>
                        </a:moveTo>
                        <a:cubicBezTo>
                          <a:pt x="21" y="22"/>
                          <a:pt x="21" y="22"/>
                          <a:pt x="21" y="22"/>
                        </a:cubicBezTo>
                        <a:cubicBezTo>
                          <a:pt x="21" y="7"/>
                          <a:pt x="21" y="7"/>
                          <a:pt x="21" y="7"/>
                        </a:cubicBezTo>
                        <a:cubicBezTo>
                          <a:pt x="50" y="7"/>
                          <a:pt x="50" y="7"/>
                          <a:pt x="50" y="7"/>
                        </a:cubicBezTo>
                        <a:lnTo>
                          <a:pt x="50" y="22"/>
                        </a:lnTo>
                        <a:close/>
                      </a:path>
                    </a:pathLst>
                  </a:custGeom>
                  <a:grpFill/>
                  <a:ln w="9525">
                    <a:noFill/>
                    <a:round/>
                  </a:ln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en-US" sz="1355">
                      <a:solidFill>
                        <a:schemeClr val="tx1">
                          <a:lumMod val="75000"/>
                          <a:lumOff val="25000"/>
                          <a:alpha val="100000"/>
                        </a:schemeClr>
                      </a:solidFill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  <p:sp>
                <p:nvSpPr>
                  <p:cNvPr id="209" name="Freeform 156"/>
                  <p:cNvSpPr/>
                  <p:nvPr/>
                </p:nvSpPr>
                <p:spPr bwMode="auto">
                  <a:xfrm>
                    <a:off x="2339976" y="3106738"/>
                    <a:ext cx="38100" cy="198438"/>
                  </a:xfrm>
                  <a:custGeom>
                    <a:avLst/>
                    <a:gdLst/>
                    <a:ahLst/>
                    <a:cxnLst>
                      <a:cxn ang="0">
                        <a:pos x="0" y="0"/>
                      </a:cxn>
                      <a:cxn ang="0">
                        <a:pos x="0" y="79"/>
                      </a:cxn>
                      <a:cxn ang="0">
                        <a:pos x="15" y="65"/>
                      </a:cxn>
                      <a:cxn ang="0">
                        <a:pos x="15" y="14"/>
                      </a:cxn>
                      <a:cxn ang="0">
                        <a:pos x="0" y="0"/>
                      </a:cxn>
                    </a:cxnLst>
                    <a:rect l="0" t="0" r="r" b="b"/>
                    <a:pathLst>
                      <a:path w="15" h="79">
                        <a:moveTo>
                          <a:pt x="0" y="0"/>
                        </a:moveTo>
                        <a:cubicBezTo>
                          <a:pt x="0" y="79"/>
                          <a:pt x="0" y="79"/>
                          <a:pt x="0" y="79"/>
                        </a:cubicBezTo>
                        <a:cubicBezTo>
                          <a:pt x="8" y="79"/>
                          <a:pt x="15" y="73"/>
                          <a:pt x="15" y="65"/>
                        </a:cubicBezTo>
                        <a:cubicBezTo>
                          <a:pt x="15" y="14"/>
                          <a:pt x="15" y="14"/>
                          <a:pt x="15" y="14"/>
                        </a:cubicBezTo>
                        <a:cubicBezTo>
                          <a:pt x="15" y="6"/>
                          <a:pt x="8" y="0"/>
                          <a:pt x="0" y="0"/>
                        </a:cubicBezTo>
                        <a:close/>
                      </a:path>
                    </a:pathLst>
                  </a:custGeom>
                  <a:grpFill/>
                  <a:ln w="9525">
                    <a:noFill/>
                    <a:round/>
                  </a:ln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en-US" sz="1355">
                      <a:solidFill>
                        <a:schemeClr val="tx1">
                          <a:lumMod val="75000"/>
                          <a:lumOff val="25000"/>
                          <a:alpha val="100000"/>
                        </a:schemeClr>
                      </a:solidFill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</p:grpSp>
          </p:grpSp>
          <p:grpSp>
            <p:nvGrpSpPr>
              <p:cNvPr id="210" name="组合 209"/>
              <p:cNvGrpSpPr/>
              <p:nvPr/>
            </p:nvGrpSpPr>
            <p:grpSpPr>
              <a:xfrm rot="0">
                <a:off x="8045147" y="2618288"/>
                <a:ext cx="3600005" cy="1865439"/>
                <a:chOff x="546848" y="1498422"/>
                <a:chExt cx="3600005" cy="1865439"/>
              </a:xfrm>
            </p:grpSpPr>
            <p:sp>
              <p:nvSpPr>
                <p:cNvPr id="211" name="文本框 33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546848" y="1498422"/>
                  <a:ext cx="3600005" cy="5207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lvl="0" indent="0" algn="l">
                    <a:lnSpc>
                      <a:spcPct val="100000"/>
                    </a:lnSpc>
                    <a:buNone/>
                    <a:defRPr sz="1800">
                      <a:solidFill>
                        <a:schemeClr val="tx1">
                          <a:alpha val="100000"/>
                        </a:schemeClr>
                      </a:solidFill>
                      <a:latin typeface="等线" panose="02010600030101010101" charset="-122"/>
                      <a:ea typeface="等线" panose="02010600030101010101" charset="-122"/>
                      <a:cs typeface="+mn-cs"/>
                    </a:defRPr>
                  </a:pPr>
                  <a:r>
                    <a:rPr lang="zh-CN" sz="1800" b="1">
                      <a:latin typeface="默认字体"/>
                      <a:ea typeface="默认字体"/>
                      <a:cs typeface="+mn-cs"/>
                      <a:sym typeface="思源宋体 CN"/>
                    </a:rPr>
                    <a:t>文学成就的认可</a:t>
                  </a:r>
                  <a:endParaRPr lang="en-US" sz="1865" b="1">
                    <a:solidFill>
                      <a:srgbClr val="6F815D">
                        <a:alpha val="100000"/>
                      </a:srgbClr>
                    </a:solidFill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sp>
              <p:nvSpPr>
                <p:cNvPr id="212" name="文本框 33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546848" y="1923872"/>
                  <a:ext cx="3600005" cy="143998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lvl="0" indent="0" algn="l">
                    <a:lnSpc>
                      <a:spcPct val="130000"/>
                    </a:lnSpc>
                    <a:buNone/>
                    <a:defRPr sz="1800">
                      <a:solidFill>
                        <a:schemeClr val="tx1">
                          <a:alpha val="100000"/>
                        </a:schemeClr>
                      </a:solidFill>
                      <a:latin typeface="等线" panose="02010600030101010101" charset="-122"/>
                      <a:ea typeface="等线" panose="02010600030101010101" charset="-122"/>
                      <a:cs typeface="+mn-cs"/>
                    </a:defRPr>
                  </a:pPr>
                  <a:r>
                    <a:rPr lang="zh-CN" sz="1400">
                      <a:latin typeface="默认字体"/>
                      <a:ea typeface="默认字体"/>
                      <a:cs typeface="+mn-cs"/>
                      <a:sym typeface="思源宋体 CN"/>
                    </a:rPr>
                    <a:t>曹操不仅是杰出的政治家和军事家，还是一位优秀的文学家，其诗歌作品气魄雄伟，情感深沉，对后世文学产生了深远影响。</a:t>
                  </a:r>
                  <a:endParaRPr lang="zh-CN" sz="1400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</p:grpSp>
        </p:grpSp>
      </p:grpSp>
      <p:sp>
        <p:nvSpPr>
          <p:cNvPr id="213" name="文本框 212" descr="{&quot;isTemplate&quot;:true,&quot;type&quot;:&quot;title&quot;,&quot;canOmit&quot;:false,&quot;range&quot;:0}"/>
          <p:cNvSpPr txBox="1"/>
          <p:nvPr/>
        </p:nvSpPr>
        <p:spPr>
          <a:xfrm>
            <a:off x="660396" y="418039"/>
            <a:ext cx="10668000" cy="520700"/>
          </a:xfrm>
          <a:prstGeom prst="rect">
            <a:avLst/>
          </a:prstGeom>
          <a:noFill/>
        </p:spPr>
        <p:txBody>
          <a:bodyPr wrap="square" lIns="90000" tIns="46800" rIns="90000" bIns="46800" rtlCol="0" anchor="b" anchorCtr="0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sz="2800" b="1">
                <a:latin typeface="默认字体"/>
                <a:ea typeface="默认字体"/>
                <a:cs typeface="+mn-cs"/>
              </a:rPr>
              <a:t>曹操的权谋与历史的争议</a:t>
            </a:r>
            <a:endParaRPr lang="zh-CN" sz="2800" b="1">
              <a:latin typeface="默认字体"/>
              <a:ea typeface="默认字体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" name="" descr="{&quot;isTemplate&quot;:true,&quot;type&quot;:3,&quot;originSlideId&quot;:&quot;c8b00f9c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 descr="{&quot;isTemplate&quot;:true,&quot;type&quot;:&quot;list&quot;,&quot;alignment&quot;:&quot;left&quot;,&quot;alignmentVertical&quot;:&quot;top&quot;,&quot;canOmit&quot;:false,&quot;scalable&quot;:false,&quot;minItemsCount&quot;:-1}"/>
          <p:cNvGrpSpPr/>
          <p:nvPr/>
        </p:nvGrpSpPr>
        <p:grpSpPr>
          <a:xfrm rot="0">
            <a:off x="839651" y="1302879"/>
            <a:ext cx="10098385" cy="4641539"/>
            <a:chOff x="1046808" y="1597261"/>
            <a:chExt cx="10098385" cy="4641539"/>
          </a:xfrm>
        </p:grpSpPr>
        <p:grpSp>
          <p:nvGrpSpPr>
            <p:cNvPr id="8" name="组合 7"/>
            <p:cNvGrpSpPr/>
            <p:nvPr/>
          </p:nvGrpSpPr>
          <p:grpSpPr>
            <a:xfrm rot="0">
              <a:off x="1046808" y="1597261"/>
              <a:ext cx="6479984" cy="1446339"/>
              <a:chOff x="1043146" y="1769978"/>
              <a:chExt cx="6479984" cy="1446339"/>
            </a:xfrm>
          </p:grpSpPr>
          <p:sp>
            <p:nvSpPr>
              <p:cNvPr id="9" name="任意多边形: 形状 63"/>
              <p:cNvSpPr/>
              <p:nvPr/>
            </p:nvSpPr>
            <p:spPr>
              <a:xfrm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0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 panose="02010600030101010101" charset="-122"/>
                  <a:sym typeface="思源黑体 CN Normal"/>
                </a:endParaRPr>
              </a:p>
            </p:txBody>
          </p:sp>
          <p:sp>
            <p:nvSpPr>
              <p:cNvPr id="10" name="任意多边形: 形状 64"/>
              <p:cNvSpPr/>
              <p:nvPr/>
            </p:nvSpPr>
            <p:spPr>
              <a:xfrm rot="180000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1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12" name="组合 11"/>
              <p:cNvGrpSpPr/>
              <p:nvPr/>
            </p:nvGrpSpPr>
            <p:grpSpPr>
              <a:xfrm rot="0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13" name="文本框 23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 panose="02010600030101010101" charset="-122"/>
                      <a:sym typeface="思源黑体 CN Normal"/>
                    </a:rPr>
                    <a:t>忠诚品质的典范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14" name="文本框 24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诸葛亮对刘备忠心耿耿，鞠躬尽瘁，死而后已，这种忠诚精神在现代社会中仍是一种宝贵的品质，值得我学习和传承。</a:t>
                  </a:r>
                  <a:endParaRPr lang="zh-CN" sz="1200">
                    <a:latin typeface="默认字体"/>
                    <a:ea typeface="默认字体"/>
                    <a:cs typeface="+mn-cs"/>
                    <a:sym typeface="思源黑体 CN Normal"/>
                  </a:endParaRPr>
                </a:p>
              </p:txBody>
            </p:sp>
          </p:grpSp>
        </p:grpSp>
        <p:grpSp>
          <p:nvGrpSpPr>
            <p:cNvPr id="15" name="组合 14"/>
            <p:cNvGrpSpPr/>
            <p:nvPr/>
          </p:nvGrpSpPr>
          <p:grpSpPr>
            <a:xfrm rot="0">
              <a:off x="2922949" y="3194861"/>
              <a:ext cx="6479984" cy="1446339"/>
              <a:chOff x="1043146" y="1769978"/>
              <a:chExt cx="6479984" cy="1446339"/>
            </a:xfrm>
          </p:grpSpPr>
          <p:sp>
            <p:nvSpPr>
              <p:cNvPr id="16" name="任意多边形: 形状 63"/>
              <p:cNvSpPr/>
              <p:nvPr/>
            </p:nvSpPr>
            <p:spPr>
              <a:xfrm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0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 panose="02010600030101010101" charset="-122"/>
                  <a:sym typeface="思源黑体 CN Normal"/>
                </a:endParaRPr>
              </a:p>
            </p:txBody>
          </p:sp>
          <p:sp>
            <p:nvSpPr>
              <p:cNvPr id="17" name="任意多边形: 形状 64"/>
              <p:cNvSpPr/>
              <p:nvPr/>
            </p:nvSpPr>
            <p:spPr>
              <a:xfrm rot="180000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8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19" name="组合 18"/>
              <p:cNvGrpSpPr/>
              <p:nvPr/>
            </p:nvGrpSpPr>
            <p:grpSpPr>
              <a:xfrm rot="0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20" name="文本框 23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 panose="02010600030101010101" charset="-122"/>
                      <a:sym typeface="思源黑体 CN Normal"/>
                    </a:rPr>
                    <a:t>智慧谋略的展现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21" name="文本框 24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诸葛亮以其卓越的智慧和谋略，多次帮助刘备化险为夷，如草船借箭、空城计等，这些智慧在我管理和决策中仍具有重要的参考价值，让我在选择时更果断和正确。</a:t>
                  </a:r>
                  <a:endParaRPr lang="zh-CN" sz="1200">
                    <a:latin typeface="默认字体"/>
                    <a:ea typeface="默认字体"/>
                    <a:cs typeface="+mn-cs"/>
                    <a:sym typeface="思源黑体 CN Normal"/>
                  </a:endParaRPr>
                </a:p>
              </p:txBody>
            </p:sp>
          </p:grpSp>
        </p:grpSp>
        <p:grpSp>
          <p:nvGrpSpPr>
            <p:cNvPr id="22" name="组合 21"/>
            <p:cNvGrpSpPr/>
            <p:nvPr/>
          </p:nvGrpSpPr>
          <p:grpSpPr>
            <a:xfrm rot="0">
              <a:off x="4665209" y="4792461"/>
              <a:ext cx="6479984" cy="1446339"/>
              <a:chOff x="1043146" y="1769978"/>
              <a:chExt cx="6479984" cy="1446339"/>
            </a:xfrm>
          </p:grpSpPr>
          <p:sp>
            <p:nvSpPr>
              <p:cNvPr id="23" name="任意多边形: 形状 63"/>
              <p:cNvSpPr/>
              <p:nvPr/>
            </p:nvSpPr>
            <p:spPr>
              <a:xfrm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0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 panose="02010600030101010101" charset="-122"/>
                  <a:sym typeface="思源黑体 CN Normal"/>
                </a:endParaRPr>
              </a:p>
            </p:txBody>
          </p:sp>
          <p:sp>
            <p:nvSpPr>
              <p:cNvPr id="24" name="任意多边形: 形状 64"/>
              <p:cNvSpPr/>
              <p:nvPr/>
            </p:nvSpPr>
            <p:spPr>
              <a:xfrm rot="180000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25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26" name="组合 25"/>
              <p:cNvGrpSpPr/>
              <p:nvPr/>
            </p:nvGrpSpPr>
            <p:grpSpPr>
              <a:xfrm rot="0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27" name="文本框 23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 panose="02010600030101010101" charset="-122"/>
                      <a:sym typeface="思源黑体 CN Normal"/>
                    </a:rPr>
                    <a:t>现代应用的启示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28" name="文本框 24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诸葛亮的智慧不仅体现在军事上，其治国理政的理念和方法对现代企业管理、国家治理等领域也有着积极的启示作用。</a:t>
                  </a:r>
                  <a:endParaRPr lang="zh-CN" sz="1200">
                    <a:latin typeface="默认字体"/>
                    <a:ea typeface="默认字体"/>
                    <a:cs typeface="+mn-cs"/>
                    <a:sym typeface="思源黑体 CN Normal"/>
                  </a:endParaRPr>
                </a:p>
              </p:txBody>
            </p:sp>
          </p:grpSp>
        </p:grpSp>
      </p:grpSp>
      <p:sp>
        <p:nvSpPr>
          <p:cNvPr id="29" name="文本框 28" descr="{&quot;isTemplate&quot;:true,&quot;type&quot;:&quot;title&quot;,&quot;canOmit&quot;:false,&quot;range&quot;:0}"/>
          <p:cNvSpPr txBox="1"/>
          <p:nvPr/>
        </p:nvSpPr>
        <p:spPr>
          <a:xfrm>
            <a:off x="660396" y="418039"/>
            <a:ext cx="10668000" cy="520700"/>
          </a:xfrm>
          <a:prstGeom prst="rect">
            <a:avLst/>
          </a:prstGeom>
          <a:noFill/>
        </p:spPr>
        <p:txBody>
          <a:bodyPr wrap="square" lIns="90000" tIns="46800" rIns="90000" bIns="46800" rtlCol="0" anchor="b" anchorCtr="0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sz="2800" b="1">
                <a:latin typeface="默认字体"/>
                <a:ea typeface="默认字体"/>
                <a:cs typeface="+mn-cs"/>
              </a:rPr>
              <a:t>诸葛亮的忠智与我的感悟</a:t>
            </a:r>
            <a:endParaRPr lang="zh-CN" sz="2800" b="1">
              <a:latin typeface="默认字体"/>
              <a:ea typeface="默认字体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" name="" descr="{&quot;isTemplate&quot;:true,&quot;type&quot;:3,&quot;originSlideId&quot;:&quot;c8b00f9c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 descr="{&quot;isTemplate&quot;:true,&quot;type&quot;:&quot;list&quot;,&quot;alignment&quot;:&quot;left&quot;,&quot;alignmentVertical&quot;:&quot;top&quot;,&quot;canOmit&quot;:false,&quot;scalable&quot;:false,&quot;minItemsCount&quot;:-1}"/>
          <p:cNvGrpSpPr/>
          <p:nvPr/>
        </p:nvGrpSpPr>
        <p:grpSpPr>
          <a:xfrm>
            <a:off x="1046808" y="1597261"/>
            <a:ext cx="10098385" cy="4641539"/>
            <a:chOff x="1046808" y="1597261"/>
            <a:chExt cx="10098385" cy="4641539"/>
          </a:xfrm>
        </p:grpSpPr>
        <p:grpSp>
          <p:nvGrpSpPr>
            <p:cNvPr id="32" name="组合 31"/>
            <p:cNvGrpSpPr/>
            <p:nvPr/>
          </p:nvGrpSpPr>
          <p:grpSpPr>
            <a:xfrm rot="0">
              <a:off x="1046808" y="1597261"/>
              <a:ext cx="6479984" cy="1446339"/>
              <a:chOff x="1043146" y="1769978"/>
              <a:chExt cx="6479984" cy="1446339"/>
            </a:xfrm>
          </p:grpSpPr>
          <p:sp>
            <p:nvSpPr>
              <p:cNvPr id="33" name="任意多边形: 形状 63"/>
              <p:cNvSpPr/>
              <p:nvPr/>
            </p:nvSpPr>
            <p:spPr>
              <a:xfrm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0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 panose="02010600030101010101" charset="-122"/>
                  <a:sym typeface="思源黑体 CN Normal"/>
                </a:endParaRPr>
              </a:p>
            </p:txBody>
          </p:sp>
          <p:sp>
            <p:nvSpPr>
              <p:cNvPr id="34" name="任意多边形: 形状 64"/>
              <p:cNvSpPr/>
              <p:nvPr/>
            </p:nvSpPr>
            <p:spPr>
              <a:xfrm rot="180000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35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36" name="组合 35"/>
              <p:cNvGrpSpPr/>
              <p:nvPr/>
            </p:nvGrpSpPr>
            <p:grpSpPr>
              <a:xfrm rot="0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37" name="文本框 23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 panose="02010600030101010101" charset="-122"/>
                      <a:sym typeface="思源黑体 CN Normal"/>
                    </a:rPr>
                    <a:t>团结协作的力量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38" name="文本框 24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《三国演义》中多次展现了团结协作的重要性，如刘备、关羽、张飞的桃园结义，这种精神让我明白了团结的力量。</a:t>
                  </a:r>
                  <a:endParaRPr lang="zh-CN" sz="1200">
                    <a:latin typeface="默认字体"/>
                    <a:ea typeface="默认字体"/>
                    <a:cs typeface="+mn-cs"/>
                    <a:sym typeface="思源黑体 CN Normal"/>
                  </a:endParaRPr>
                </a:p>
              </p:txBody>
            </p:sp>
          </p:grpSp>
        </p:grpSp>
        <p:grpSp>
          <p:nvGrpSpPr>
            <p:cNvPr id="39" name="组合 38"/>
            <p:cNvGrpSpPr/>
            <p:nvPr/>
          </p:nvGrpSpPr>
          <p:grpSpPr>
            <a:xfrm rot="0">
              <a:off x="2922949" y="3194861"/>
              <a:ext cx="6479984" cy="1446339"/>
              <a:chOff x="1043146" y="1769978"/>
              <a:chExt cx="6479984" cy="1446339"/>
            </a:xfrm>
          </p:grpSpPr>
          <p:sp>
            <p:nvSpPr>
              <p:cNvPr id="40" name="任意多边形: 形状 63"/>
              <p:cNvSpPr/>
              <p:nvPr/>
            </p:nvSpPr>
            <p:spPr>
              <a:xfrm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0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 panose="02010600030101010101" charset="-122"/>
                  <a:sym typeface="思源黑体 CN Normal"/>
                </a:endParaRPr>
              </a:p>
            </p:txBody>
          </p:sp>
          <p:sp>
            <p:nvSpPr>
              <p:cNvPr id="41" name="任意多边形: 形状 64"/>
              <p:cNvSpPr/>
              <p:nvPr/>
            </p:nvSpPr>
            <p:spPr>
              <a:xfrm rot="180000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42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43" name="组合 42"/>
              <p:cNvGrpSpPr/>
              <p:nvPr/>
            </p:nvGrpSpPr>
            <p:grpSpPr>
              <a:xfrm rot="0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44" name="文本框 23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 panose="02010600030101010101" charset="-122"/>
                      <a:sym typeface="思源黑体 CN Normal"/>
                    </a:rPr>
                    <a:t>勇于担当的责任感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45" name="文本框 24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三国人物在面对国家危难时，勇于担当，敢于负责，这种责任感让我在家庭里和社会中更有责任感和担当。</a:t>
                  </a:r>
                  <a:endParaRPr lang="zh-CN" sz="1200">
                    <a:latin typeface="默认字体"/>
                    <a:ea typeface="默认字体"/>
                    <a:cs typeface="+mn-cs"/>
                    <a:sym typeface="思源黑体 CN Normal"/>
                  </a:endParaRPr>
                </a:p>
              </p:txBody>
            </p:sp>
          </p:grpSp>
        </p:grpSp>
        <p:grpSp>
          <p:nvGrpSpPr>
            <p:cNvPr id="46" name="组合 45"/>
            <p:cNvGrpSpPr/>
            <p:nvPr/>
          </p:nvGrpSpPr>
          <p:grpSpPr>
            <a:xfrm rot="0">
              <a:off x="4665209" y="4792461"/>
              <a:ext cx="6479984" cy="1446339"/>
              <a:chOff x="1043146" y="1769978"/>
              <a:chExt cx="6479984" cy="1446339"/>
            </a:xfrm>
          </p:grpSpPr>
          <p:sp>
            <p:nvSpPr>
              <p:cNvPr id="47" name="任意多边形: 形状 63"/>
              <p:cNvSpPr/>
              <p:nvPr/>
            </p:nvSpPr>
            <p:spPr>
              <a:xfrm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0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 panose="02010600030101010101" charset="-122"/>
                  <a:sym typeface="思源黑体 CN Normal"/>
                </a:endParaRPr>
              </a:p>
            </p:txBody>
          </p:sp>
          <p:sp>
            <p:nvSpPr>
              <p:cNvPr id="48" name="任意多边形: 形状 64"/>
              <p:cNvSpPr/>
              <p:nvPr/>
            </p:nvSpPr>
            <p:spPr>
              <a:xfrm rot="180000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49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50" name="组合 49"/>
              <p:cNvGrpSpPr/>
              <p:nvPr/>
            </p:nvGrpSpPr>
            <p:grpSpPr>
              <a:xfrm rot="0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51" name="文本框 23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 panose="02010600030101010101" charset="-122"/>
                      <a:sym typeface="思源黑体 CN Normal"/>
                    </a:rPr>
                    <a:t>不断进取的精神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52" name="文本框 24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《三国演义》中的人物在困境中不断进取，勇于拼搏，这种精神培养了我</a:t>
                  </a: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坚韧不拔的意志和积极向上的人生态度，对我今后的成长有种要意义。</a:t>
                  </a:r>
                  <a:endParaRPr lang="zh-CN" sz="1200">
                    <a:latin typeface="默认字体"/>
                    <a:ea typeface="默认字体"/>
                    <a:cs typeface="+mn-cs"/>
                    <a:sym typeface="思源黑体 CN Normal"/>
                  </a:endParaRPr>
                </a:p>
              </p:txBody>
            </p:sp>
          </p:grpSp>
        </p:grpSp>
      </p:grpSp>
      <p:sp>
        <p:nvSpPr>
          <p:cNvPr id="53" name="文本框 52" descr="{&quot;isTemplate&quot;:true,&quot;type&quot;:&quot;title&quot;,&quot;canOmit&quot;:false,&quot;range&quot;:0}"/>
          <p:cNvSpPr txBox="1"/>
          <p:nvPr/>
        </p:nvSpPr>
        <p:spPr>
          <a:xfrm>
            <a:off x="660396" y="418039"/>
            <a:ext cx="10668000" cy="520700"/>
          </a:xfrm>
          <a:prstGeom prst="rect">
            <a:avLst/>
          </a:prstGeom>
          <a:noFill/>
        </p:spPr>
        <p:txBody>
          <a:bodyPr wrap="square" lIns="90000" tIns="46800" rIns="90000" bIns="46800" rtlCol="0" anchor="b" anchorCtr="0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sz="2800" b="1">
                <a:latin typeface="默认字体"/>
                <a:ea typeface="默认字体"/>
                <a:cs typeface="+mn-cs"/>
              </a:rPr>
              <a:t>三国精神对我的启示</a:t>
            </a:r>
            <a:endParaRPr lang="zh-CN" sz="2800" b="1">
              <a:latin typeface="默认字体"/>
              <a:ea typeface="默认字体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4" name="" descr="{&quot;isTemplate&quot;:true,&quot;type&quot;:4,&quot;originSlideId&quot;:&quot;84955fcb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文本占位符 20"/>
          <p:cNvSpPr txBox="1"/>
          <p:nvPr/>
        </p:nvSpPr>
        <p:spPr>
          <a:xfrm>
            <a:off x="10542002" y="580667"/>
            <a:ext cx="1257300" cy="368300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i="0" kern="1200" spc="3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buFont typeface="Arial" panose="020B0604020202020204" pitchFamily="34" charset="0"/>
              <a:buNone/>
            </a:pPr>
            <a:r>
              <a:rPr lang="zh-CN" spc="80">
                <a:solidFill>
                  <a:schemeClr val="bg1">
                    <a:alpha val="100000"/>
                  </a:schemeClr>
                </a:solidFill>
                <a:effectLst/>
              </a:rPr>
              <a:t>七（</a:t>
            </a:r>
            <a:r>
              <a:rPr lang="en-US" spc="80">
                <a:solidFill>
                  <a:schemeClr val="bg1">
                    <a:alpha val="100000"/>
                  </a:schemeClr>
                </a:solidFill>
                <a:effectLst/>
              </a:rPr>
              <a:t>5</a:t>
            </a:r>
            <a:r>
              <a:rPr lang="zh-CN" spc="80">
                <a:solidFill>
                  <a:schemeClr val="bg1">
                    <a:alpha val="100000"/>
                  </a:schemeClr>
                </a:solidFill>
                <a:effectLst/>
              </a:rPr>
              <a:t>班）丁桐</a:t>
            </a:r>
            <a:endParaRPr lang="zh-CN" spc="80">
              <a:solidFill>
                <a:schemeClr val="bg1">
                  <a:alpha val="100000"/>
                </a:schemeClr>
              </a:solidFill>
              <a:effectLst/>
            </a:endParaRPr>
          </a:p>
        </p:txBody>
      </p:sp>
      <p:cxnSp>
        <p:nvCxnSpPr>
          <p:cNvPr id="56" name="Tencent"/>
          <p:cNvCxnSpPr/>
          <p:nvPr/>
        </p:nvCxnSpPr>
        <p:spPr>
          <a:xfrm>
            <a:off x="443999" y="402867"/>
            <a:ext cx="1130400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标题 1"/>
          <p:cNvSpPr txBox="1"/>
          <p:nvPr/>
        </p:nvSpPr>
        <p:spPr>
          <a:xfrm>
            <a:off x="392698" y="4691666"/>
            <a:ext cx="4852610" cy="1311128"/>
          </a:xfrm>
          <a:prstGeom prst="rect">
            <a:avLst/>
          </a:prstGeom>
        </p:spPr>
        <p:txBody>
          <a:bodyPr vert="horz" wrap="none" lIns="91440" tIns="45720" rIns="91440" bIns="45720" rtlCol="0" anchor="b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800" b="0" i="0" kern="1200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kumimoji="1" lang="zh-CN" altLang="en-US" dirty="0"/>
              <a:t>谢谢观看</a:t>
            </a:r>
            <a:endParaRPr kumimoji="1" lang="zh-CN" altLang="en-US" dirty="0"/>
          </a:p>
        </p:txBody>
      </p:sp>
      <p:sp>
        <p:nvSpPr>
          <p:cNvPr id="58" name="文本占位符 3"/>
          <p:cNvSpPr txBox="1"/>
          <p:nvPr/>
        </p:nvSpPr>
        <p:spPr>
          <a:xfrm>
            <a:off x="392698" y="6059360"/>
            <a:ext cx="3584956" cy="369332"/>
          </a:xfrm>
          <a:prstGeom prst="rect">
            <a:avLst/>
          </a:prstGeom>
        </p:spPr>
        <p:txBody>
          <a:bodyPr vert="horz" wrap="none" lIns="91440" tIns="45720" rIns="91440" bIns="45720" rtlCol="0" anchor="b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000" b="0" i="0" kern="1200" spc="30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spc="0" dirty="0"/>
              <a:t>THANK</a:t>
            </a:r>
            <a:r>
              <a:rPr kumimoji="1" lang="zh-CN" altLang="en-US" sz="2000" spc="0" dirty="0"/>
              <a:t> </a:t>
            </a:r>
            <a:r>
              <a:rPr kumimoji="1" lang="en-US" altLang="zh-CN" sz="2000" spc="0" dirty="0"/>
              <a:t>YOU</a:t>
            </a:r>
            <a:r>
              <a:rPr kumimoji="1" lang="zh-CN" altLang="en-US" sz="2000" spc="0" dirty="0"/>
              <a:t> </a:t>
            </a:r>
            <a:r>
              <a:rPr kumimoji="1" lang="en-US" altLang="zh-CN" sz="2000" spc="0" dirty="0"/>
              <a:t>FOR</a:t>
            </a:r>
            <a:r>
              <a:rPr kumimoji="1" lang="zh-CN" altLang="en-US" sz="2000" spc="0" dirty="0"/>
              <a:t> </a:t>
            </a:r>
            <a:r>
              <a:rPr kumimoji="1" lang="en-US" altLang="zh-CN" sz="2000" spc="0" dirty="0"/>
              <a:t>WATCHING</a:t>
            </a:r>
            <a:endParaRPr kumimoji="1" lang="zh-CN" altLang="en-US" sz="2000" spc="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38.41976377952756,&quot;left&quot;:84.61370078740157,&quot;top&quot;:188.38125984251968,&quot;width&quot;:767.0457480314961}"/>
</p:tagLst>
</file>

<file path=ppt/tags/tag2.xml><?xml version="1.0" encoding="utf-8"?>
<p:tagLst xmlns:p="http://schemas.openxmlformats.org/presentationml/2006/main">
  <p:tag name="KSO_WM_DIAGRAM_VIRTUALLY_FRAME" val="{&quot;height&quot;:238.41976377952756,&quot;left&quot;:84.61370078740157,&quot;top&quot;:188.38125984251968,&quot;width&quot;:767.0457480314961}"/>
</p:tagLst>
</file>

<file path=ppt/tags/tag3.xml><?xml version="1.0" encoding="utf-8"?>
<p:tagLst xmlns:p="http://schemas.openxmlformats.org/presentationml/2006/main">
  <p:tag name="KSO_WM_DIAGRAM_VIRTUALLY_FRAME" val="{&quot;height&quot;:238.41976377952756,&quot;left&quot;:84.61370078740157,&quot;top&quot;:188.38125984251968,&quot;width&quot;:767.0457480314961}"/>
</p:tagLst>
</file>

<file path=ppt/tags/tag4.xml><?xml version="1.0" encoding="utf-8"?>
<p:tagLst xmlns:p="http://schemas.openxmlformats.org/presentationml/2006/main">
  <p:tag name="KSO_WM_DIAGRAM_VIRTUALLY_FRAME" val="{&quot;height&quot;:238.41976377952756,&quot;left&quot;:84.61370078740157,&quot;top&quot;:188.38125984251968,&quot;width&quot;:767.0457480314961}"/>
</p:tagLst>
</file>

<file path=ppt/tags/tag5.xml><?xml version="1.0" encoding="utf-8"?>
<p:tagLst xmlns:p="http://schemas.openxmlformats.org/presentationml/2006/main">
  <p:tag name="KSO_WM_DIAGRAM_VIRTUALLY_FRAME" val="{&quot;height&quot;:238.41976377952756,&quot;left&quot;:84.61370078740157,&quot;top&quot;:188.38125984251968,&quot;width&quot;:767.0457480314961}"/>
</p:tagLst>
</file>

<file path=ppt/tags/tag6.xml><?xml version="1.0" encoding="utf-8"?>
<p:tagLst xmlns:p="http://schemas.openxmlformats.org/presentationml/2006/main">
  <p:tag name="KSO_WM_DIAGRAM_VIRTUALLY_FRAME" val="{&quot;height&quot;:238.41976377952756,&quot;left&quot;:84.61370078740157,&quot;top&quot;:188.38125984251968,&quot;width&quot;:767.0457480314961}"/>
</p:tagLst>
</file>

<file path=ppt/tags/tag7.xml><?xml version="1.0" encoding="utf-8"?>
<p:tagLst xmlns:p="http://schemas.openxmlformats.org/presentationml/2006/main">
  <p:tag name="KSO_WM_DIAGRAM_VIRTUALLY_FRAME" val="{&quot;height&quot;:238.41976377952756,&quot;left&quot;:84.61370078740157,&quot;top&quot;:188.38125984251968,&quot;width&quot;:767.0457480314961}"/>
</p:tagLst>
</file>

<file path=ppt/tags/tag8.xml><?xml version="1.0" encoding="utf-8"?>
<p:tagLst xmlns:p="http://schemas.openxmlformats.org/presentationml/2006/main">
  <p:tag name="KSO_WM_DIAGRAM_VIRTUALLY_FRAME" val="{&quot;height&quot;:238.41976377952756,&quot;left&quot;:84.61370078740157,&quot;top&quot;:188.38125984251968,&quot;width&quot;:767.0457480314961}"/>
</p:tagLst>
</file>

<file path=ppt/tags/tag9.xml><?xml version="1.0" encoding="utf-8"?>
<p:tagLst xmlns:p="http://schemas.openxmlformats.org/presentationml/2006/main">
  <p:tag name="KSO_WM_DIAGRAM_VIRTUALLY_FRAME" val="{&quot;height&quot;:238.41976377952756,&quot;left&quot;:84.61370078740157,&quot;top&quot;:188.38125984251968,&quot;width&quot;:767.0457480314961}"/>
</p:tagLst>
</file>

<file path=ppt/tags/tag10.xml><?xml version="1.0" encoding="utf-8"?>
<p:tagLst xmlns:p="http://schemas.openxmlformats.org/presentationml/2006/main">
  <p:tag name="KSO_WM_DIAGRAM_VIRTUALLY_FRAME" val="{&quot;height&quot;:238.41976377952756,&quot;left&quot;:84.61370078740157,&quot;top&quot;:188.38125984251968,&quot;width&quot;:767.0457480314961}"/>
</p:tagLst>
</file>

<file path=ppt/tags/tag11.xml><?xml version="1.0" encoding="utf-8"?>
<p:tagLst xmlns:p="http://schemas.openxmlformats.org/presentationml/2006/main">
  <p:tag name="KSO_WM_DIAGRAM_VIRTUALLY_FRAME" val="{&quot;height&quot;:238.41976377952756,&quot;left&quot;:84.61370078740157,&quot;top&quot;:188.38125984251968,&quot;width&quot;:767.0457480314961}"/>
</p:tagLst>
</file>

<file path=ppt/tags/tag12.xml><?xml version="1.0" encoding="utf-8"?>
<p:tagLst xmlns:p="http://schemas.openxmlformats.org/presentationml/2006/main">
  <p:tag name="KSO_WM_DIAGRAM_VIRTUALLY_FRAME" val="{&quot;height&quot;:238.41976377952756,&quot;left&quot;:84.61370078740157,&quot;top&quot;:188.38125984251968,&quot;width&quot;:767.0457480314961}"/>
</p:tagLst>
</file>

<file path=ppt/tags/tag13.xml><?xml version="1.0" encoding="utf-8"?>
<p:tagLst xmlns:p="http://schemas.openxmlformats.org/presentationml/2006/main">
  <p:tag name="KSO_WM_DIAGRAM_VIRTUALLY_FRAME" val="{&quot;height&quot;:238.41976377952756,&quot;left&quot;:84.61370078740157,&quot;top&quot;:188.38125984251968,&quot;width&quot;:767.0457480314961}"/>
</p:tagLst>
</file>

<file path=ppt/theme/theme1.xml><?xml version="1.0" encoding="utf-8"?>
<a:theme xmlns:a="http://schemas.openxmlformats.org/drawingml/2006/main" name="Office 主题​​">
  <a:themeElements>
    <a:clrScheme name="template_ppt_techno_mountain_blue">
      <a:dk1>
        <a:srgbClr val="000000"/>
      </a:dk1>
      <a:lt1>
        <a:srgbClr val="FFFFFF"/>
      </a:lt1>
      <a:dk2>
        <a:srgbClr val="262C32"/>
      </a:dk2>
      <a:lt2>
        <a:srgbClr val="E7F3F7"/>
      </a:lt2>
      <a:accent1>
        <a:srgbClr val="3087D5"/>
      </a:accent1>
      <a:accent2>
        <a:srgbClr val="A3DBFA"/>
      </a:accent2>
      <a:accent3>
        <a:srgbClr val="5DB1F7"/>
      </a:accent3>
      <a:accent4>
        <a:srgbClr val="2270C9"/>
      </a:accent4>
      <a:accent5>
        <a:srgbClr val="67A1F9"/>
      </a:accent5>
      <a:accent6>
        <a:srgbClr val="466DD1"/>
      </a:accent6>
      <a:hlink>
        <a:srgbClr val="175CEB"/>
      </a:hlink>
      <a:folHlink>
        <a:srgbClr val="81868F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Master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1547</Words>
  <Application>WPS 演示</Application>
  <PresentationFormat/>
  <Paragraphs>142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39" baseType="lpstr">
      <vt:lpstr>Arial</vt:lpstr>
      <vt:lpstr>宋体</vt:lpstr>
      <vt:lpstr>Wingdings</vt:lpstr>
      <vt:lpstr>微软雅黑</vt:lpstr>
      <vt:lpstr>微软雅黑 Light</vt:lpstr>
      <vt:lpstr>DejaVu Math TeX Gyre</vt:lpstr>
      <vt:lpstr>默认字体</vt:lpstr>
      <vt:lpstr>思源黑体 CN Light</vt:lpstr>
      <vt:lpstr>思源宋体 CN</vt:lpstr>
      <vt:lpstr>Segoe Print</vt:lpstr>
      <vt:lpstr>等线</vt:lpstr>
      <vt:lpstr>思源黑体 CN Normal</vt:lpstr>
      <vt:lpstr>思源黑体 CN Normal</vt:lpstr>
      <vt:lpstr>思源黑体 CN Regular</vt:lpstr>
      <vt:lpstr>黑体</vt:lpstr>
      <vt:lpstr>Arial Unicode MS</vt:lpstr>
      <vt:lpstr>Calibri</vt:lpstr>
      <vt:lpstr>思源宋体 CN</vt:lpstr>
      <vt:lpstr>思源黑体 CN Light</vt:lpstr>
      <vt:lpstr>思源黑体 CN Normal</vt:lpstr>
      <vt:lpstr>思源黑体 CN Regular</vt:lpstr>
      <vt:lpstr>默认字体</vt:lpstr>
      <vt:lpstr>默认系统楷体</vt:lpstr>
      <vt:lpstr>方正宝黑体 简 Light</vt:lpstr>
      <vt:lpstr>锦绣宋体</vt:lpstr>
      <vt:lpstr>文道潮黑体</vt:lpstr>
      <vt:lpstr>Office 主题​​</vt:lpstr>
      <vt:lpstr>《三国演义》阅读分享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《三国演义》阅读分享</dc:title>
  <dc:creator/>
  <cp:lastModifiedBy>丁峰峰峰峰峰峰峰峰峰峰峰峰峰峰峰</cp:lastModifiedBy>
  <cp:revision>3</cp:revision>
  <dcterms:created xsi:type="dcterms:W3CDTF">2026-01-11T11:35:00Z</dcterms:created>
  <dcterms:modified xsi:type="dcterms:W3CDTF">2026-02-27T09:11:37Z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WM236ecca0eaa611f08000593b0000583b">
    <vt:lpwstr>CWM5iWVFqx3pgmjzriZwSiOlXIItqPM+jHwziJfBF+Phv+ZSs5qrqHMM8PfZnAaBwJplLBvqSg7gITptCMwfJGXuw==</vt:lpwstr>
  </property>
  <property fmtid="{D5CDD505-2E9C-101B-9397-08002B2CF9AE}" pid="3" name="ICV">
    <vt:lpwstr>BA8D6544EAB429B2E88A63690E9F32E8_42</vt:lpwstr>
  </property>
  <property fmtid="{D5CDD505-2E9C-101B-9397-08002B2CF9AE}" pid="4" name="KSOProductBuildVer">
    <vt:lpwstr>2052-12.1.0.25225</vt:lpwstr>
  </property>
</Properties>
</file>